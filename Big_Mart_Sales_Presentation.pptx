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1" i="0">
                <a:solidFill>
                  <a:srgbClr val="403B4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1" i="0">
                <a:solidFill>
                  <a:srgbClr val="403B4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1" i="0">
                <a:solidFill>
                  <a:srgbClr val="403B4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50" b="1" i="0">
                <a:solidFill>
                  <a:srgbClr val="403B4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1" i="0">
                <a:solidFill>
                  <a:srgbClr val="403B4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1" i="0">
                <a:solidFill>
                  <a:srgbClr val="403B4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09624" y="6594826"/>
            <a:ext cx="1002700" cy="1834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9287" y="488632"/>
            <a:ext cx="10893425" cy="8658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1" i="0">
                <a:solidFill>
                  <a:srgbClr val="403B4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9287" y="1499362"/>
            <a:ext cx="5099685" cy="1790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1" i="0">
                <a:solidFill>
                  <a:srgbClr val="403B4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0" y="0"/>
            <a:ext cx="4572000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130"/>
              </a:spcBef>
            </a:pPr>
            <a:r>
              <a:rPr dirty="0" spc="265"/>
              <a:t>BIG</a:t>
            </a:r>
            <a:r>
              <a:rPr dirty="0" spc="140"/>
              <a:t> </a:t>
            </a:r>
            <a:r>
              <a:rPr dirty="0" spc="330"/>
              <a:t>MART</a:t>
            </a:r>
            <a:r>
              <a:rPr dirty="0" spc="110"/>
              <a:t> </a:t>
            </a:r>
            <a:r>
              <a:rPr dirty="0" spc="295"/>
              <a:t>SALES </a:t>
            </a:r>
            <a:r>
              <a:rPr dirty="0" spc="260"/>
              <a:t>PREDICTION</a:t>
            </a:r>
            <a:r>
              <a:rPr dirty="0" spc="150"/>
              <a:t> </a:t>
            </a:r>
            <a:r>
              <a:rPr dirty="0" spc="325"/>
              <a:t>USING </a:t>
            </a:r>
            <a:r>
              <a:rPr dirty="0" spc="380"/>
              <a:t>MACHINE</a:t>
            </a:r>
            <a:r>
              <a:rPr dirty="0" spc="90"/>
              <a:t> </a:t>
            </a:r>
            <a:r>
              <a:rPr dirty="0" spc="315"/>
              <a:t>LEARNING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9287" y="3654361"/>
            <a:ext cx="444563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Artificial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30">
                <a:solidFill>
                  <a:srgbClr val="403B4E"/>
                </a:solidFill>
                <a:latin typeface="Arial MT"/>
                <a:cs typeface="Arial MT"/>
              </a:rPr>
              <a:t>Intelligence</a:t>
            </a:r>
            <a:r>
              <a:rPr dirty="0" sz="1400" spc="-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75">
                <a:solidFill>
                  <a:srgbClr val="403B4E"/>
                </a:solidFill>
                <a:latin typeface="Arial MT"/>
                <a:cs typeface="Arial MT"/>
              </a:rPr>
              <a:t>Internship</a:t>
            </a:r>
            <a:r>
              <a:rPr dirty="0" sz="1400" spc="8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30">
                <a:solidFill>
                  <a:srgbClr val="403B4E"/>
                </a:solidFill>
                <a:latin typeface="Arial MT"/>
                <a:cs typeface="Arial MT"/>
              </a:rPr>
              <a:t>Project</a:t>
            </a:r>
            <a:r>
              <a:rPr dirty="0" sz="140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45">
                <a:solidFill>
                  <a:srgbClr val="403B4E"/>
                </a:solidFill>
                <a:latin typeface="Arial MT"/>
                <a:cs typeface="Arial MT"/>
              </a:rPr>
              <a:t>Presentation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7225" y="4191000"/>
            <a:ext cx="6305550" cy="19050"/>
          </a:xfrm>
          <a:custGeom>
            <a:avLst/>
            <a:gdLst/>
            <a:ahLst/>
            <a:cxnLst/>
            <a:rect l="l" t="t" r="r" b="b"/>
            <a:pathLst>
              <a:path w="6305550" h="19050">
                <a:moveTo>
                  <a:pt x="6301232" y="0"/>
                </a:moveTo>
                <a:lnTo>
                  <a:pt x="4267" y="0"/>
                </a:lnTo>
                <a:lnTo>
                  <a:pt x="0" y="4318"/>
                </a:lnTo>
                <a:lnTo>
                  <a:pt x="0" y="9525"/>
                </a:lnTo>
                <a:lnTo>
                  <a:pt x="0" y="14731"/>
                </a:lnTo>
                <a:lnTo>
                  <a:pt x="4267" y="19050"/>
                </a:lnTo>
                <a:lnTo>
                  <a:pt x="6301232" y="19050"/>
                </a:lnTo>
                <a:lnTo>
                  <a:pt x="6305550" y="14731"/>
                </a:lnTo>
                <a:lnTo>
                  <a:pt x="6305550" y="4318"/>
                </a:lnTo>
                <a:lnTo>
                  <a:pt x="6301232" y="0"/>
                </a:lnTo>
                <a:close/>
              </a:path>
            </a:pathLst>
          </a:custGeom>
          <a:solidFill>
            <a:srgbClr val="403B4E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49287" y="4425642"/>
            <a:ext cx="3516629" cy="61658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400" spc="-65">
                <a:solidFill>
                  <a:srgbClr val="403B4E"/>
                </a:solidFill>
                <a:latin typeface="Arial Black"/>
                <a:cs typeface="Arial Black"/>
              </a:rPr>
              <a:t>Presented</a:t>
            </a:r>
            <a:r>
              <a:rPr dirty="0" sz="1400" spc="-55">
                <a:solidFill>
                  <a:srgbClr val="403B4E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403B4E"/>
                </a:solidFill>
                <a:latin typeface="Arial Black"/>
                <a:cs typeface="Arial Black"/>
              </a:rPr>
              <a:t>By:</a:t>
            </a:r>
            <a:r>
              <a:rPr dirty="0" sz="1400" spc="-20">
                <a:solidFill>
                  <a:srgbClr val="403B4E"/>
                </a:solidFill>
                <a:latin typeface="Arial Black"/>
                <a:cs typeface="Arial Black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Vinay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 Kumar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403B4E"/>
                </a:solidFill>
                <a:latin typeface="Arial MT"/>
                <a:cs typeface="Arial MT"/>
              </a:rPr>
              <a:t>Ogre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400" spc="-45">
                <a:solidFill>
                  <a:srgbClr val="403B4E"/>
                </a:solidFill>
                <a:latin typeface="Arial Black"/>
                <a:cs typeface="Arial Black"/>
              </a:rPr>
              <a:t>Organisation:</a:t>
            </a:r>
            <a:r>
              <a:rPr dirty="0" sz="1400" spc="-10">
                <a:solidFill>
                  <a:srgbClr val="403B4E"/>
                </a:solidFill>
                <a:latin typeface="Arial Black"/>
                <a:cs typeface="Arial Black"/>
              </a:rPr>
              <a:t> 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Naviotech</a:t>
            </a:r>
            <a:r>
              <a:rPr dirty="0" sz="14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Solution</a:t>
            </a:r>
            <a:r>
              <a:rPr dirty="0" sz="1400" spc="-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•</a:t>
            </a:r>
            <a:r>
              <a:rPr dirty="0" sz="140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403B4E"/>
                </a:solidFill>
                <a:latin typeface="Arial MT"/>
                <a:cs typeface="Arial MT"/>
              </a:rPr>
              <a:t>2026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71999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2707" rIns="0" bIns="0" rtlCol="0" vert="horz">
            <a:spAutoFit/>
          </a:bodyPr>
          <a:lstStyle/>
          <a:p>
            <a:pPr marL="4587875">
              <a:lnSpc>
                <a:spcPct val="100000"/>
              </a:lnSpc>
              <a:spcBef>
                <a:spcPts val="105"/>
              </a:spcBef>
            </a:pPr>
            <a:r>
              <a:rPr dirty="0" sz="3150" spc="140"/>
              <a:t>Introduction</a:t>
            </a:r>
            <a:endParaRPr sz="3150"/>
          </a:p>
        </p:txBody>
      </p:sp>
      <p:sp>
        <p:nvSpPr>
          <p:cNvPr id="4" name="object 4"/>
          <p:cNvSpPr txBox="1"/>
          <p:nvPr/>
        </p:nvSpPr>
        <p:spPr>
          <a:xfrm>
            <a:off x="5224779" y="1373314"/>
            <a:ext cx="3256915" cy="38125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23900"/>
              </a:lnSpc>
              <a:spcBef>
                <a:spcPts val="110"/>
              </a:spcBef>
            </a:pPr>
            <a:r>
              <a:rPr dirty="0" sz="1250" spc="-35">
                <a:solidFill>
                  <a:srgbClr val="403B4E"/>
                </a:solidFill>
                <a:latin typeface="Arial MT"/>
                <a:cs typeface="Arial MT"/>
              </a:rPr>
              <a:t>Sales</a:t>
            </a:r>
            <a:r>
              <a:rPr dirty="0" sz="1250" spc="-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45">
                <a:solidFill>
                  <a:srgbClr val="403B4E"/>
                </a:solidFill>
                <a:latin typeface="Arial MT"/>
                <a:cs typeface="Arial MT"/>
              </a:rPr>
              <a:t>prediction</a:t>
            </a:r>
            <a:r>
              <a:rPr dirty="0" sz="1250" spc="-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is</a:t>
            </a:r>
            <a:r>
              <a:rPr dirty="0" sz="1250" spc="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50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r>
              <a:rPr dirty="0" sz="1250" spc="-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process</a:t>
            </a:r>
            <a:r>
              <a:rPr dirty="0" sz="125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60">
                <a:solidFill>
                  <a:srgbClr val="403B4E"/>
                </a:solidFill>
                <a:latin typeface="Arial MT"/>
                <a:cs typeface="Arial MT"/>
              </a:rPr>
              <a:t>of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 estimating </a:t>
            </a:r>
            <a:r>
              <a:rPr dirty="0" sz="1250" spc="50">
                <a:solidFill>
                  <a:srgbClr val="403B4E"/>
                </a:solidFill>
                <a:latin typeface="Arial MT"/>
                <a:cs typeface="Arial MT"/>
              </a:rPr>
              <a:t>future</a:t>
            </a:r>
            <a:r>
              <a:rPr dirty="0" sz="1250" spc="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50">
                <a:solidFill>
                  <a:srgbClr val="403B4E"/>
                </a:solidFill>
                <a:latin typeface="Arial MT"/>
                <a:cs typeface="Arial MT"/>
              </a:rPr>
              <a:t>product</a:t>
            </a:r>
            <a:r>
              <a:rPr dirty="0" sz="125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sales</a:t>
            </a:r>
            <a:r>
              <a:rPr dirty="0" sz="125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using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historical</a:t>
            </a:r>
            <a:r>
              <a:rPr dirty="0" sz="1250" spc="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20">
                <a:solidFill>
                  <a:srgbClr val="403B4E"/>
                </a:solidFill>
                <a:latin typeface="Arial MT"/>
                <a:cs typeface="Arial MT"/>
              </a:rPr>
              <a:t>data,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market</a:t>
            </a:r>
            <a:r>
              <a:rPr dirty="0" sz="1250" spc="18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trends,</a:t>
            </a:r>
            <a:r>
              <a:rPr dirty="0" sz="1250" spc="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5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25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statistical</a:t>
            </a:r>
            <a:r>
              <a:rPr dirty="0" sz="125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models.</a:t>
            </a:r>
            <a:r>
              <a:rPr dirty="0" sz="1250" spc="1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30">
                <a:solidFill>
                  <a:srgbClr val="403B4E"/>
                </a:solidFill>
                <a:latin typeface="Arial MT"/>
                <a:cs typeface="Arial MT"/>
              </a:rPr>
              <a:t>It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empowers</a:t>
            </a:r>
            <a:r>
              <a:rPr dirty="0" sz="1250" spc="1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retailers</a:t>
            </a:r>
            <a:r>
              <a:rPr dirty="0" sz="1250" spc="1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80">
                <a:solidFill>
                  <a:srgbClr val="403B4E"/>
                </a:solidFill>
                <a:latin typeface="Arial MT"/>
                <a:cs typeface="Arial MT"/>
              </a:rPr>
              <a:t>to</a:t>
            </a:r>
            <a:r>
              <a:rPr dirty="0" sz="1250" spc="9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anticipate</a:t>
            </a:r>
            <a:r>
              <a:rPr dirty="0" sz="1250" spc="18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demand </a:t>
            </a:r>
            <a:r>
              <a:rPr dirty="0" sz="1250" spc="5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25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align</a:t>
            </a:r>
            <a:r>
              <a:rPr dirty="0" sz="125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supply</a:t>
            </a:r>
            <a:r>
              <a:rPr dirty="0" sz="1250" spc="114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accordingly.</a:t>
            </a:r>
            <a:endParaRPr sz="1250">
              <a:latin typeface="Arial MT"/>
              <a:cs typeface="Arial MT"/>
            </a:endParaRPr>
          </a:p>
          <a:p>
            <a:pPr marL="12700" marR="156210">
              <a:lnSpc>
                <a:spcPct val="122700"/>
              </a:lnSpc>
              <a:spcBef>
                <a:spcPts val="1015"/>
              </a:spcBef>
            </a:pP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Machine</a:t>
            </a:r>
            <a:r>
              <a:rPr dirty="0" sz="1250" spc="229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learning</a:t>
            </a:r>
            <a:r>
              <a:rPr dirty="0" sz="1250" spc="1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brings</a:t>
            </a:r>
            <a:r>
              <a:rPr dirty="0" sz="1250" spc="15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precision</a:t>
            </a:r>
            <a:r>
              <a:rPr dirty="0" sz="1250" spc="2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55">
                <a:solidFill>
                  <a:srgbClr val="403B4E"/>
                </a:solidFill>
                <a:latin typeface="Arial MT"/>
                <a:cs typeface="Arial MT"/>
              </a:rPr>
              <a:t>to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business</a:t>
            </a:r>
            <a:r>
              <a:rPr dirty="0" sz="125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analytics</a:t>
            </a:r>
            <a:r>
              <a:rPr dirty="0" sz="125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by</a:t>
            </a:r>
            <a:r>
              <a:rPr dirty="0" sz="1250" spc="1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uncovering</a:t>
            </a:r>
            <a:r>
              <a:rPr dirty="0" sz="1250" spc="1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hidden </a:t>
            </a:r>
            <a:r>
              <a:rPr dirty="0" sz="1250" spc="45">
                <a:solidFill>
                  <a:srgbClr val="403B4E"/>
                </a:solidFill>
                <a:latin typeface="Arial MT"/>
                <a:cs typeface="Arial MT"/>
              </a:rPr>
              <a:t>patterns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55">
                <a:solidFill>
                  <a:srgbClr val="403B4E"/>
                </a:solidFill>
                <a:latin typeface="Arial MT"/>
                <a:cs typeface="Arial MT"/>
              </a:rPr>
              <a:t>within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large</a:t>
            </a:r>
            <a:r>
              <a:rPr dirty="0" sz="1250" spc="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datasets —</a:t>
            </a:r>
            <a:r>
              <a:rPr dirty="0" sz="1250" spc="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enabling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proactive,</a:t>
            </a:r>
            <a:r>
              <a:rPr dirty="0" sz="1250" spc="19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data-driven</a:t>
            </a:r>
            <a:r>
              <a:rPr dirty="0" sz="1250" spc="15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decision-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making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across</a:t>
            </a:r>
            <a:r>
              <a:rPr dirty="0" sz="125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50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r>
              <a:rPr dirty="0" sz="125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retail</a:t>
            </a:r>
            <a:r>
              <a:rPr dirty="0" sz="1250" spc="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value</a:t>
            </a:r>
            <a:r>
              <a:rPr dirty="0" sz="1250" spc="-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chain.</a:t>
            </a:r>
            <a:endParaRPr sz="1250">
              <a:latin typeface="Arial MT"/>
              <a:cs typeface="Arial MT"/>
            </a:endParaRPr>
          </a:p>
          <a:p>
            <a:pPr marL="12700" marR="155575">
              <a:lnSpc>
                <a:spcPct val="124000"/>
              </a:lnSpc>
              <a:spcBef>
                <a:spcPts val="995"/>
              </a:spcBef>
            </a:pP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Predictive</a:t>
            </a:r>
            <a:r>
              <a:rPr dirty="0" sz="1250" spc="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analytics</a:t>
            </a:r>
            <a:r>
              <a:rPr dirty="0" sz="1250" spc="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has</a:t>
            </a:r>
            <a:r>
              <a:rPr dirty="0" sz="1250" spc="1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become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indispensable</a:t>
            </a:r>
            <a:r>
              <a:rPr dirty="0" sz="1250" spc="9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50">
                <a:solidFill>
                  <a:srgbClr val="403B4E"/>
                </a:solidFill>
                <a:latin typeface="Arial MT"/>
                <a:cs typeface="Arial MT"/>
              </a:rPr>
              <a:t>in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50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r>
              <a:rPr dirty="0" sz="1250" spc="9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retail</a:t>
            </a:r>
            <a:r>
              <a:rPr dirty="0" sz="1250" spc="1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industry,</a:t>
            </a:r>
            <a:r>
              <a:rPr dirty="0" sz="1250" spc="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20">
                <a:solidFill>
                  <a:srgbClr val="403B4E"/>
                </a:solidFill>
                <a:latin typeface="Arial MT"/>
                <a:cs typeface="Arial MT"/>
              </a:rPr>
              <a:t>where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accurate</a:t>
            </a:r>
            <a:r>
              <a:rPr dirty="0" sz="1250" spc="18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forecasts</a:t>
            </a:r>
            <a:r>
              <a:rPr dirty="0" sz="1250" spc="1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directly</a:t>
            </a:r>
            <a:r>
              <a:rPr dirty="0" sz="1250" spc="18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influence </a:t>
            </a:r>
            <a:r>
              <a:rPr dirty="0" sz="1250" spc="20">
                <a:solidFill>
                  <a:srgbClr val="403B4E"/>
                </a:solidFill>
                <a:latin typeface="Arial MT"/>
                <a:cs typeface="Arial MT"/>
              </a:rPr>
              <a:t>profitability,</a:t>
            </a:r>
            <a:r>
              <a:rPr dirty="0" sz="1250" spc="8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20">
                <a:solidFill>
                  <a:srgbClr val="403B4E"/>
                </a:solidFill>
                <a:latin typeface="Arial MT"/>
                <a:cs typeface="Arial MT"/>
              </a:rPr>
              <a:t>customer</a:t>
            </a:r>
            <a:r>
              <a:rPr dirty="0" sz="1250" spc="1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20">
                <a:solidFill>
                  <a:srgbClr val="403B4E"/>
                </a:solidFill>
                <a:latin typeface="Arial MT"/>
                <a:cs typeface="Arial MT"/>
              </a:rPr>
              <a:t>satisfaction,</a:t>
            </a:r>
            <a:r>
              <a:rPr dirty="0" sz="1250" spc="9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25">
                <a:solidFill>
                  <a:srgbClr val="403B4E"/>
                </a:solidFill>
                <a:latin typeface="Arial MT"/>
                <a:cs typeface="Arial MT"/>
              </a:rPr>
              <a:t>and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competitive</a:t>
            </a:r>
            <a:r>
              <a:rPr dirty="0" sz="1250" spc="28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advantage.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918746" y="1451162"/>
            <a:ext cx="2613660" cy="1450975"/>
            <a:chOff x="8918746" y="1451162"/>
            <a:chExt cx="2613660" cy="1450975"/>
          </a:xfrm>
        </p:grpSpPr>
        <p:sp>
          <p:nvSpPr>
            <p:cNvPr id="6" name="object 6"/>
            <p:cNvSpPr/>
            <p:nvPr/>
          </p:nvSpPr>
          <p:spPr>
            <a:xfrm>
              <a:off x="8918746" y="1454221"/>
              <a:ext cx="2613660" cy="1447800"/>
            </a:xfrm>
            <a:custGeom>
              <a:avLst/>
              <a:gdLst/>
              <a:ahLst/>
              <a:cxnLst/>
              <a:rect l="l" t="t" r="r" b="b"/>
              <a:pathLst>
                <a:path w="2613659" h="1447800">
                  <a:moveTo>
                    <a:pt x="22234" y="25412"/>
                  </a:moveTo>
                  <a:lnTo>
                    <a:pt x="5966" y="50799"/>
                  </a:lnTo>
                  <a:lnTo>
                    <a:pt x="0" y="76199"/>
                  </a:lnTo>
                  <a:lnTo>
                    <a:pt x="0" y="1384300"/>
                  </a:lnTo>
                  <a:lnTo>
                    <a:pt x="12967" y="1422400"/>
                  </a:lnTo>
                  <a:lnTo>
                    <a:pt x="75923" y="1447800"/>
                  </a:lnTo>
                  <a:lnTo>
                    <a:pt x="2556946" y="1447800"/>
                  </a:lnTo>
                  <a:lnTo>
                    <a:pt x="2596595" y="1435100"/>
                  </a:lnTo>
                  <a:lnTo>
                    <a:pt x="49577" y="1435100"/>
                  </a:lnTo>
                  <a:lnTo>
                    <a:pt x="48032" y="1422400"/>
                  </a:lnTo>
                  <a:lnTo>
                    <a:pt x="35020" y="1422400"/>
                  </a:lnTo>
                  <a:lnTo>
                    <a:pt x="32701" y="1409700"/>
                  </a:lnTo>
                  <a:lnTo>
                    <a:pt x="25458" y="1409700"/>
                  </a:lnTo>
                  <a:lnTo>
                    <a:pt x="23904" y="1397000"/>
                  </a:lnTo>
                  <a:lnTo>
                    <a:pt x="20292" y="1397000"/>
                  </a:lnTo>
                  <a:lnTo>
                    <a:pt x="20248" y="1393199"/>
                  </a:lnTo>
                  <a:lnTo>
                    <a:pt x="19891" y="1384300"/>
                  </a:lnTo>
                  <a:lnTo>
                    <a:pt x="19153" y="1384300"/>
                  </a:lnTo>
                  <a:lnTo>
                    <a:pt x="19035" y="76199"/>
                  </a:lnTo>
                  <a:lnTo>
                    <a:pt x="19342" y="76199"/>
                  </a:lnTo>
                  <a:lnTo>
                    <a:pt x="19969" y="63499"/>
                  </a:lnTo>
                  <a:lnTo>
                    <a:pt x="21691" y="63499"/>
                  </a:lnTo>
                  <a:lnTo>
                    <a:pt x="23664" y="50799"/>
                  </a:lnTo>
                  <a:lnTo>
                    <a:pt x="29190" y="50799"/>
                  </a:lnTo>
                  <a:lnTo>
                    <a:pt x="31435" y="38099"/>
                  </a:lnTo>
                  <a:lnTo>
                    <a:pt x="35069" y="38099"/>
                  </a:lnTo>
                  <a:lnTo>
                    <a:pt x="22234" y="25412"/>
                  </a:lnTo>
                  <a:close/>
                </a:path>
                <a:path w="2613659" h="1447800">
                  <a:moveTo>
                    <a:pt x="48032" y="1422400"/>
                  </a:moveTo>
                  <a:lnTo>
                    <a:pt x="49577" y="1435100"/>
                  </a:lnTo>
                  <a:lnTo>
                    <a:pt x="49461" y="1432882"/>
                  </a:lnTo>
                  <a:lnTo>
                    <a:pt x="48032" y="1422400"/>
                  </a:lnTo>
                  <a:close/>
                </a:path>
                <a:path w="2613659" h="1447800">
                  <a:moveTo>
                    <a:pt x="49461" y="1432882"/>
                  </a:moveTo>
                  <a:lnTo>
                    <a:pt x="49577" y="1435100"/>
                  </a:lnTo>
                  <a:lnTo>
                    <a:pt x="49764" y="1435100"/>
                  </a:lnTo>
                  <a:lnTo>
                    <a:pt x="49461" y="1432882"/>
                  </a:lnTo>
                  <a:close/>
                </a:path>
                <a:path w="2613659" h="1447800">
                  <a:moveTo>
                    <a:pt x="2600496" y="1422400"/>
                  </a:moveTo>
                  <a:lnTo>
                    <a:pt x="2579657" y="1422400"/>
                  </a:lnTo>
                  <a:lnTo>
                    <a:pt x="2576939" y="1435100"/>
                  </a:lnTo>
                  <a:lnTo>
                    <a:pt x="2600052" y="1435100"/>
                  </a:lnTo>
                  <a:lnTo>
                    <a:pt x="2600496" y="1422400"/>
                  </a:lnTo>
                  <a:close/>
                </a:path>
                <a:path w="2613659" h="1447800">
                  <a:moveTo>
                    <a:pt x="48912" y="1422400"/>
                  </a:moveTo>
                  <a:lnTo>
                    <a:pt x="48032" y="1422400"/>
                  </a:lnTo>
                  <a:lnTo>
                    <a:pt x="49461" y="1432882"/>
                  </a:lnTo>
                  <a:lnTo>
                    <a:pt x="48912" y="1422400"/>
                  </a:lnTo>
                  <a:close/>
                </a:path>
                <a:path w="2613659" h="1447800">
                  <a:moveTo>
                    <a:pt x="2609537" y="50800"/>
                  </a:moveTo>
                  <a:lnTo>
                    <a:pt x="2593830" y="50800"/>
                  </a:lnTo>
                  <a:lnTo>
                    <a:pt x="2593878" y="1397000"/>
                  </a:lnTo>
                  <a:lnTo>
                    <a:pt x="2593652" y="1397000"/>
                  </a:lnTo>
                  <a:lnTo>
                    <a:pt x="2593474" y="1409700"/>
                  </a:lnTo>
                  <a:lnTo>
                    <a:pt x="2609517" y="1409700"/>
                  </a:lnTo>
                  <a:lnTo>
                    <a:pt x="2613045" y="1397000"/>
                  </a:lnTo>
                  <a:lnTo>
                    <a:pt x="2613044" y="63500"/>
                  </a:lnTo>
                  <a:lnTo>
                    <a:pt x="2609537" y="50800"/>
                  </a:lnTo>
                  <a:close/>
                </a:path>
                <a:path w="2613659" h="1447800">
                  <a:moveTo>
                    <a:pt x="2590773" y="38100"/>
                  </a:moveTo>
                  <a:lnTo>
                    <a:pt x="2590014" y="38100"/>
                  </a:lnTo>
                  <a:lnTo>
                    <a:pt x="2591145" y="50800"/>
                  </a:lnTo>
                  <a:lnTo>
                    <a:pt x="2590773" y="38100"/>
                  </a:lnTo>
                  <a:close/>
                </a:path>
                <a:path w="2613659" h="1447800">
                  <a:moveTo>
                    <a:pt x="2606696" y="38100"/>
                  </a:moveTo>
                  <a:lnTo>
                    <a:pt x="2590773" y="38100"/>
                  </a:lnTo>
                  <a:lnTo>
                    <a:pt x="2592123" y="50800"/>
                  </a:lnTo>
                  <a:lnTo>
                    <a:pt x="2608134" y="50800"/>
                  </a:lnTo>
                  <a:lnTo>
                    <a:pt x="2606696" y="38100"/>
                  </a:lnTo>
                  <a:close/>
                </a:path>
                <a:path w="2613659" h="1447800">
                  <a:moveTo>
                    <a:pt x="27312" y="29985"/>
                  </a:moveTo>
                  <a:lnTo>
                    <a:pt x="35069" y="38099"/>
                  </a:lnTo>
                  <a:lnTo>
                    <a:pt x="36321" y="38099"/>
                  </a:lnTo>
                  <a:lnTo>
                    <a:pt x="27312" y="29985"/>
                  </a:lnTo>
                  <a:close/>
                </a:path>
                <a:path w="2613659" h="1447800">
                  <a:moveTo>
                    <a:pt x="45113" y="25412"/>
                  </a:moveTo>
                  <a:lnTo>
                    <a:pt x="22940" y="25412"/>
                  </a:lnTo>
                  <a:lnTo>
                    <a:pt x="27312" y="29985"/>
                  </a:lnTo>
                  <a:lnTo>
                    <a:pt x="36321" y="38099"/>
                  </a:lnTo>
                  <a:lnTo>
                    <a:pt x="44221" y="38099"/>
                  </a:lnTo>
                  <a:lnTo>
                    <a:pt x="45113" y="25412"/>
                  </a:lnTo>
                  <a:close/>
                </a:path>
                <a:path w="2613659" h="1447800">
                  <a:moveTo>
                    <a:pt x="2600909" y="25412"/>
                  </a:moveTo>
                  <a:lnTo>
                    <a:pt x="2579906" y="25412"/>
                  </a:lnTo>
                  <a:lnTo>
                    <a:pt x="2583464" y="38100"/>
                  </a:lnTo>
                  <a:lnTo>
                    <a:pt x="2601890" y="38100"/>
                  </a:lnTo>
                  <a:lnTo>
                    <a:pt x="2600909" y="25412"/>
                  </a:lnTo>
                  <a:close/>
                </a:path>
                <a:path w="2613659" h="1447800">
                  <a:moveTo>
                    <a:pt x="45306" y="25412"/>
                  </a:moveTo>
                  <a:lnTo>
                    <a:pt x="45113" y="25412"/>
                  </a:lnTo>
                  <a:lnTo>
                    <a:pt x="44792" y="29985"/>
                  </a:lnTo>
                  <a:lnTo>
                    <a:pt x="45306" y="25412"/>
                  </a:lnTo>
                  <a:close/>
                </a:path>
                <a:path w="2613659" h="1447800">
                  <a:moveTo>
                    <a:pt x="2568265" y="0"/>
                  </a:moveTo>
                  <a:lnTo>
                    <a:pt x="75921" y="0"/>
                  </a:lnTo>
                  <a:lnTo>
                    <a:pt x="46370" y="12699"/>
                  </a:lnTo>
                  <a:lnTo>
                    <a:pt x="22216" y="25412"/>
                  </a:lnTo>
                  <a:lnTo>
                    <a:pt x="2596602" y="25412"/>
                  </a:lnTo>
                  <a:lnTo>
                    <a:pt x="2588311" y="12700"/>
                  </a:lnTo>
                  <a:lnTo>
                    <a:pt x="2578794" y="12700"/>
                  </a:lnTo>
                  <a:lnTo>
                    <a:pt x="2568265" y="0"/>
                  </a:lnTo>
                  <a:close/>
                </a:path>
              </a:pathLst>
            </a:custGeom>
            <a:solidFill>
              <a:srgbClr val="E4BD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918746" y="1451162"/>
              <a:ext cx="76200" cy="1450975"/>
            </a:xfrm>
            <a:custGeom>
              <a:avLst/>
              <a:gdLst/>
              <a:ahLst/>
              <a:cxnLst/>
              <a:rect l="l" t="t" r="r" b="b"/>
              <a:pathLst>
                <a:path w="76200" h="1450975">
                  <a:moveTo>
                    <a:pt x="75923" y="0"/>
                  </a:moveTo>
                  <a:lnTo>
                    <a:pt x="34220" y="4385"/>
                  </a:lnTo>
                  <a:lnTo>
                    <a:pt x="4403" y="34098"/>
                  </a:lnTo>
                  <a:lnTo>
                    <a:pt x="0" y="55847"/>
                  </a:lnTo>
                  <a:lnTo>
                    <a:pt x="0" y="1394996"/>
                  </a:lnTo>
                  <a:lnTo>
                    <a:pt x="16411" y="1434497"/>
                  </a:lnTo>
                  <a:lnTo>
                    <a:pt x="56030" y="1450859"/>
                  </a:lnTo>
                  <a:lnTo>
                    <a:pt x="75924" y="1450859"/>
                  </a:lnTo>
                  <a:lnTo>
                    <a:pt x="75923" y="0"/>
                  </a:lnTo>
                  <a:close/>
                </a:path>
              </a:pathLst>
            </a:custGeom>
            <a:solidFill>
              <a:srgbClr val="FFAC9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168765" y="1599247"/>
            <a:ext cx="1999614" cy="11137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85" b="1">
                <a:solidFill>
                  <a:srgbClr val="403B4E"/>
                </a:solidFill>
                <a:latin typeface="Cambria"/>
                <a:cs typeface="Cambria"/>
              </a:rPr>
              <a:t>Demand</a:t>
            </a:r>
            <a:r>
              <a:rPr dirty="0" sz="1550" spc="4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550" spc="75" b="1">
                <a:solidFill>
                  <a:srgbClr val="403B4E"/>
                </a:solidFill>
                <a:latin typeface="Cambria"/>
                <a:cs typeface="Cambria"/>
              </a:rPr>
              <a:t>Estimation</a:t>
            </a:r>
            <a:endParaRPr sz="1550">
              <a:latin typeface="Cambria"/>
              <a:cs typeface="Cambria"/>
            </a:endParaRPr>
          </a:p>
          <a:p>
            <a:pPr marL="12700" marR="7620">
              <a:lnSpc>
                <a:spcPct val="125200"/>
              </a:lnSpc>
              <a:spcBef>
                <a:spcPts val="1045"/>
              </a:spcBef>
            </a:pP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Forecasting</a:t>
            </a:r>
            <a:r>
              <a:rPr dirty="0" sz="125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55">
                <a:solidFill>
                  <a:srgbClr val="403B4E"/>
                </a:solidFill>
                <a:latin typeface="Arial MT"/>
                <a:cs typeface="Arial MT"/>
              </a:rPr>
              <a:t>future</a:t>
            </a:r>
            <a:r>
              <a:rPr dirty="0" sz="1250" spc="35">
                <a:solidFill>
                  <a:srgbClr val="403B4E"/>
                </a:solidFill>
                <a:latin typeface="Arial MT"/>
                <a:cs typeface="Arial MT"/>
              </a:rPr>
              <a:t> product </a:t>
            </a:r>
            <a:r>
              <a:rPr dirty="0" sz="1250" spc="50">
                <a:solidFill>
                  <a:srgbClr val="403B4E"/>
                </a:solidFill>
                <a:latin typeface="Arial MT"/>
                <a:cs typeface="Arial MT"/>
              </a:rPr>
              <a:t>demand</a:t>
            </a:r>
            <a:r>
              <a:rPr dirty="0" sz="1250" spc="-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65">
                <a:solidFill>
                  <a:srgbClr val="403B4E"/>
                </a:solidFill>
                <a:latin typeface="Arial MT"/>
                <a:cs typeface="Arial MT"/>
              </a:rPr>
              <a:t>with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statistical modelling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918746" y="3051287"/>
            <a:ext cx="2613660" cy="1461135"/>
            <a:chOff x="8918746" y="3051287"/>
            <a:chExt cx="2613660" cy="1461135"/>
          </a:xfrm>
        </p:grpSpPr>
        <p:sp>
          <p:nvSpPr>
            <p:cNvPr id="10" name="object 10"/>
            <p:cNvSpPr/>
            <p:nvPr/>
          </p:nvSpPr>
          <p:spPr>
            <a:xfrm>
              <a:off x="8918746" y="3051336"/>
              <a:ext cx="2613660" cy="1460500"/>
            </a:xfrm>
            <a:custGeom>
              <a:avLst/>
              <a:gdLst/>
              <a:ahLst/>
              <a:cxnLst/>
              <a:rect l="l" t="t" r="r" b="b"/>
              <a:pathLst>
                <a:path w="2613659" h="1460500">
                  <a:moveTo>
                    <a:pt x="2556946" y="0"/>
                  </a:moveTo>
                  <a:lnTo>
                    <a:pt x="75922" y="0"/>
                  </a:lnTo>
                  <a:lnTo>
                    <a:pt x="22239" y="25399"/>
                  </a:lnTo>
                  <a:lnTo>
                    <a:pt x="0" y="76199"/>
                  </a:lnTo>
                  <a:lnTo>
                    <a:pt x="0" y="1397000"/>
                  </a:lnTo>
                  <a:lnTo>
                    <a:pt x="12967" y="1435100"/>
                  </a:lnTo>
                  <a:lnTo>
                    <a:pt x="75923" y="1460500"/>
                  </a:lnTo>
                  <a:lnTo>
                    <a:pt x="2556946" y="1460500"/>
                  </a:lnTo>
                  <a:lnTo>
                    <a:pt x="2596595" y="1447800"/>
                  </a:lnTo>
                  <a:lnTo>
                    <a:pt x="49577" y="1447800"/>
                  </a:lnTo>
                  <a:lnTo>
                    <a:pt x="48032" y="1435100"/>
                  </a:lnTo>
                  <a:lnTo>
                    <a:pt x="35020" y="1435100"/>
                  </a:lnTo>
                  <a:lnTo>
                    <a:pt x="32701" y="1422400"/>
                  </a:lnTo>
                  <a:lnTo>
                    <a:pt x="25458" y="1422400"/>
                  </a:lnTo>
                  <a:lnTo>
                    <a:pt x="23904" y="1409700"/>
                  </a:lnTo>
                  <a:lnTo>
                    <a:pt x="20292" y="1409700"/>
                  </a:lnTo>
                  <a:lnTo>
                    <a:pt x="20248" y="1405907"/>
                  </a:lnTo>
                  <a:lnTo>
                    <a:pt x="19891" y="1397000"/>
                  </a:lnTo>
                  <a:lnTo>
                    <a:pt x="19153" y="1397000"/>
                  </a:lnTo>
                  <a:lnTo>
                    <a:pt x="19035" y="76199"/>
                  </a:lnTo>
                  <a:lnTo>
                    <a:pt x="19833" y="76199"/>
                  </a:lnTo>
                  <a:lnTo>
                    <a:pt x="20553" y="53795"/>
                  </a:lnTo>
                  <a:lnTo>
                    <a:pt x="25021" y="53795"/>
                  </a:lnTo>
                  <a:lnTo>
                    <a:pt x="25366" y="50799"/>
                  </a:lnTo>
                  <a:lnTo>
                    <a:pt x="32564" y="50799"/>
                  </a:lnTo>
                  <a:lnTo>
                    <a:pt x="35108" y="38099"/>
                  </a:lnTo>
                  <a:lnTo>
                    <a:pt x="22495" y="25399"/>
                  </a:lnTo>
                  <a:lnTo>
                    <a:pt x="2596594" y="25400"/>
                  </a:lnTo>
                  <a:lnTo>
                    <a:pt x="2588311" y="12700"/>
                  </a:lnTo>
                  <a:lnTo>
                    <a:pt x="2568265" y="12700"/>
                  </a:lnTo>
                  <a:lnTo>
                    <a:pt x="2556946" y="0"/>
                  </a:lnTo>
                  <a:close/>
                </a:path>
                <a:path w="2613659" h="1460500">
                  <a:moveTo>
                    <a:pt x="48032" y="1435100"/>
                  </a:moveTo>
                  <a:lnTo>
                    <a:pt x="49577" y="1447800"/>
                  </a:lnTo>
                  <a:lnTo>
                    <a:pt x="49461" y="1445582"/>
                  </a:lnTo>
                  <a:lnTo>
                    <a:pt x="48032" y="1435100"/>
                  </a:lnTo>
                  <a:close/>
                </a:path>
                <a:path w="2613659" h="1460500">
                  <a:moveTo>
                    <a:pt x="49461" y="1445582"/>
                  </a:moveTo>
                  <a:lnTo>
                    <a:pt x="49577" y="1447800"/>
                  </a:lnTo>
                  <a:lnTo>
                    <a:pt x="49764" y="1447800"/>
                  </a:lnTo>
                  <a:lnTo>
                    <a:pt x="49461" y="1445582"/>
                  </a:lnTo>
                  <a:close/>
                </a:path>
                <a:path w="2613659" h="1460500">
                  <a:moveTo>
                    <a:pt x="2600497" y="1435100"/>
                  </a:moveTo>
                  <a:lnTo>
                    <a:pt x="2579657" y="1435100"/>
                  </a:lnTo>
                  <a:lnTo>
                    <a:pt x="2576939" y="1447800"/>
                  </a:lnTo>
                  <a:lnTo>
                    <a:pt x="2600052" y="1447800"/>
                  </a:lnTo>
                  <a:lnTo>
                    <a:pt x="2600497" y="1435100"/>
                  </a:lnTo>
                  <a:close/>
                </a:path>
                <a:path w="2613659" h="1460500">
                  <a:moveTo>
                    <a:pt x="48912" y="1435100"/>
                  </a:moveTo>
                  <a:lnTo>
                    <a:pt x="48032" y="1435100"/>
                  </a:lnTo>
                  <a:lnTo>
                    <a:pt x="49461" y="1445582"/>
                  </a:lnTo>
                  <a:lnTo>
                    <a:pt x="48912" y="1435100"/>
                  </a:lnTo>
                  <a:close/>
                </a:path>
                <a:path w="2613659" h="1460500">
                  <a:moveTo>
                    <a:pt x="2605960" y="1422400"/>
                  </a:moveTo>
                  <a:lnTo>
                    <a:pt x="2591163" y="1422400"/>
                  </a:lnTo>
                  <a:lnTo>
                    <a:pt x="2589542" y="1435100"/>
                  </a:lnTo>
                  <a:lnTo>
                    <a:pt x="2605686" y="1435100"/>
                  </a:lnTo>
                  <a:lnTo>
                    <a:pt x="2605960" y="1422400"/>
                  </a:lnTo>
                  <a:close/>
                </a:path>
                <a:path w="2613659" h="1460500">
                  <a:moveTo>
                    <a:pt x="2609544" y="50800"/>
                  </a:moveTo>
                  <a:lnTo>
                    <a:pt x="2593463" y="50800"/>
                  </a:lnTo>
                  <a:lnTo>
                    <a:pt x="2593825" y="63502"/>
                  </a:lnTo>
                  <a:lnTo>
                    <a:pt x="2593878" y="1409700"/>
                  </a:lnTo>
                  <a:lnTo>
                    <a:pt x="2593652" y="1409700"/>
                  </a:lnTo>
                  <a:lnTo>
                    <a:pt x="2593474" y="1422400"/>
                  </a:lnTo>
                  <a:lnTo>
                    <a:pt x="2609518" y="1422400"/>
                  </a:lnTo>
                  <a:lnTo>
                    <a:pt x="2613045" y="1409700"/>
                  </a:lnTo>
                  <a:lnTo>
                    <a:pt x="2613044" y="63502"/>
                  </a:lnTo>
                  <a:lnTo>
                    <a:pt x="2609544" y="50800"/>
                  </a:lnTo>
                  <a:close/>
                </a:path>
                <a:path w="2613659" h="1460500">
                  <a:moveTo>
                    <a:pt x="25021" y="53795"/>
                  </a:moveTo>
                  <a:lnTo>
                    <a:pt x="20553" y="53795"/>
                  </a:lnTo>
                  <a:lnTo>
                    <a:pt x="20353" y="63502"/>
                  </a:lnTo>
                  <a:lnTo>
                    <a:pt x="23903" y="63502"/>
                  </a:lnTo>
                  <a:lnTo>
                    <a:pt x="25021" y="53795"/>
                  </a:lnTo>
                  <a:close/>
                </a:path>
                <a:path w="2613659" h="1460500">
                  <a:moveTo>
                    <a:pt x="22495" y="25399"/>
                  </a:moveTo>
                  <a:lnTo>
                    <a:pt x="35120" y="38099"/>
                  </a:lnTo>
                  <a:lnTo>
                    <a:pt x="36274" y="38099"/>
                  </a:lnTo>
                  <a:lnTo>
                    <a:pt x="22495" y="25399"/>
                  </a:lnTo>
                  <a:close/>
                </a:path>
                <a:path w="2613659" h="1460500">
                  <a:moveTo>
                    <a:pt x="49947" y="25399"/>
                  </a:moveTo>
                  <a:lnTo>
                    <a:pt x="22495" y="25399"/>
                  </a:lnTo>
                  <a:lnTo>
                    <a:pt x="36379" y="38099"/>
                  </a:lnTo>
                  <a:lnTo>
                    <a:pt x="45448" y="38099"/>
                  </a:lnTo>
                  <a:lnTo>
                    <a:pt x="49947" y="25399"/>
                  </a:lnTo>
                  <a:close/>
                </a:path>
                <a:path w="2613659" h="1460500">
                  <a:moveTo>
                    <a:pt x="50221" y="25399"/>
                  </a:moveTo>
                  <a:lnTo>
                    <a:pt x="49947" y="25399"/>
                  </a:lnTo>
                  <a:lnTo>
                    <a:pt x="48875" y="38099"/>
                  </a:lnTo>
                  <a:lnTo>
                    <a:pt x="50221" y="25399"/>
                  </a:lnTo>
                  <a:close/>
                </a:path>
              </a:pathLst>
            </a:custGeom>
            <a:solidFill>
              <a:srgbClr val="E4BD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918746" y="3051287"/>
              <a:ext cx="76200" cy="1461135"/>
            </a:xfrm>
            <a:custGeom>
              <a:avLst/>
              <a:gdLst/>
              <a:ahLst/>
              <a:cxnLst/>
              <a:rect l="l" t="t" r="r" b="b"/>
              <a:pathLst>
                <a:path w="76200" h="1461135">
                  <a:moveTo>
                    <a:pt x="75923" y="0"/>
                  </a:moveTo>
                  <a:lnTo>
                    <a:pt x="34220" y="4357"/>
                  </a:lnTo>
                  <a:lnTo>
                    <a:pt x="4403" y="33884"/>
                  </a:lnTo>
                  <a:lnTo>
                    <a:pt x="0" y="55496"/>
                  </a:lnTo>
                  <a:lnTo>
                    <a:pt x="0" y="1405036"/>
                  </a:lnTo>
                  <a:lnTo>
                    <a:pt x="16411" y="1444289"/>
                  </a:lnTo>
                  <a:lnTo>
                    <a:pt x="56030" y="1460548"/>
                  </a:lnTo>
                  <a:lnTo>
                    <a:pt x="75924" y="1460548"/>
                  </a:lnTo>
                  <a:lnTo>
                    <a:pt x="75923" y="0"/>
                  </a:lnTo>
                  <a:close/>
                </a:path>
              </a:pathLst>
            </a:custGeom>
            <a:solidFill>
              <a:srgbClr val="FFAC9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168765" y="3198495"/>
            <a:ext cx="2171065" cy="11264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60" b="1">
                <a:solidFill>
                  <a:srgbClr val="403B4E"/>
                </a:solidFill>
                <a:latin typeface="Cambria"/>
                <a:cs typeface="Cambria"/>
              </a:rPr>
              <a:t>Inventory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50" spc="65" b="1">
                <a:solidFill>
                  <a:srgbClr val="403B4E"/>
                </a:solidFill>
                <a:latin typeface="Cambria"/>
                <a:cs typeface="Cambria"/>
              </a:rPr>
              <a:t>Optimisation</a:t>
            </a:r>
            <a:endParaRPr sz="1550">
              <a:latin typeface="Cambria"/>
              <a:cs typeface="Cambria"/>
            </a:endParaRPr>
          </a:p>
          <a:p>
            <a:pPr marL="12700" marR="5080">
              <a:lnSpc>
                <a:spcPct val="125099"/>
              </a:lnSpc>
              <a:spcBef>
                <a:spcPts val="1070"/>
              </a:spcBef>
            </a:pP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Aligning</a:t>
            </a:r>
            <a:r>
              <a:rPr dirty="0" sz="125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stock</a:t>
            </a:r>
            <a:r>
              <a:rPr dirty="0" sz="1250" spc="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levels</a:t>
            </a:r>
            <a:r>
              <a:rPr dirty="0" sz="1250" spc="45">
                <a:solidFill>
                  <a:srgbClr val="403B4E"/>
                </a:solidFill>
                <a:latin typeface="Arial MT"/>
                <a:cs typeface="Arial MT"/>
              </a:rPr>
              <a:t> with </a:t>
            </a:r>
            <a:r>
              <a:rPr dirty="0" sz="1250" spc="20">
                <a:solidFill>
                  <a:srgbClr val="403B4E"/>
                </a:solidFill>
                <a:latin typeface="Arial MT"/>
                <a:cs typeface="Arial MT"/>
              </a:rPr>
              <a:t>predicted</a:t>
            </a:r>
            <a:r>
              <a:rPr dirty="0" sz="125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20">
                <a:solidFill>
                  <a:srgbClr val="403B4E"/>
                </a:solidFill>
                <a:latin typeface="Arial MT"/>
                <a:cs typeface="Arial MT"/>
              </a:rPr>
              <a:t>consumer</a:t>
            </a:r>
            <a:r>
              <a:rPr dirty="0" sz="1250" spc="1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40">
                <a:solidFill>
                  <a:srgbClr val="403B4E"/>
                </a:solidFill>
                <a:latin typeface="Arial MT"/>
                <a:cs typeface="Arial MT"/>
              </a:rPr>
              <a:t>demand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918746" y="4661087"/>
            <a:ext cx="2613660" cy="1450975"/>
            <a:chOff x="8918746" y="4661087"/>
            <a:chExt cx="2613660" cy="1450975"/>
          </a:xfrm>
        </p:grpSpPr>
        <p:sp>
          <p:nvSpPr>
            <p:cNvPr id="14" name="object 14"/>
            <p:cNvSpPr/>
            <p:nvPr/>
          </p:nvSpPr>
          <p:spPr>
            <a:xfrm>
              <a:off x="8918746" y="4664146"/>
              <a:ext cx="2613660" cy="1447800"/>
            </a:xfrm>
            <a:custGeom>
              <a:avLst/>
              <a:gdLst/>
              <a:ahLst/>
              <a:cxnLst/>
              <a:rect l="l" t="t" r="r" b="b"/>
              <a:pathLst>
                <a:path w="2613659" h="1447800">
                  <a:moveTo>
                    <a:pt x="22234" y="25412"/>
                  </a:moveTo>
                  <a:lnTo>
                    <a:pt x="5966" y="50800"/>
                  </a:lnTo>
                  <a:lnTo>
                    <a:pt x="0" y="76200"/>
                  </a:lnTo>
                  <a:lnTo>
                    <a:pt x="0" y="1384300"/>
                  </a:lnTo>
                  <a:lnTo>
                    <a:pt x="12967" y="1422400"/>
                  </a:lnTo>
                  <a:lnTo>
                    <a:pt x="75923" y="1447800"/>
                  </a:lnTo>
                  <a:lnTo>
                    <a:pt x="2556946" y="1447800"/>
                  </a:lnTo>
                  <a:lnTo>
                    <a:pt x="2596595" y="1435100"/>
                  </a:lnTo>
                  <a:lnTo>
                    <a:pt x="49577" y="1435100"/>
                  </a:lnTo>
                  <a:lnTo>
                    <a:pt x="48032" y="1422400"/>
                  </a:lnTo>
                  <a:lnTo>
                    <a:pt x="35020" y="1422400"/>
                  </a:lnTo>
                  <a:lnTo>
                    <a:pt x="32701" y="1409700"/>
                  </a:lnTo>
                  <a:lnTo>
                    <a:pt x="25458" y="1409700"/>
                  </a:lnTo>
                  <a:lnTo>
                    <a:pt x="23904" y="1397000"/>
                  </a:lnTo>
                  <a:lnTo>
                    <a:pt x="20292" y="1397000"/>
                  </a:lnTo>
                  <a:lnTo>
                    <a:pt x="20248" y="1393199"/>
                  </a:lnTo>
                  <a:lnTo>
                    <a:pt x="19891" y="1384300"/>
                  </a:lnTo>
                  <a:lnTo>
                    <a:pt x="19153" y="1384300"/>
                  </a:lnTo>
                  <a:lnTo>
                    <a:pt x="19035" y="76200"/>
                  </a:lnTo>
                  <a:lnTo>
                    <a:pt x="19342" y="76200"/>
                  </a:lnTo>
                  <a:lnTo>
                    <a:pt x="19969" y="63500"/>
                  </a:lnTo>
                  <a:lnTo>
                    <a:pt x="21691" y="63500"/>
                  </a:lnTo>
                  <a:lnTo>
                    <a:pt x="23664" y="50800"/>
                  </a:lnTo>
                  <a:lnTo>
                    <a:pt x="29190" y="50800"/>
                  </a:lnTo>
                  <a:lnTo>
                    <a:pt x="31435" y="38100"/>
                  </a:lnTo>
                  <a:lnTo>
                    <a:pt x="35069" y="38100"/>
                  </a:lnTo>
                  <a:lnTo>
                    <a:pt x="22234" y="25412"/>
                  </a:lnTo>
                  <a:close/>
                </a:path>
                <a:path w="2613659" h="1447800">
                  <a:moveTo>
                    <a:pt x="48032" y="1422400"/>
                  </a:moveTo>
                  <a:lnTo>
                    <a:pt x="49577" y="1435100"/>
                  </a:lnTo>
                  <a:lnTo>
                    <a:pt x="49461" y="1432882"/>
                  </a:lnTo>
                  <a:lnTo>
                    <a:pt x="48032" y="1422400"/>
                  </a:lnTo>
                  <a:close/>
                </a:path>
                <a:path w="2613659" h="1447800">
                  <a:moveTo>
                    <a:pt x="49461" y="1432882"/>
                  </a:moveTo>
                  <a:lnTo>
                    <a:pt x="49577" y="1435100"/>
                  </a:lnTo>
                  <a:lnTo>
                    <a:pt x="49764" y="1435100"/>
                  </a:lnTo>
                  <a:lnTo>
                    <a:pt x="49461" y="1432882"/>
                  </a:lnTo>
                  <a:close/>
                </a:path>
                <a:path w="2613659" h="1447800">
                  <a:moveTo>
                    <a:pt x="2600496" y="1422400"/>
                  </a:moveTo>
                  <a:lnTo>
                    <a:pt x="2579657" y="1422400"/>
                  </a:lnTo>
                  <a:lnTo>
                    <a:pt x="2576939" y="1435100"/>
                  </a:lnTo>
                  <a:lnTo>
                    <a:pt x="2600052" y="1435100"/>
                  </a:lnTo>
                  <a:lnTo>
                    <a:pt x="2600496" y="1422400"/>
                  </a:lnTo>
                  <a:close/>
                </a:path>
                <a:path w="2613659" h="1447800">
                  <a:moveTo>
                    <a:pt x="48912" y="1422400"/>
                  </a:moveTo>
                  <a:lnTo>
                    <a:pt x="48032" y="1422400"/>
                  </a:lnTo>
                  <a:lnTo>
                    <a:pt x="49461" y="1432882"/>
                  </a:lnTo>
                  <a:lnTo>
                    <a:pt x="48912" y="1422400"/>
                  </a:lnTo>
                  <a:close/>
                </a:path>
                <a:path w="2613659" h="1447800">
                  <a:moveTo>
                    <a:pt x="2609537" y="50800"/>
                  </a:moveTo>
                  <a:lnTo>
                    <a:pt x="2593830" y="50800"/>
                  </a:lnTo>
                  <a:lnTo>
                    <a:pt x="2593878" y="1397000"/>
                  </a:lnTo>
                  <a:lnTo>
                    <a:pt x="2593652" y="1397000"/>
                  </a:lnTo>
                  <a:lnTo>
                    <a:pt x="2593474" y="1409700"/>
                  </a:lnTo>
                  <a:lnTo>
                    <a:pt x="2609517" y="1409700"/>
                  </a:lnTo>
                  <a:lnTo>
                    <a:pt x="2613045" y="1397000"/>
                  </a:lnTo>
                  <a:lnTo>
                    <a:pt x="2613044" y="63500"/>
                  </a:lnTo>
                  <a:lnTo>
                    <a:pt x="2609537" y="50800"/>
                  </a:lnTo>
                  <a:close/>
                </a:path>
                <a:path w="2613659" h="1447800">
                  <a:moveTo>
                    <a:pt x="2590773" y="38100"/>
                  </a:moveTo>
                  <a:lnTo>
                    <a:pt x="2590014" y="38100"/>
                  </a:lnTo>
                  <a:lnTo>
                    <a:pt x="2591145" y="50800"/>
                  </a:lnTo>
                  <a:lnTo>
                    <a:pt x="2590773" y="38100"/>
                  </a:lnTo>
                  <a:close/>
                </a:path>
                <a:path w="2613659" h="1447800">
                  <a:moveTo>
                    <a:pt x="2606696" y="38100"/>
                  </a:moveTo>
                  <a:lnTo>
                    <a:pt x="2590773" y="38100"/>
                  </a:lnTo>
                  <a:lnTo>
                    <a:pt x="2592123" y="50800"/>
                  </a:lnTo>
                  <a:lnTo>
                    <a:pt x="2608134" y="50800"/>
                  </a:lnTo>
                  <a:lnTo>
                    <a:pt x="2606696" y="38100"/>
                  </a:lnTo>
                  <a:close/>
                </a:path>
                <a:path w="2613659" h="1447800">
                  <a:moveTo>
                    <a:pt x="27312" y="29985"/>
                  </a:moveTo>
                  <a:lnTo>
                    <a:pt x="35069" y="38100"/>
                  </a:lnTo>
                  <a:lnTo>
                    <a:pt x="36321" y="38100"/>
                  </a:lnTo>
                  <a:lnTo>
                    <a:pt x="27312" y="29985"/>
                  </a:lnTo>
                  <a:close/>
                </a:path>
                <a:path w="2613659" h="1447800">
                  <a:moveTo>
                    <a:pt x="45113" y="25412"/>
                  </a:moveTo>
                  <a:lnTo>
                    <a:pt x="22940" y="25412"/>
                  </a:lnTo>
                  <a:lnTo>
                    <a:pt x="27312" y="29985"/>
                  </a:lnTo>
                  <a:lnTo>
                    <a:pt x="36321" y="38100"/>
                  </a:lnTo>
                  <a:lnTo>
                    <a:pt x="44221" y="38100"/>
                  </a:lnTo>
                  <a:lnTo>
                    <a:pt x="45113" y="25412"/>
                  </a:lnTo>
                  <a:close/>
                </a:path>
                <a:path w="2613659" h="1447800">
                  <a:moveTo>
                    <a:pt x="2600909" y="25412"/>
                  </a:moveTo>
                  <a:lnTo>
                    <a:pt x="2579906" y="25412"/>
                  </a:lnTo>
                  <a:lnTo>
                    <a:pt x="2583464" y="38100"/>
                  </a:lnTo>
                  <a:lnTo>
                    <a:pt x="2601890" y="38100"/>
                  </a:lnTo>
                  <a:lnTo>
                    <a:pt x="2600909" y="25412"/>
                  </a:lnTo>
                  <a:close/>
                </a:path>
                <a:path w="2613659" h="1447800">
                  <a:moveTo>
                    <a:pt x="45306" y="25412"/>
                  </a:moveTo>
                  <a:lnTo>
                    <a:pt x="45113" y="25412"/>
                  </a:lnTo>
                  <a:lnTo>
                    <a:pt x="44792" y="29985"/>
                  </a:lnTo>
                  <a:lnTo>
                    <a:pt x="45306" y="25412"/>
                  </a:lnTo>
                  <a:close/>
                </a:path>
                <a:path w="2613659" h="1447800">
                  <a:moveTo>
                    <a:pt x="2568265" y="0"/>
                  </a:moveTo>
                  <a:lnTo>
                    <a:pt x="75923" y="0"/>
                  </a:lnTo>
                  <a:lnTo>
                    <a:pt x="46370" y="12700"/>
                  </a:lnTo>
                  <a:lnTo>
                    <a:pt x="22216" y="25412"/>
                  </a:lnTo>
                  <a:lnTo>
                    <a:pt x="2596602" y="25412"/>
                  </a:lnTo>
                  <a:lnTo>
                    <a:pt x="2588311" y="12700"/>
                  </a:lnTo>
                  <a:lnTo>
                    <a:pt x="2578794" y="12700"/>
                  </a:lnTo>
                  <a:lnTo>
                    <a:pt x="2568265" y="0"/>
                  </a:lnTo>
                  <a:close/>
                </a:path>
              </a:pathLst>
            </a:custGeom>
            <a:solidFill>
              <a:srgbClr val="E4BD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918746" y="4661087"/>
              <a:ext cx="76200" cy="1450975"/>
            </a:xfrm>
            <a:custGeom>
              <a:avLst/>
              <a:gdLst/>
              <a:ahLst/>
              <a:cxnLst/>
              <a:rect l="l" t="t" r="r" b="b"/>
              <a:pathLst>
                <a:path w="76200" h="1450975">
                  <a:moveTo>
                    <a:pt x="75923" y="0"/>
                  </a:moveTo>
                  <a:lnTo>
                    <a:pt x="56029" y="0"/>
                  </a:lnTo>
                  <a:lnTo>
                    <a:pt x="34220" y="4385"/>
                  </a:lnTo>
                  <a:lnTo>
                    <a:pt x="16410" y="16348"/>
                  </a:lnTo>
                  <a:lnTo>
                    <a:pt x="4403" y="34098"/>
                  </a:lnTo>
                  <a:lnTo>
                    <a:pt x="0" y="55847"/>
                  </a:lnTo>
                  <a:lnTo>
                    <a:pt x="0" y="1394996"/>
                  </a:lnTo>
                  <a:lnTo>
                    <a:pt x="4403" y="1416740"/>
                  </a:lnTo>
                  <a:lnTo>
                    <a:pt x="16411" y="1434497"/>
                  </a:lnTo>
                  <a:lnTo>
                    <a:pt x="34221" y="1446469"/>
                  </a:lnTo>
                  <a:lnTo>
                    <a:pt x="56030" y="1450859"/>
                  </a:lnTo>
                  <a:lnTo>
                    <a:pt x="75924" y="1450859"/>
                  </a:lnTo>
                  <a:lnTo>
                    <a:pt x="75923" y="0"/>
                  </a:lnTo>
                  <a:close/>
                </a:path>
              </a:pathLst>
            </a:custGeom>
            <a:solidFill>
              <a:srgbClr val="FFAC9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9168765" y="4810188"/>
            <a:ext cx="2143125" cy="11137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65" b="1">
                <a:solidFill>
                  <a:srgbClr val="403B4E"/>
                </a:solidFill>
                <a:latin typeface="Cambria"/>
                <a:cs typeface="Cambria"/>
              </a:rPr>
              <a:t>Strategic</a:t>
            </a:r>
            <a:r>
              <a:rPr dirty="0" sz="1550" spc="6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550" spc="70" b="1">
                <a:solidFill>
                  <a:srgbClr val="403B4E"/>
                </a:solidFill>
                <a:latin typeface="Cambria"/>
                <a:cs typeface="Cambria"/>
              </a:rPr>
              <a:t>Planning</a:t>
            </a:r>
            <a:endParaRPr sz="1550">
              <a:latin typeface="Cambria"/>
              <a:cs typeface="Cambria"/>
            </a:endParaRPr>
          </a:p>
          <a:p>
            <a:pPr marL="12700" marR="5080">
              <a:lnSpc>
                <a:spcPct val="125200"/>
              </a:lnSpc>
              <a:spcBef>
                <a:spcPts val="1045"/>
              </a:spcBef>
            </a:pP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Supporting</a:t>
            </a:r>
            <a:r>
              <a:rPr dirty="0" sz="1250" spc="1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pricing, </a:t>
            </a:r>
            <a:r>
              <a:rPr dirty="0" sz="1250" spc="45">
                <a:solidFill>
                  <a:srgbClr val="403B4E"/>
                </a:solidFill>
                <a:latin typeface="Arial MT"/>
                <a:cs typeface="Arial MT"/>
              </a:rPr>
              <a:t>promotion,</a:t>
            </a:r>
            <a:r>
              <a:rPr dirty="0" sz="1250" spc="1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250" spc="10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supply </a:t>
            </a:r>
            <a:r>
              <a:rPr dirty="0" sz="1250" spc="-20">
                <a:solidFill>
                  <a:srgbClr val="403B4E"/>
                </a:solidFill>
                <a:latin typeface="Arial MT"/>
                <a:cs typeface="Arial MT"/>
              </a:rPr>
              <a:t>chain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decisions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049000" y="653415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1143000" y="0"/>
                </a:moveTo>
                <a:lnTo>
                  <a:pt x="0" y="0"/>
                </a:lnTo>
                <a:lnTo>
                  <a:pt x="0" y="323850"/>
                </a:lnTo>
                <a:lnTo>
                  <a:pt x="1143000" y="323850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49000" y="653415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1143000" y="0"/>
                </a:moveTo>
                <a:lnTo>
                  <a:pt x="0" y="0"/>
                </a:lnTo>
                <a:lnTo>
                  <a:pt x="0" y="323850"/>
                </a:lnTo>
                <a:lnTo>
                  <a:pt x="1143000" y="323850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20"/>
              <a:t>The</a:t>
            </a:r>
            <a:r>
              <a:rPr dirty="0" sz="1850" spc="50"/>
              <a:t> </a:t>
            </a:r>
            <a:r>
              <a:rPr dirty="0" sz="1850" spc="105"/>
              <a:t>Problem</a:t>
            </a:r>
            <a:r>
              <a:rPr dirty="0" sz="1850" spc="85"/>
              <a:t> </a:t>
            </a:r>
            <a:r>
              <a:rPr dirty="0" sz="1850" spc="110"/>
              <a:t>Statement</a:t>
            </a:r>
            <a:endParaRPr sz="1850"/>
          </a:p>
        </p:txBody>
      </p:sp>
      <p:sp>
        <p:nvSpPr>
          <p:cNvPr id="4" name="object 4"/>
          <p:cNvSpPr txBox="1"/>
          <p:nvPr/>
        </p:nvSpPr>
        <p:spPr>
          <a:xfrm>
            <a:off x="649287" y="3134105"/>
            <a:ext cx="5064125" cy="9537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900"/>
              </a:lnSpc>
              <a:spcBef>
                <a:spcPts val="100"/>
              </a:spcBef>
            </a:pPr>
            <a:r>
              <a:rPr dirty="0" sz="750" spc="10">
                <a:solidFill>
                  <a:srgbClr val="403B4E"/>
                </a:solidFill>
                <a:latin typeface="Arial MT"/>
                <a:cs typeface="Arial MT"/>
              </a:rPr>
              <a:t>Retailers</a:t>
            </a:r>
            <a:r>
              <a:rPr dirty="0" sz="750" spc="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10">
                <a:solidFill>
                  <a:srgbClr val="403B4E"/>
                </a:solidFill>
                <a:latin typeface="Arial MT"/>
                <a:cs typeface="Arial MT"/>
              </a:rPr>
              <a:t>face</a:t>
            </a:r>
            <a:r>
              <a:rPr dirty="0" sz="75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10">
                <a:solidFill>
                  <a:srgbClr val="403B4E"/>
                </a:solidFill>
                <a:latin typeface="Arial MT"/>
                <a:cs typeface="Arial MT"/>
              </a:rPr>
              <a:t>persistent</a:t>
            </a:r>
            <a:r>
              <a:rPr dirty="0" sz="750" spc="1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10">
                <a:solidFill>
                  <a:srgbClr val="403B4E"/>
                </a:solidFill>
                <a:latin typeface="Arial MT"/>
                <a:cs typeface="Arial MT"/>
              </a:rPr>
              <a:t>challenges</a:t>
            </a:r>
            <a:r>
              <a:rPr dirty="0" sz="750" spc="10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10">
                <a:solidFill>
                  <a:srgbClr val="403B4E"/>
                </a:solidFill>
                <a:latin typeface="Arial MT"/>
                <a:cs typeface="Arial MT"/>
              </a:rPr>
              <a:t>in</a:t>
            </a:r>
            <a:r>
              <a:rPr dirty="0" sz="75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10">
                <a:solidFill>
                  <a:srgbClr val="403B4E"/>
                </a:solidFill>
                <a:latin typeface="Arial MT"/>
                <a:cs typeface="Arial MT"/>
              </a:rPr>
              <a:t>inventory</a:t>
            </a:r>
            <a:r>
              <a:rPr dirty="0" sz="75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10">
                <a:solidFill>
                  <a:srgbClr val="403B4E"/>
                </a:solidFill>
                <a:latin typeface="Arial MT"/>
                <a:cs typeface="Arial MT"/>
              </a:rPr>
              <a:t>management</a:t>
            </a:r>
            <a:r>
              <a:rPr dirty="0" sz="750" spc="1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10">
                <a:solidFill>
                  <a:srgbClr val="403B4E"/>
                </a:solidFill>
                <a:latin typeface="Arial MT"/>
                <a:cs typeface="Arial MT"/>
              </a:rPr>
              <a:t>that</a:t>
            </a:r>
            <a:r>
              <a:rPr dirty="0" sz="75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10">
                <a:solidFill>
                  <a:srgbClr val="403B4E"/>
                </a:solidFill>
                <a:latin typeface="Arial MT"/>
                <a:cs typeface="Arial MT"/>
              </a:rPr>
              <a:t>erode</a:t>
            </a:r>
            <a:r>
              <a:rPr dirty="0" sz="75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10">
                <a:solidFill>
                  <a:srgbClr val="403B4E"/>
                </a:solidFill>
                <a:latin typeface="Arial MT"/>
                <a:cs typeface="Arial MT"/>
              </a:rPr>
              <a:t>margins</a:t>
            </a:r>
            <a:r>
              <a:rPr dirty="0" sz="750" spc="10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1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75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10">
                <a:solidFill>
                  <a:srgbClr val="403B4E"/>
                </a:solidFill>
                <a:latin typeface="Arial MT"/>
                <a:cs typeface="Arial MT"/>
              </a:rPr>
              <a:t>customer</a:t>
            </a:r>
            <a:r>
              <a:rPr dirty="0" sz="75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10">
                <a:solidFill>
                  <a:srgbClr val="403B4E"/>
                </a:solidFill>
                <a:latin typeface="Arial MT"/>
                <a:cs typeface="Arial MT"/>
              </a:rPr>
              <a:t>trust.</a:t>
            </a:r>
            <a:r>
              <a:rPr dirty="0" sz="75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10">
                <a:solidFill>
                  <a:srgbClr val="403B4E"/>
                </a:solidFill>
                <a:latin typeface="Arial MT"/>
                <a:cs typeface="Arial MT"/>
              </a:rPr>
              <a:t>Two</a:t>
            </a:r>
            <a:r>
              <a:rPr dirty="0" sz="750" spc="-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403B4E"/>
                </a:solidFill>
                <a:latin typeface="Arial MT"/>
                <a:cs typeface="Arial MT"/>
              </a:rPr>
              <a:t>issues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750" spc="-10">
                <a:solidFill>
                  <a:srgbClr val="403B4E"/>
                </a:solidFill>
                <a:latin typeface="Arial MT"/>
                <a:cs typeface="Arial MT"/>
              </a:rPr>
              <a:t>dominate:</a:t>
            </a:r>
            <a:endParaRPr sz="750">
              <a:latin typeface="Arial MT"/>
              <a:cs typeface="Arial MT"/>
            </a:endParaRPr>
          </a:p>
          <a:p>
            <a:pPr marL="164465" indent="-151765">
              <a:lnSpc>
                <a:spcPct val="100000"/>
              </a:lnSpc>
              <a:spcBef>
                <a:spcPts val="415"/>
              </a:spcBef>
              <a:buChar char="•"/>
              <a:tabLst>
                <a:tab pos="164465" algn="l"/>
              </a:tabLst>
            </a:pPr>
            <a:r>
              <a:rPr dirty="0" sz="750" spc="-55">
                <a:solidFill>
                  <a:srgbClr val="403B4E"/>
                </a:solidFill>
                <a:latin typeface="Arial Black"/>
                <a:cs typeface="Arial Black"/>
              </a:rPr>
              <a:t>Overstocking</a:t>
            </a:r>
            <a:r>
              <a:rPr dirty="0" sz="750" spc="40">
                <a:solidFill>
                  <a:srgbClr val="403B4E"/>
                </a:solidFill>
                <a:latin typeface="Arial Black"/>
                <a:cs typeface="Arial Black"/>
              </a:rPr>
              <a:t> </a:t>
            </a:r>
            <a:r>
              <a:rPr dirty="0" sz="750">
                <a:solidFill>
                  <a:srgbClr val="403B4E"/>
                </a:solidFill>
                <a:latin typeface="Arial MT"/>
                <a:cs typeface="Arial MT"/>
              </a:rPr>
              <a:t>—</a:t>
            </a:r>
            <a:r>
              <a:rPr dirty="0" sz="75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403B4E"/>
                </a:solidFill>
                <a:latin typeface="Arial MT"/>
                <a:cs typeface="Arial MT"/>
              </a:rPr>
              <a:t>Excess</a:t>
            </a:r>
            <a:r>
              <a:rPr dirty="0" sz="750" spc="1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403B4E"/>
                </a:solidFill>
                <a:latin typeface="Arial MT"/>
                <a:cs typeface="Arial MT"/>
              </a:rPr>
              <a:t>inventory</a:t>
            </a:r>
            <a:r>
              <a:rPr dirty="0" sz="750" spc="-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403B4E"/>
                </a:solidFill>
                <a:latin typeface="Arial MT"/>
                <a:cs typeface="Arial MT"/>
              </a:rPr>
              <a:t>ties</a:t>
            </a:r>
            <a:r>
              <a:rPr dirty="0" sz="75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75">
                <a:solidFill>
                  <a:srgbClr val="403B4E"/>
                </a:solidFill>
                <a:latin typeface="Arial MT"/>
                <a:cs typeface="Arial MT"/>
              </a:rPr>
              <a:t>up</a:t>
            </a:r>
            <a:r>
              <a:rPr dirty="0" sz="750" spc="-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403B4E"/>
                </a:solidFill>
                <a:latin typeface="Arial MT"/>
                <a:cs typeface="Arial MT"/>
              </a:rPr>
              <a:t>capital,</a:t>
            </a:r>
            <a:r>
              <a:rPr dirty="0" sz="750" spc="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403B4E"/>
                </a:solidFill>
                <a:latin typeface="Arial MT"/>
                <a:cs typeface="Arial MT"/>
              </a:rPr>
              <a:t>increases</a:t>
            </a:r>
            <a:r>
              <a:rPr dirty="0" sz="750" spc="1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403B4E"/>
                </a:solidFill>
                <a:latin typeface="Arial MT"/>
                <a:cs typeface="Arial MT"/>
              </a:rPr>
              <a:t>warehousing</a:t>
            </a:r>
            <a:r>
              <a:rPr dirty="0" sz="75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403B4E"/>
                </a:solidFill>
                <a:latin typeface="Arial MT"/>
                <a:cs typeface="Arial MT"/>
              </a:rPr>
              <a:t>costs,</a:t>
            </a:r>
            <a:r>
              <a:rPr dirty="0" sz="750" spc="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750" spc="-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403B4E"/>
                </a:solidFill>
                <a:latin typeface="Arial MT"/>
                <a:cs typeface="Arial MT"/>
              </a:rPr>
              <a:t>leads</a:t>
            </a:r>
            <a:r>
              <a:rPr dirty="0" sz="750" spc="1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403B4E"/>
                </a:solidFill>
                <a:latin typeface="Arial MT"/>
                <a:cs typeface="Arial MT"/>
              </a:rPr>
              <a:t>to</a:t>
            </a:r>
            <a:r>
              <a:rPr dirty="0" sz="750" spc="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403B4E"/>
                </a:solidFill>
                <a:latin typeface="Arial MT"/>
                <a:cs typeface="Arial MT"/>
              </a:rPr>
              <a:t>spoilage</a:t>
            </a:r>
            <a:r>
              <a:rPr dirty="0" sz="75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403B4E"/>
                </a:solidFill>
                <a:latin typeface="Arial MT"/>
                <a:cs typeface="Arial MT"/>
              </a:rPr>
              <a:t>or</a:t>
            </a:r>
            <a:endParaRPr sz="750">
              <a:latin typeface="Arial MT"/>
              <a:cs typeface="Arial MT"/>
            </a:endParaRPr>
          </a:p>
          <a:p>
            <a:pPr marL="165100">
              <a:lnSpc>
                <a:spcPct val="100000"/>
              </a:lnSpc>
              <a:spcBef>
                <a:spcPts val="5"/>
              </a:spcBef>
            </a:pPr>
            <a:r>
              <a:rPr dirty="0" sz="750" spc="-10">
                <a:solidFill>
                  <a:srgbClr val="403B4E"/>
                </a:solidFill>
                <a:latin typeface="Arial MT"/>
                <a:cs typeface="Arial MT"/>
              </a:rPr>
              <a:t>obsolescence.</a:t>
            </a:r>
            <a:endParaRPr sz="750">
              <a:latin typeface="Arial MT"/>
              <a:cs typeface="Arial MT"/>
            </a:endParaRPr>
          </a:p>
          <a:p>
            <a:pPr marL="164465" indent="-151765">
              <a:lnSpc>
                <a:spcPct val="100000"/>
              </a:lnSpc>
              <a:buChar char="•"/>
              <a:tabLst>
                <a:tab pos="164465" algn="l"/>
              </a:tabLst>
            </a:pPr>
            <a:r>
              <a:rPr dirty="0" sz="750" spc="-55">
                <a:solidFill>
                  <a:srgbClr val="403B4E"/>
                </a:solidFill>
                <a:latin typeface="Arial Black"/>
                <a:cs typeface="Arial Black"/>
              </a:rPr>
              <a:t>Understocking</a:t>
            </a:r>
            <a:r>
              <a:rPr dirty="0" sz="750" spc="30">
                <a:solidFill>
                  <a:srgbClr val="403B4E"/>
                </a:solidFill>
                <a:latin typeface="Arial Black"/>
                <a:cs typeface="Arial Black"/>
              </a:rPr>
              <a:t> </a:t>
            </a:r>
            <a:r>
              <a:rPr dirty="0" sz="750">
                <a:solidFill>
                  <a:srgbClr val="403B4E"/>
                </a:solidFill>
                <a:latin typeface="Arial MT"/>
                <a:cs typeface="Arial MT"/>
              </a:rPr>
              <a:t>—</a:t>
            </a:r>
            <a:r>
              <a:rPr dirty="0" sz="750" spc="9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403B4E"/>
                </a:solidFill>
                <a:latin typeface="Arial MT"/>
                <a:cs typeface="Arial MT"/>
              </a:rPr>
              <a:t>Insufficient</a:t>
            </a:r>
            <a:r>
              <a:rPr dirty="0" sz="750" spc="19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403B4E"/>
                </a:solidFill>
                <a:latin typeface="Arial MT"/>
                <a:cs typeface="Arial MT"/>
              </a:rPr>
              <a:t>stock</a:t>
            </a:r>
            <a:r>
              <a:rPr dirty="0" sz="750" spc="114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403B4E"/>
                </a:solidFill>
                <a:latin typeface="Arial MT"/>
                <a:cs typeface="Arial MT"/>
              </a:rPr>
              <a:t>triggers</a:t>
            </a:r>
            <a:r>
              <a:rPr dirty="0" sz="750" spc="1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403B4E"/>
                </a:solidFill>
                <a:latin typeface="Arial MT"/>
                <a:cs typeface="Arial MT"/>
              </a:rPr>
              <a:t>lost</a:t>
            </a:r>
            <a:r>
              <a:rPr dirty="0" sz="750" spc="8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403B4E"/>
                </a:solidFill>
                <a:latin typeface="Arial MT"/>
                <a:cs typeface="Arial MT"/>
              </a:rPr>
              <a:t>sales,</a:t>
            </a:r>
            <a:r>
              <a:rPr dirty="0" sz="750" spc="9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403B4E"/>
                </a:solidFill>
                <a:latin typeface="Arial MT"/>
                <a:cs typeface="Arial MT"/>
              </a:rPr>
              <a:t>customer</a:t>
            </a:r>
            <a:r>
              <a:rPr dirty="0" sz="750" spc="1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403B4E"/>
                </a:solidFill>
                <a:latin typeface="Arial MT"/>
                <a:cs typeface="Arial MT"/>
              </a:rPr>
              <a:t>dissatisfaction,</a:t>
            </a:r>
            <a:r>
              <a:rPr dirty="0" sz="750" spc="9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750" spc="1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403B4E"/>
                </a:solidFill>
                <a:latin typeface="Arial MT"/>
                <a:cs typeface="Arial MT"/>
              </a:rPr>
              <a:t>brand</a:t>
            </a:r>
            <a:r>
              <a:rPr dirty="0" sz="750" spc="1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403B4E"/>
                </a:solidFill>
                <a:latin typeface="Arial MT"/>
                <a:cs typeface="Arial MT"/>
              </a:rPr>
              <a:t>erosion.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750" spc="20">
                <a:solidFill>
                  <a:srgbClr val="403B4E"/>
                </a:solidFill>
                <a:latin typeface="Arial MT"/>
                <a:cs typeface="Arial MT"/>
              </a:rPr>
              <a:t>Traditional</a:t>
            </a:r>
            <a:r>
              <a:rPr dirty="0" sz="75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10">
                <a:solidFill>
                  <a:srgbClr val="403B4E"/>
                </a:solidFill>
                <a:latin typeface="Arial MT"/>
                <a:cs typeface="Arial MT"/>
              </a:rPr>
              <a:t>forecasting</a:t>
            </a:r>
            <a:r>
              <a:rPr dirty="0" sz="750" spc="-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20">
                <a:solidFill>
                  <a:srgbClr val="403B4E"/>
                </a:solidFill>
                <a:latin typeface="Arial MT"/>
                <a:cs typeface="Arial MT"/>
              </a:rPr>
              <a:t>methods</a:t>
            </a:r>
            <a:r>
              <a:rPr dirty="0" sz="750" spc="-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20">
                <a:solidFill>
                  <a:srgbClr val="403B4E"/>
                </a:solidFill>
                <a:latin typeface="Arial MT"/>
                <a:cs typeface="Arial MT"/>
              </a:rPr>
              <a:t>rely</a:t>
            </a:r>
            <a:r>
              <a:rPr dirty="0" sz="750" spc="-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20">
                <a:solidFill>
                  <a:srgbClr val="403B4E"/>
                </a:solidFill>
                <a:latin typeface="Arial MT"/>
                <a:cs typeface="Arial MT"/>
              </a:rPr>
              <a:t>on</a:t>
            </a:r>
            <a:r>
              <a:rPr dirty="0" sz="75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20">
                <a:solidFill>
                  <a:srgbClr val="403B4E"/>
                </a:solidFill>
                <a:latin typeface="Arial MT"/>
                <a:cs typeface="Arial MT"/>
              </a:rPr>
              <a:t>intuition and</a:t>
            </a:r>
            <a:r>
              <a:rPr dirty="0" sz="75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20">
                <a:solidFill>
                  <a:srgbClr val="403B4E"/>
                </a:solidFill>
                <a:latin typeface="Arial MT"/>
                <a:cs typeface="Arial MT"/>
              </a:rPr>
              <a:t>historical</a:t>
            </a:r>
            <a:r>
              <a:rPr dirty="0" sz="750" spc="-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10">
                <a:solidFill>
                  <a:srgbClr val="403B4E"/>
                </a:solidFill>
                <a:latin typeface="Arial MT"/>
                <a:cs typeface="Arial MT"/>
              </a:rPr>
              <a:t>averages</a:t>
            </a:r>
            <a:r>
              <a:rPr dirty="0" sz="750" spc="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20">
                <a:solidFill>
                  <a:srgbClr val="403B4E"/>
                </a:solidFill>
                <a:latin typeface="Arial MT"/>
                <a:cs typeface="Arial MT"/>
              </a:rPr>
              <a:t>—</a:t>
            </a:r>
            <a:r>
              <a:rPr dirty="0" sz="750" spc="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20">
                <a:solidFill>
                  <a:srgbClr val="403B4E"/>
                </a:solidFill>
                <a:latin typeface="Arial MT"/>
                <a:cs typeface="Arial MT"/>
              </a:rPr>
              <a:t>approaches</a:t>
            </a:r>
            <a:r>
              <a:rPr dirty="0" sz="750" spc="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20">
                <a:solidFill>
                  <a:srgbClr val="403B4E"/>
                </a:solidFill>
                <a:latin typeface="Arial MT"/>
                <a:cs typeface="Arial MT"/>
              </a:rPr>
              <a:t>that</a:t>
            </a:r>
            <a:r>
              <a:rPr dirty="0" sz="750" spc="-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20">
                <a:solidFill>
                  <a:srgbClr val="403B4E"/>
                </a:solidFill>
                <a:latin typeface="Arial MT"/>
                <a:cs typeface="Arial MT"/>
              </a:rPr>
              <a:t>fail</a:t>
            </a:r>
            <a:r>
              <a:rPr dirty="0" sz="750" spc="-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60">
                <a:solidFill>
                  <a:srgbClr val="403B4E"/>
                </a:solidFill>
                <a:latin typeface="Arial MT"/>
                <a:cs typeface="Arial MT"/>
              </a:rPr>
              <a:t>to</a:t>
            </a:r>
            <a:r>
              <a:rPr dirty="0" sz="75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20">
                <a:solidFill>
                  <a:srgbClr val="403B4E"/>
                </a:solidFill>
                <a:latin typeface="Arial MT"/>
                <a:cs typeface="Arial MT"/>
              </a:rPr>
              <a:t>capture</a:t>
            </a:r>
            <a:r>
              <a:rPr dirty="0" sz="750" spc="-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750" spc="20">
                <a:solidFill>
                  <a:srgbClr val="403B4E"/>
                </a:solidFill>
                <a:latin typeface="Arial MT"/>
                <a:cs typeface="Arial MT"/>
              </a:rPr>
              <a:t>complexity</a:t>
            </a:r>
            <a:r>
              <a:rPr dirty="0" sz="750" spc="-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20">
                <a:solidFill>
                  <a:srgbClr val="403B4E"/>
                </a:solidFill>
                <a:latin typeface="Arial MT"/>
                <a:cs typeface="Arial MT"/>
              </a:rPr>
              <a:t>of</a:t>
            </a:r>
            <a:r>
              <a:rPr dirty="0" sz="750" spc="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50">
                <a:solidFill>
                  <a:srgbClr val="403B4E"/>
                </a:solidFill>
                <a:latin typeface="Arial MT"/>
                <a:cs typeface="Arial MT"/>
              </a:rPr>
              <a:t>modern</a:t>
            </a:r>
            <a:r>
              <a:rPr dirty="0" sz="750" spc="-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20">
                <a:solidFill>
                  <a:srgbClr val="403B4E"/>
                </a:solidFill>
                <a:latin typeface="Arial MT"/>
                <a:cs typeface="Arial MT"/>
              </a:rPr>
              <a:t>retail</a:t>
            </a:r>
            <a:r>
              <a:rPr dirty="0" sz="75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403B4E"/>
                </a:solidFill>
                <a:latin typeface="Arial MT"/>
                <a:cs typeface="Arial MT"/>
              </a:rPr>
              <a:t>dynamics.</a:t>
            </a:r>
            <a:endParaRPr sz="750">
              <a:latin typeface="Arial MT"/>
              <a:cs typeface="Arial MT"/>
            </a:endParaRPr>
          </a:p>
        </p:txBody>
      </p:sp>
      <p:pic>
        <p:nvPicPr>
          <p:cNvPr id="5" name="object 5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9825" y="962025"/>
            <a:ext cx="5314950" cy="5314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49000" y="653415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1143000" y="0"/>
                </a:moveTo>
                <a:lnTo>
                  <a:pt x="0" y="0"/>
                </a:lnTo>
                <a:lnTo>
                  <a:pt x="0" y="323850"/>
                </a:lnTo>
                <a:lnTo>
                  <a:pt x="1143000" y="323850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9287" y="1252474"/>
            <a:ext cx="4231005" cy="5867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155"/>
              <a:t>Project</a:t>
            </a:r>
            <a:r>
              <a:rPr dirty="0" spc="100"/>
              <a:t> </a:t>
            </a:r>
            <a:r>
              <a:rPr dirty="0" spc="130"/>
              <a:t>Objectives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931" y="2270397"/>
            <a:ext cx="443175" cy="44087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58519" y="2232088"/>
            <a:ext cx="2626995" cy="13011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50" b="1">
                <a:solidFill>
                  <a:srgbClr val="403B4E"/>
                </a:solidFill>
                <a:latin typeface="Cambria"/>
                <a:cs typeface="Cambria"/>
              </a:rPr>
              <a:t>Predict</a:t>
            </a:r>
            <a:r>
              <a:rPr dirty="0" sz="1850" spc="35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850" spc="75" b="1">
                <a:solidFill>
                  <a:srgbClr val="403B4E"/>
                </a:solidFill>
                <a:latin typeface="Cambria"/>
                <a:cs typeface="Cambria"/>
              </a:rPr>
              <a:t>Product</a:t>
            </a:r>
            <a:r>
              <a:rPr dirty="0" sz="1850" spc="35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850" spc="50" b="1">
                <a:solidFill>
                  <a:srgbClr val="403B4E"/>
                </a:solidFill>
                <a:latin typeface="Cambria"/>
                <a:cs typeface="Cambria"/>
              </a:rPr>
              <a:t>Sales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8600"/>
              </a:lnSpc>
              <a:spcBef>
                <a:spcPts val="805"/>
              </a:spcBef>
            </a:pP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Build</a:t>
            </a: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an</a:t>
            </a:r>
            <a:r>
              <a:rPr dirty="0" sz="1400" spc="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45">
                <a:solidFill>
                  <a:srgbClr val="403B4E"/>
                </a:solidFill>
                <a:latin typeface="Arial MT"/>
                <a:cs typeface="Arial MT"/>
              </a:rPr>
              <a:t>accurate</a:t>
            </a:r>
            <a:r>
              <a:rPr dirty="0" sz="1400" spc="-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ML</a:t>
            </a:r>
            <a:r>
              <a:rPr dirty="0" sz="1400" spc="-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85">
                <a:solidFill>
                  <a:srgbClr val="403B4E"/>
                </a:solidFill>
                <a:latin typeface="Arial MT"/>
                <a:cs typeface="Arial MT"/>
              </a:rPr>
              <a:t>model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85">
                <a:solidFill>
                  <a:srgbClr val="403B4E"/>
                </a:solidFill>
                <a:latin typeface="Arial MT"/>
                <a:cs typeface="Arial MT"/>
              </a:rPr>
              <a:t>to 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forecast</a:t>
            </a:r>
            <a:r>
              <a:rPr dirty="0" sz="1400" spc="-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80">
                <a:solidFill>
                  <a:srgbClr val="403B4E"/>
                </a:solidFill>
                <a:latin typeface="Arial MT"/>
                <a:cs typeface="Arial MT"/>
              </a:rPr>
              <a:t>outlet-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level</a:t>
            </a:r>
            <a:r>
              <a:rPr dirty="0" sz="1400" spc="8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sales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95">
                <a:solidFill>
                  <a:srgbClr val="403B4E"/>
                </a:solidFill>
                <a:latin typeface="Arial MT"/>
                <a:cs typeface="Arial MT"/>
              </a:rPr>
              <a:t>for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diverse</a:t>
            </a:r>
            <a:r>
              <a:rPr dirty="0" sz="1400" spc="3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products.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85119" y="2311994"/>
            <a:ext cx="431800" cy="367665"/>
          </a:xfrm>
          <a:custGeom>
            <a:avLst/>
            <a:gdLst/>
            <a:ahLst/>
            <a:cxnLst/>
            <a:rect l="l" t="t" r="r" b="b"/>
            <a:pathLst>
              <a:path w="431800" h="367664">
                <a:moveTo>
                  <a:pt x="431148" y="367125"/>
                </a:moveTo>
                <a:lnTo>
                  <a:pt x="431318" y="362568"/>
                </a:lnTo>
                <a:lnTo>
                  <a:pt x="431429" y="355904"/>
                </a:lnTo>
                <a:lnTo>
                  <a:pt x="431478" y="347130"/>
                </a:lnTo>
                <a:lnTo>
                  <a:pt x="431465" y="336248"/>
                </a:lnTo>
              </a:path>
              <a:path w="431800" h="367664">
                <a:moveTo>
                  <a:pt x="431214" y="108106"/>
                </a:moveTo>
                <a:lnTo>
                  <a:pt x="418991" y="86665"/>
                </a:lnTo>
                <a:lnTo>
                  <a:pt x="410628" y="82121"/>
                </a:lnTo>
              </a:path>
              <a:path w="431800" h="367664">
                <a:moveTo>
                  <a:pt x="249656" y="7262"/>
                </a:moveTo>
                <a:lnTo>
                  <a:pt x="240081" y="3403"/>
                </a:lnTo>
                <a:lnTo>
                  <a:pt x="233197" y="1441"/>
                </a:lnTo>
                <a:lnTo>
                  <a:pt x="227741" y="346"/>
                </a:lnTo>
                <a:lnTo>
                  <a:pt x="220698" y="0"/>
                </a:lnTo>
                <a:lnTo>
                  <a:pt x="212654" y="103"/>
                </a:lnTo>
                <a:lnTo>
                  <a:pt x="172719" y="11734"/>
                </a:lnTo>
                <a:lnTo>
                  <a:pt x="159449" y="17737"/>
                </a:lnTo>
              </a:path>
              <a:path w="431800" h="367664">
                <a:moveTo>
                  <a:pt x="336320" y="247883"/>
                </a:moveTo>
                <a:lnTo>
                  <a:pt x="95910" y="247457"/>
                </a:lnTo>
              </a:path>
              <a:path w="431800" h="367664">
                <a:moveTo>
                  <a:pt x="336479" y="367364"/>
                </a:moveTo>
                <a:lnTo>
                  <a:pt x="336320" y="247883"/>
                </a:lnTo>
              </a:path>
              <a:path w="431800" h="367664">
                <a:moveTo>
                  <a:pt x="431148" y="367125"/>
                </a:moveTo>
                <a:lnTo>
                  <a:pt x="0" y="367045"/>
                </a:lnTo>
              </a:path>
              <a:path w="431800" h="367664">
                <a:moveTo>
                  <a:pt x="216011" y="247599"/>
                </a:moveTo>
                <a:lnTo>
                  <a:pt x="215927" y="367328"/>
                </a:lnTo>
              </a:path>
              <a:path w="431800" h="367664">
                <a:moveTo>
                  <a:pt x="95910" y="247457"/>
                </a:moveTo>
                <a:lnTo>
                  <a:pt x="95752" y="367295"/>
                </a:lnTo>
              </a:path>
              <a:path w="431800" h="367664">
                <a:moveTo>
                  <a:pt x="271729" y="153086"/>
                </a:moveTo>
                <a:lnTo>
                  <a:pt x="160435" y="152994"/>
                </a:lnTo>
              </a:path>
              <a:path w="431800" h="367664">
                <a:moveTo>
                  <a:pt x="271729" y="153086"/>
                </a:moveTo>
                <a:lnTo>
                  <a:pt x="271738" y="247749"/>
                </a:lnTo>
              </a:path>
              <a:path w="431800" h="367664">
                <a:moveTo>
                  <a:pt x="160435" y="152994"/>
                </a:moveTo>
                <a:lnTo>
                  <a:pt x="160025" y="247515"/>
                </a:lnTo>
              </a:path>
              <a:path w="431800" h="367664">
                <a:moveTo>
                  <a:pt x="431465" y="336248"/>
                </a:moveTo>
                <a:lnTo>
                  <a:pt x="431214" y="108106"/>
                </a:lnTo>
              </a:path>
              <a:path w="431800" h="367664">
                <a:moveTo>
                  <a:pt x="159449" y="17737"/>
                </a:moveTo>
                <a:lnTo>
                  <a:pt x="20973" y="81770"/>
                </a:lnTo>
              </a:path>
              <a:path w="431800" h="367664">
                <a:moveTo>
                  <a:pt x="410628" y="82121"/>
                </a:moveTo>
                <a:lnTo>
                  <a:pt x="249656" y="7262"/>
                </a:lnTo>
              </a:path>
              <a:path w="431800" h="367664">
                <a:moveTo>
                  <a:pt x="21061" y="82054"/>
                </a:moveTo>
                <a:lnTo>
                  <a:pt x="11143" y="87270"/>
                </a:lnTo>
                <a:lnTo>
                  <a:pt x="4003" y="95455"/>
                </a:lnTo>
                <a:lnTo>
                  <a:pt x="220" y="105636"/>
                </a:lnTo>
                <a:lnTo>
                  <a:pt x="371" y="116843"/>
                </a:lnTo>
              </a:path>
              <a:path w="431800" h="367664">
                <a:moveTo>
                  <a:pt x="34" y="116910"/>
                </a:moveTo>
                <a:lnTo>
                  <a:pt x="0" y="367045"/>
                </a:lnTo>
              </a:path>
            </a:pathLst>
          </a:custGeom>
          <a:ln w="19122">
            <a:solidFill>
              <a:srgbClr val="CC2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063109" y="2232088"/>
            <a:ext cx="2771140" cy="159639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19430">
              <a:lnSpc>
                <a:spcPct val="104800"/>
              </a:lnSpc>
              <a:spcBef>
                <a:spcPts val="20"/>
              </a:spcBef>
            </a:pPr>
            <a:r>
              <a:rPr dirty="0" sz="1850" spc="85" b="1">
                <a:solidFill>
                  <a:srgbClr val="403B4E"/>
                </a:solidFill>
                <a:latin typeface="Cambria"/>
                <a:cs typeface="Cambria"/>
              </a:rPr>
              <a:t>Improve</a:t>
            </a:r>
            <a:r>
              <a:rPr dirty="0" sz="1850" spc="6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850" spc="65" b="1">
                <a:solidFill>
                  <a:srgbClr val="403B4E"/>
                </a:solidFill>
                <a:latin typeface="Cambria"/>
                <a:cs typeface="Cambria"/>
              </a:rPr>
              <a:t>Inventory </a:t>
            </a:r>
            <a:r>
              <a:rPr dirty="0" sz="1850" spc="95" b="1">
                <a:solidFill>
                  <a:srgbClr val="403B4E"/>
                </a:solidFill>
                <a:latin typeface="Cambria"/>
                <a:cs typeface="Cambria"/>
              </a:rPr>
              <a:t>Planning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8600"/>
              </a:lnSpc>
              <a:spcBef>
                <a:spcPts val="805"/>
              </a:spcBef>
            </a:pP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Enable</a:t>
            </a:r>
            <a:r>
              <a:rPr dirty="0" sz="1400" spc="2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data-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backed</a:t>
            </a:r>
            <a:r>
              <a:rPr dirty="0" sz="1400" spc="2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403B4E"/>
                </a:solidFill>
                <a:latin typeface="Arial MT"/>
                <a:cs typeface="Arial MT"/>
              </a:rPr>
              <a:t>stock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decisions</a:t>
            </a:r>
            <a:r>
              <a:rPr dirty="0" sz="1400" spc="1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95">
                <a:solidFill>
                  <a:srgbClr val="403B4E"/>
                </a:solidFill>
                <a:latin typeface="Arial MT"/>
                <a:cs typeface="Arial MT"/>
              </a:rPr>
              <a:t>that</a:t>
            </a:r>
            <a:r>
              <a:rPr dirty="0" sz="1400" spc="1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reduce</a:t>
            </a:r>
            <a:r>
              <a:rPr dirty="0" sz="1400" spc="1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waste</a:t>
            </a:r>
            <a:r>
              <a:rPr dirty="0" sz="1400" spc="15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and 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prevent</a:t>
            </a: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35">
                <a:solidFill>
                  <a:srgbClr val="403B4E"/>
                </a:solidFill>
                <a:latin typeface="Arial MT"/>
                <a:cs typeface="Arial MT"/>
              </a:rPr>
              <a:t>shortages.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080343" y="2300463"/>
            <a:ext cx="432434" cy="400050"/>
            <a:chOff x="8080343" y="2300463"/>
            <a:chExt cx="432434" cy="400050"/>
          </a:xfrm>
        </p:grpSpPr>
        <p:sp>
          <p:nvSpPr>
            <p:cNvPr id="9" name="object 9"/>
            <p:cNvSpPr/>
            <p:nvPr/>
          </p:nvSpPr>
          <p:spPr>
            <a:xfrm>
              <a:off x="8089763" y="2300463"/>
              <a:ext cx="422909" cy="390525"/>
            </a:xfrm>
            <a:custGeom>
              <a:avLst/>
              <a:gdLst/>
              <a:ahLst/>
              <a:cxnLst/>
              <a:rect l="l" t="t" r="r" b="b"/>
              <a:pathLst>
                <a:path w="422909" h="390525">
                  <a:moveTo>
                    <a:pt x="0" y="0"/>
                  </a:moveTo>
                  <a:lnTo>
                    <a:pt x="24" y="390408"/>
                  </a:lnTo>
                </a:path>
                <a:path w="422909" h="390525">
                  <a:moveTo>
                    <a:pt x="24" y="390408"/>
                  </a:moveTo>
                  <a:lnTo>
                    <a:pt x="422887" y="390400"/>
                  </a:lnTo>
                </a:path>
              </a:pathLst>
            </a:custGeom>
            <a:ln w="19030">
              <a:solidFill>
                <a:srgbClr val="CC2F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0032" y="2333653"/>
              <a:ext cx="373363" cy="28664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767444" y="2232088"/>
            <a:ext cx="2729230" cy="159639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648335">
              <a:lnSpc>
                <a:spcPct val="104800"/>
              </a:lnSpc>
              <a:spcBef>
                <a:spcPts val="20"/>
              </a:spcBef>
            </a:pPr>
            <a:r>
              <a:rPr dirty="0" sz="1850" spc="80" b="1">
                <a:solidFill>
                  <a:srgbClr val="403B4E"/>
                </a:solidFill>
                <a:latin typeface="Cambria"/>
                <a:cs typeface="Cambria"/>
              </a:rPr>
              <a:t>Support</a:t>
            </a:r>
            <a:r>
              <a:rPr dirty="0" sz="1850" spc="3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850" spc="80" b="1">
                <a:solidFill>
                  <a:srgbClr val="403B4E"/>
                </a:solidFill>
                <a:latin typeface="Cambria"/>
                <a:cs typeface="Cambria"/>
              </a:rPr>
              <a:t>Business </a:t>
            </a:r>
            <a:r>
              <a:rPr dirty="0" sz="1850" spc="75" b="1">
                <a:solidFill>
                  <a:srgbClr val="403B4E"/>
                </a:solidFill>
                <a:latin typeface="Cambria"/>
                <a:cs typeface="Cambria"/>
              </a:rPr>
              <a:t>Decisions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8600"/>
              </a:lnSpc>
              <a:spcBef>
                <a:spcPts val="805"/>
              </a:spcBef>
            </a:pPr>
            <a:r>
              <a:rPr dirty="0" sz="1400" spc="45">
                <a:solidFill>
                  <a:srgbClr val="403B4E"/>
                </a:solidFill>
                <a:latin typeface="Arial MT"/>
                <a:cs typeface="Arial MT"/>
              </a:rPr>
              <a:t>Deliver</a:t>
            </a:r>
            <a:r>
              <a:rPr dirty="0" sz="1400" spc="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actionable</a:t>
            </a:r>
            <a:r>
              <a:rPr dirty="0" sz="140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insights</a:t>
            </a:r>
            <a:r>
              <a:rPr dirty="0" sz="1400" spc="-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for </a:t>
            </a:r>
            <a:r>
              <a:rPr dirty="0" sz="1400" spc="45">
                <a:solidFill>
                  <a:srgbClr val="403B4E"/>
                </a:solidFill>
                <a:latin typeface="Arial MT"/>
                <a:cs typeface="Arial MT"/>
              </a:rPr>
              <a:t>pricing,</a:t>
            </a:r>
            <a:r>
              <a:rPr dirty="0" sz="140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80">
                <a:solidFill>
                  <a:srgbClr val="403B4E"/>
                </a:solidFill>
                <a:latin typeface="Arial MT"/>
                <a:cs typeface="Arial MT"/>
              </a:rPr>
              <a:t>promotions,</a:t>
            </a:r>
            <a:r>
              <a:rPr dirty="0" sz="1400" spc="-5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85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40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40">
                <a:solidFill>
                  <a:srgbClr val="403B4E"/>
                </a:solidFill>
                <a:latin typeface="Arial MT"/>
                <a:cs typeface="Arial MT"/>
              </a:rPr>
              <a:t>supply 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chain</a:t>
            </a:r>
            <a:r>
              <a:rPr dirty="0" sz="14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403B4E"/>
                </a:solidFill>
                <a:latin typeface="Arial MT"/>
                <a:cs typeface="Arial MT"/>
              </a:rPr>
              <a:t>strategy.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0109" y="4261599"/>
            <a:ext cx="450819" cy="44958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358519" y="4223956"/>
            <a:ext cx="2567305" cy="13011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70" b="1">
                <a:solidFill>
                  <a:srgbClr val="403B4E"/>
                </a:solidFill>
                <a:latin typeface="Cambria"/>
                <a:cs typeface="Cambria"/>
              </a:rPr>
              <a:t>Apply</a:t>
            </a:r>
            <a:r>
              <a:rPr dirty="0" sz="1850" spc="1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850" spc="235" b="1">
                <a:solidFill>
                  <a:srgbClr val="403B4E"/>
                </a:solidFill>
                <a:latin typeface="Cambria"/>
                <a:cs typeface="Cambria"/>
              </a:rPr>
              <a:t>ML</a:t>
            </a:r>
            <a:r>
              <a:rPr dirty="0" sz="1850" spc="45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850" spc="65" b="1">
                <a:solidFill>
                  <a:srgbClr val="403B4E"/>
                </a:solidFill>
                <a:latin typeface="Cambria"/>
                <a:cs typeface="Cambria"/>
              </a:rPr>
              <a:t>Techniques</a:t>
            </a:r>
            <a:endParaRPr sz="1850">
              <a:latin typeface="Cambria"/>
              <a:cs typeface="Cambria"/>
            </a:endParaRPr>
          </a:p>
          <a:p>
            <a:pPr marL="12700" marR="59690">
              <a:lnSpc>
                <a:spcPct val="138600"/>
              </a:lnSpc>
              <a:spcBef>
                <a:spcPts val="805"/>
              </a:spcBef>
            </a:pP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Leverage</a:t>
            </a:r>
            <a:r>
              <a:rPr dirty="0" sz="1400" spc="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supervised</a:t>
            </a:r>
            <a:r>
              <a:rPr dirty="0" sz="1400" spc="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40">
                <a:solidFill>
                  <a:srgbClr val="403B4E"/>
                </a:solidFill>
                <a:latin typeface="Arial MT"/>
                <a:cs typeface="Arial MT"/>
              </a:rPr>
              <a:t>learning </a:t>
            </a:r>
            <a:r>
              <a:rPr dirty="0" sz="1400" spc="8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4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feature</a:t>
            </a:r>
            <a:r>
              <a:rPr dirty="0" sz="14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engineering</a:t>
            </a:r>
            <a:r>
              <a:rPr dirty="0" sz="1400" spc="-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85">
                <a:solidFill>
                  <a:srgbClr val="403B4E"/>
                </a:solidFill>
                <a:latin typeface="Arial MT"/>
                <a:cs typeface="Arial MT"/>
              </a:rPr>
              <a:t>on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real-</a:t>
            </a:r>
            <a:r>
              <a:rPr dirty="0" sz="1400" spc="85">
                <a:solidFill>
                  <a:srgbClr val="403B4E"/>
                </a:solidFill>
                <a:latin typeface="Arial MT"/>
                <a:cs typeface="Arial MT"/>
              </a:rPr>
              <a:t>world</a:t>
            </a:r>
            <a:r>
              <a:rPr dirty="0" sz="1400" spc="1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retail</a:t>
            </a:r>
            <a:r>
              <a:rPr dirty="0" sz="1400" spc="1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403B4E"/>
                </a:solidFill>
                <a:latin typeface="Arial MT"/>
                <a:cs typeface="Arial MT"/>
              </a:rPr>
              <a:t>data.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88247" y="4270531"/>
            <a:ext cx="425450" cy="431800"/>
          </a:xfrm>
          <a:custGeom>
            <a:avLst/>
            <a:gdLst/>
            <a:ahLst/>
            <a:cxnLst/>
            <a:rect l="l" t="t" r="r" b="b"/>
            <a:pathLst>
              <a:path w="425450" h="431800">
                <a:moveTo>
                  <a:pt x="357805" y="178859"/>
                </a:moveTo>
                <a:lnTo>
                  <a:pt x="351414" y="226407"/>
                </a:lnTo>
                <a:lnTo>
                  <a:pt x="333380" y="269132"/>
                </a:lnTo>
                <a:lnTo>
                  <a:pt x="305406" y="305331"/>
                </a:lnTo>
                <a:lnTo>
                  <a:pt x="269198" y="333299"/>
                </a:lnTo>
                <a:lnTo>
                  <a:pt x="226462" y="351329"/>
                </a:lnTo>
                <a:lnTo>
                  <a:pt x="178903" y="357718"/>
                </a:lnTo>
                <a:lnTo>
                  <a:pt x="131344" y="351329"/>
                </a:lnTo>
                <a:lnTo>
                  <a:pt x="88608" y="333299"/>
                </a:lnTo>
                <a:lnTo>
                  <a:pt x="52400" y="305331"/>
                </a:lnTo>
                <a:lnTo>
                  <a:pt x="24425" y="269132"/>
                </a:lnTo>
                <a:lnTo>
                  <a:pt x="6390" y="226407"/>
                </a:lnTo>
                <a:lnTo>
                  <a:pt x="0" y="178859"/>
                </a:lnTo>
                <a:lnTo>
                  <a:pt x="6390" y="131311"/>
                </a:lnTo>
                <a:lnTo>
                  <a:pt x="24425" y="88585"/>
                </a:lnTo>
                <a:lnTo>
                  <a:pt x="52400" y="52386"/>
                </a:lnTo>
                <a:lnTo>
                  <a:pt x="88608" y="24419"/>
                </a:lnTo>
                <a:lnTo>
                  <a:pt x="131344" y="6389"/>
                </a:lnTo>
                <a:lnTo>
                  <a:pt x="178903" y="0"/>
                </a:lnTo>
                <a:lnTo>
                  <a:pt x="226462" y="6389"/>
                </a:lnTo>
                <a:lnTo>
                  <a:pt x="269198" y="24419"/>
                </a:lnTo>
                <a:lnTo>
                  <a:pt x="305406" y="52386"/>
                </a:lnTo>
                <a:lnTo>
                  <a:pt x="333379" y="88585"/>
                </a:lnTo>
                <a:lnTo>
                  <a:pt x="351414" y="131311"/>
                </a:lnTo>
                <a:lnTo>
                  <a:pt x="357805" y="178859"/>
                </a:lnTo>
                <a:close/>
              </a:path>
              <a:path w="425450" h="431800">
                <a:moveTo>
                  <a:pt x="424995" y="431722"/>
                </a:moveTo>
                <a:lnTo>
                  <a:pt x="302245" y="309422"/>
                </a:lnTo>
              </a:path>
            </a:pathLst>
          </a:custGeom>
          <a:ln w="19065">
            <a:solidFill>
              <a:srgbClr val="CC2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063109" y="4223956"/>
            <a:ext cx="2736850" cy="13011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80" b="1">
                <a:solidFill>
                  <a:srgbClr val="403B4E"/>
                </a:solidFill>
                <a:latin typeface="Cambria"/>
                <a:cs typeface="Cambria"/>
              </a:rPr>
              <a:t>Analyse</a:t>
            </a:r>
            <a:r>
              <a:rPr dirty="0" sz="1850" spc="5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850" spc="55" b="1">
                <a:solidFill>
                  <a:srgbClr val="403B4E"/>
                </a:solidFill>
                <a:latin typeface="Cambria"/>
                <a:cs typeface="Cambria"/>
              </a:rPr>
              <a:t>Retail</a:t>
            </a:r>
            <a:r>
              <a:rPr dirty="0" sz="1850" spc="3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850" spc="55" b="1">
                <a:solidFill>
                  <a:srgbClr val="403B4E"/>
                </a:solidFill>
                <a:latin typeface="Cambria"/>
                <a:cs typeface="Cambria"/>
              </a:rPr>
              <a:t>Data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8600"/>
              </a:lnSpc>
              <a:spcBef>
                <a:spcPts val="805"/>
              </a:spcBef>
            </a:pP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Explore</a:t>
            </a:r>
            <a:r>
              <a:rPr dirty="0" sz="1400" spc="1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400" spc="114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80">
                <a:solidFill>
                  <a:srgbClr val="403B4E"/>
                </a:solidFill>
                <a:latin typeface="Arial MT"/>
                <a:cs typeface="Arial MT"/>
              </a:rPr>
              <a:t>interpret</a:t>
            </a:r>
            <a:r>
              <a:rPr dirty="0" sz="1400" spc="10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Big</a:t>
            </a:r>
            <a:r>
              <a:rPr dirty="0" sz="1400" spc="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Mart's historical</a:t>
            </a:r>
            <a:r>
              <a:rPr dirty="0" sz="140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sales</a:t>
            </a:r>
            <a:r>
              <a:rPr dirty="0" sz="1400" spc="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dataset</a:t>
            </a:r>
            <a:r>
              <a:rPr dirty="0" sz="1400" spc="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85">
                <a:solidFill>
                  <a:srgbClr val="403B4E"/>
                </a:solidFill>
                <a:latin typeface="Arial MT"/>
                <a:cs typeface="Arial MT"/>
              </a:rPr>
              <a:t>to 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extract</a:t>
            </a:r>
            <a:r>
              <a:rPr dirty="0" sz="140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meaningful</a:t>
            </a:r>
            <a:r>
              <a:rPr dirty="0" sz="14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patterns.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7850" y="942973"/>
            <a:ext cx="6534150" cy="5915025"/>
            <a:chOff x="5657850" y="942973"/>
            <a:chExt cx="6534150" cy="5915025"/>
          </a:xfrm>
        </p:grpSpPr>
        <p:pic>
          <p:nvPicPr>
            <p:cNvPr id="3" name="object 3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7850" y="942973"/>
              <a:ext cx="5876925" cy="58674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049000" y="6534149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1143000" y="0"/>
                  </a:moveTo>
                  <a:lnTo>
                    <a:pt x="0" y="0"/>
                  </a:lnTo>
                  <a:lnTo>
                    <a:pt x="0" y="323850"/>
                  </a:lnTo>
                  <a:lnTo>
                    <a:pt x="1143000" y="32385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65"/>
              <a:t>Dataset</a:t>
            </a:r>
            <a:r>
              <a:rPr dirty="0" sz="1850" spc="40"/>
              <a:t> </a:t>
            </a:r>
            <a:r>
              <a:rPr dirty="0" sz="1850" spc="65"/>
              <a:t>Description</a:t>
            </a:r>
            <a:endParaRPr sz="1850"/>
          </a:p>
        </p:txBody>
      </p:sp>
      <p:grpSp>
        <p:nvGrpSpPr>
          <p:cNvPr id="6" name="object 6"/>
          <p:cNvGrpSpPr/>
          <p:nvPr/>
        </p:nvGrpSpPr>
        <p:grpSpPr>
          <a:xfrm>
            <a:off x="657225" y="3962400"/>
            <a:ext cx="4772025" cy="257175"/>
            <a:chOff x="657225" y="3962400"/>
            <a:chExt cx="4772025" cy="257175"/>
          </a:xfrm>
        </p:grpSpPr>
        <p:sp>
          <p:nvSpPr>
            <p:cNvPr id="7" name="object 7"/>
            <p:cNvSpPr/>
            <p:nvPr/>
          </p:nvSpPr>
          <p:spPr>
            <a:xfrm>
              <a:off x="657225" y="3962400"/>
              <a:ext cx="4772025" cy="257175"/>
            </a:xfrm>
            <a:custGeom>
              <a:avLst/>
              <a:gdLst/>
              <a:ahLst/>
              <a:cxnLst/>
              <a:rect l="l" t="t" r="r" b="b"/>
              <a:pathLst>
                <a:path w="4772025" h="257175">
                  <a:moveTo>
                    <a:pt x="4732020" y="0"/>
                  </a:moveTo>
                  <a:lnTo>
                    <a:pt x="40017" y="0"/>
                  </a:lnTo>
                  <a:lnTo>
                    <a:pt x="24442" y="3143"/>
                  </a:lnTo>
                  <a:lnTo>
                    <a:pt x="11722" y="11715"/>
                  </a:lnTo>
                  <a:lnTo>
                    <a:pt x="3145" y="24431"/>
                  </a:lnTo>
                  <a:lnTo>
                    <a:pt x="0" y="40005"/>
                  </a:lnTo>
                  <a:lnTo>
                    <a:pt x="0" y="217169"/>
                  </a:lnTo>
                  <a:lnTo>
                    <a:pt x="3145" y="232743"/>
                  </a:lnTo>
                  <a:lnTo>
                    <a:pt x="11722" y="245459"/>
                  </a:lnTo>
                  <a:lnTo>
                    <a:pt x="24442" y="254031"/>
                  </a:lnTo>
                  <a:lnTo>
                    <a:pt x="40017" y="257175"/>
                  </a:lnTo>
                  <a:lnTo>
                    <a:pt x="4732020" y="257175"/>
                  </a:lnTo>
                  <a:lnTo>
                    <a:pt x="4747593" y="254031"/>
                  </a:lnTo>
                  <a:lnTo>
                    <a:pt x="4760309" y="245459"/>
                  </a:lnTo>
                  <a:lnTo>
                    <a:pt x="4768881" y="232743"/>
                  </a:lnTo>
                  <a:lnTo>
                    <a:pt x="4772025" y="217169"/>
                  </a:lnTo>
                  <a:lnTo>
                    <a:pt x="4772025" y="40005"/>
                  </a:lnTo>
                  <a:lnTo>
                    <a:pt x="4768881" y="24431"/>
                  </a:lnTo>
                  <a:lnTo>
                    <a:pt x="4760309" y="11715"/>
                  </a:lnTo>
                  <a:lnTo>
                    <a:pt x="4747593" y="3143"/>
                  </a:lnTo>
                  <a:lnTo>
                    <a:pt x="4732020" y="0"/>
                  </a:lnTo>
                  <a:close/>
                </a:path>
              </a:pathLst>
            </a:custGeom>
            <a:solidFill>
              <a:srgbClr val="FFD7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2475" y="4086226"/>
              <a:ext cx="123825" cy="9524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49287" y="3517328"/>
            <a:ext cx="4764405" cy="6311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r>
              <a:rPr dirty="0" sz="650" spc="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403B4E"/>
                </a:solidFill>
                <a:latin typeface="Arial MT"/>
                <a:cs typeface="Arial MT"/>
              </a:rPr>
              <a:t>Big</a:t>
            </a:r>
            <a:r>
              <a:rPr dirty="0" sz="650" spc="1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650" spc="50">
                <a:solidFill>
                  <a:srgbClr val="403B4E"/>
                </a:solidFill>
                <a:latin typeface="Arial MT"/>
                <a:cs typeface="Arial MT"/>
              </a:rPr>
              <a:t>Mart</a:t>
            </a:r>
            <a:r>
              <a:rPr dirty="0" sz="650" spc="9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403B4E"/>
                </a:solidFill>
                <a:latin typeface="Arial MT"/>
                <a:cs typeface="Arial MT"/>
              </a:rPr>
              <a:t>dataset</a:t>
            </a:r>
            <a:r>
              <a:rPr dirty="0" sz="650" spc="9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403B4E"/>
                </a:solidFill>
                <a:latin typeface="Arial MT"/>
                <a:cs typeface="Arial MT"/>
              </a:rPr>
              <a:t>comprises</a:t>
            </a:r>
            <a:r>
              <a:rPr dirty="0" sz="650" spc="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650" spc="-40">
                <a:solidFill>
                  <a:srgbClr val="403B4E"/>
                </a:solidFill>
                <a:latin typeface="Arial Black"/>
                <a:cs typeface="Arial Black"/>
              </a:rPr>
              <a:t>8,523</a:t>
            </a:r>
            <a:r>
              <a:rPr dirty="0" sz="650" spc="65">
                <a:solidFill>
                  <a:srgbClr val="403B4E"/>
                </a:solidFill>
                <a:latin typeface="Arial Black"/>
                <a:cs typeface="Arial Black"/>
              </a:rPr>
              <a:t> </a:t>
            </a:r>
            <a:r>
              <a:rPr dirty="0" sz="650" spc="-10">
                <a:solidFill>
                  <a:srgbClr val="403B4E"/>
                </a:solidFill>
                <a:latin typeface="Arial Black"/>
                <a:cs typeface="Arial Black"/>
              </a:rPr>
              <a:t>product</a:t>
            </a:r>
            <a:r>
              <a:rPr dirty="0" sz="650" spc="85">
                <a:solidFill>
                  <a:srgbClr val="403B4E"/>
                </a:solidFill>
                <a:latin typeface="Arial Black"/>
                <a:cs typeface="Arial Black"/>
              </a:rPr>
              <a:t> </a:t>
            </a:r>
            <a:r>
              <a:rPr dirty="0" sz="650" spc="-25">
                <a:solidFill>
                  <a:srgbClr val="403B4E"/>
                </a:solidFill>
                <a:latin typeface="Arial Black"/>
                <a:cs typeface="Arial Black"/>
              </a:rPr>
              <a:t>records</a:t>
            </a:r>
            <a:r>
              <a:rPr dirty="0" sz="650" spc="65">
                <a:solidFill>
                  <a:srgbClr val="403B4E"/>
                </a:solidFill>
                <a:latin typeface="Arial Black"/>
                <a:cs typeface="Arial Black"/>
              </a:rPr>
              <a:t> </a:t>
            </a:r>
            <a:r>
              <a:rPr dirty="0" sz="650">
                <a:solidFill>
                  <a:srgbClr val="403B4E"/>
                </a:solidFill>
                <a:latin typeface="Arial MT"/>
                <a:cs typeface="Arial MT"/>
              </a:rPr>
              <a:t>across</a:t>
            </a:r>
            <a:r>
              <a:rPr dirty="0" sz="65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650" spc="-40">
                <a:solidFill>
                  <a:srgbClr val="403B4E"/>
                </a:solidFill>
                <a:latin typeface="Arial Black"/>
                <a:cs typeface="Arial Black"/>
              </a:rPr>
              <a:t>1,559</a:t>
            </a:r>
            <a:r>
              <a:rPr dirty="0" sz="650" spc="65">
                <a:solidFill>
                  <a:srgbClr val="403B4E"/>
                </a:solidFill>
                <a:latin typeface="Arial Black"/>
                <a:cs typeface="Arial Black"/>
              </a:rPr>
              <a:t> </a:t>
            </a:r>
            <a:r>
              <a:rPr dirty="0" sz="650" spc="-20">
                <a:solidFill>
                  <a:srgbClr val="403B4E"/>
                </a:solidFill>
                <a:latin typeface="Arial Black"/>
                <a:cs typeface="Arial Black"/>
              </a:rPr>
              <a:t>products</a:t>
            </a:r>
            <a:r>
              <a:rPr dirty="0" sz="650" spc="75">
                <a:solidFill>
                  <a:srgbClr val="403B4E"/>
                </a:solidFill>
                <a:latin typeface="Arial Black"/>
                <a:cs typeface="Arial Black"/>
              </a:rPr>
              <a:t> </a:t>
            </a:r>
            <a:r>
              <a:rPr dirty="0" sz="65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650" spc="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650" spc="-65">
                <a:solidFill>
                  <a:srgbClr val="403B4E"/>
                </a:solidFill>
                <a:latin typeface="Arial Black"/>
                <a:cs typeface="Arial Black"/>
              </a:rPr>
              <a:t>10</a:t>
            </a:r>
            <a:r>
              <a:rPr dirty="0" sz="650" spc="65">
                <a:solidFill>
                  <a:srgbClr val="403B4E"/>
                </a:solidFill>
                <a:latin typeface="Arial Black"/>
                <a:cs typeface="Arial Black"/>
              </a:rPr>
              <a:t> </a:t>
            </a:r>
            <a:r>
              <a:rPr dirty="0" sz="650">
                <a:solidFill>
                  <a:srgbClr val="403B4E"/>
                </a:solidFill>
                <a:latin typeface="Arial Black"/>
                <a:cs typeface="Arial Black"/>
              </a:rPr>
              <a:t>retail</a:t>
            </a:r>
            <a:r>
              <a:rPr dirty="0" sz="650" spc="100">
                <a:solidFill>
                  <a:srgbClr val="403B4E"/>
                </a:solidFill>
                <a:latin typeface="Arial Black"/>
                <a:cs typeface="Arial Black"/>
              </a:rPr>
              <a:t> </a:t>
            </a:r>
            <a:r>
              <a:rPr dirty="0" sz="650" spc="-10">
                <a:solidFill>
                  <a:srgbClr val="403B4E"/>
                </a:solidFill>
                <a:latin typeface="Arial Black"/>
                <a:cs typeface="Arial Black"/>
              </a:rPr>
              <a:t>outlets</a:t>
            </a:r>
            <a:r>
              <a:rPr dirty="0" sz="650" spc="-10">
                <a:solidFill>
                  <a:srgbClr val="403B4E"/>
                </a:solidFill>
                <a:latin typeface="Arial MT"/>
                <a:cs typeface="Arial MT"/>
              </a:rPr>
              <a:t>.</a:t>
            </a:r>
            <a:r>
              <a:rPr dirty="0" sz="65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650" spc="55">
                <a:solidFill>
                  <a:srgbClr val="403B4E"/>
                </a:solidFill>
                <a:latin typeface="Arial MT"/>
                <a:cs typeface="Arial MT"/>
              </a:rPr>
              <a:t>It</a:t>
            </a:r>
            <a:r>
              <a:rPr dirty="0" sz="650" spc="9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403B4E"/>
                </a:solidFill>
                <a:latin typeface="Arial MT"/>
                <a:cs typeface="Arial MT"/>
              </a:rPr>
              <a:t>is</a:t>
            </a:r>
            <a:r>
              <a:rPr dirty="0" sz="650" spc="8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403B4E"/>
                </a:solidFill>
                <a:latin typeface="Arial MT"/>
                <a:cs typeface="Arial MT"/>
              </a:rPr>
              <a:t>split</a:t>
            </a:r>
            <a:r>
              <a:rPr dirty="0" sz="650" spc="9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403B4E"/>
                </a:solidFill>
                <a:latin typeface="Arial MT"/>
                <a:cs typeface="Arial MT"/>
              </a:rPr>
              <a:t>into</a:t>
            </a:r>
            <a:endParaRPr sz="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650" spc="65">
                <a:solidFill>
                  <a:srgbClr val="403B4E"/>
                </a:solidFill>
                <a:latin typeface="Arial MT"/>
                <a:cs typeface="Arial MT"/>
              </a:rPr>
              <a:t>two</a:t>
            </a:r>
            <a:r>
              <a:rPr dirty="0" sz="65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650" spc="20">
                <a:solidFill>
                  <a:srgbClr val="403B4E"/>
                </a:solidFill>
                <a:latin typeface="Arial MT"/>
                <a:cs typeface="Arial MT"/>
              </a:rPr>
              <a:t>files</a:t>
            </a:r>
            <a:r>
              <a:rPr dirty="0" sz="65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650" spc="60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dirty="0" sz="65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650" spc="50">
                <a:solidFill>
                  <a:srgbClr val="403B4E"/>
                </a:solidFill>
                <a:latin typeface="Arial MT"/>
                <a:cs typeface="Arial MT"/>
              </a:rPr>
              <a:t>model</a:t>
            </a:r>
            <a:r>
              <a:rPr dirty="0" sz="650" spc="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650" spc="20">
                <a:solidFill>
                  <a:srgbClr val="403B4E"/>
                </a:solidFill>
                <a:latin typeface="Arial MT"/>
                <a:cs typeface="Arial MT"/>
              </a:rPr>
              <a:t>training</a:t>
            </a:r>
            <a:r>
              <a:rPr dirty="0" sz="650" spc="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650" spc="2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65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403B4E"/>
                </a:solidFill>
                <a:latin typeface="Arial MT"/>
                <a:cs typeface="Arial MT"/>
              </a:rPr>
              <a:t>evaluation.</a:t>
            </a:r>
            <a:endParaRPr sz="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650" spc="-20">
                <a:solidFill>
                  <a:srgbClr val="403B4E"/>
                </a:solidFill>
                <a:latin typeface="Arial Black"/>
                <a:cs typeface="Arial Black"/>
              </a:rPr>
              <a:t>Target</a:t>
            </a:r>
            <a:r>
              <a:rPr dirty="0" sz="650" spc="-15">
                <a:solidFill>
                  <a:srgbClr val="403B4E"/>
                </a:solidFill>
                <a:latin typeface="Arial Black"/>
                <a:cs typeface="Arial Black"/>
              </a:rPr>
              <a:t> </a:t>
            </a:r>
            <a:r>
              <a:rPr dirty="0" sz="650" spc="-10">
                <a:solidFill>
                  <a:srgbClr val="403B4E"/>
                </a:solidFill>
                <a:latin typeface="Arial Black"/>
                <a:cs typeface="Arial Black"/>
              </a:rPr>
              <a:t>Variable:</a:t>
            </a:r>
            <a:endParaRPr sz="65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650">
              <a:latin typeface="Arial Black"/>
              <a:cs typeface="Arial Black"/>
            </a:endParaRPr>
          </a:p>
          <a:p>
            <a:pPr marL="320040">
              <a:lnSpc>
                <a:spcPct val="100000"/>
              </a:lnSpc>
            </a:pPr>
            <a:r>
              <a:rPr dirty="0" sz="650">
                <a:latin typeface="Arial MT"/>
                <a:cs typeface="Arial MT"/>
              </a:rPr>
              <a:t>Item_Outlet_Sales</a:t>
            </a:r>
            <a:r>
              <a:rPr dirty="0" sz="650" spc="19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—</a:t>
            </a:r>
            <a:r>
              <a:rPr dirty="0" sz="650" spc="17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the</a:t>
            </a:r>
            <a:r>
              <a:rPr dirty="0" sz="650" spc="19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continuous</a:t>
            </a:r>
            <a:r>
              <a:rPr dirty="0" sz="650" spc="16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value</a:t>
            </a:r>
            <a:r>
              <a:rPr dirty="0" sz="650" spc="70">
                <a:latin typeface="Arial MT"/>
                <a:cs typeface="Arial MT"/>
              </a:rPr>
              <a:t> </a:t>
            </a:r>
            <a:r>
              <a:rPr dirty="0" sz="650" spc="75">
                <a:latin typeface="Arial MT"/>
                <a:cs typeface="Arial MT"/>
              </a:rPr>
              <a:t>our</a:t>
            </a:r>
            <a:r>
              <a:rPr dirty="0" sz="650" spc="105">
                <a:latin typeface="Arial MT"/>
                <a:cs typeface="Arial MT"/>
              </a:rPr>
              <a:t> </a:t>
            </a:r>
            <a:r>
              <a:rPr dirty="0" sz="650" spc="50">
                <a:latin typeface="Arial MT"/>
                <a:cs typeface="Arial MT"/>
              </a:rPr>
              <a:t>model</a:t>
            </a:r>
            <a:r>
              <a:rPr dirty="0" sz="650" spc="16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le</a:t>
            </a:r>
            <a:r>
              <a:rPr dirty="0" sz="650" spc="-6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arns</a:t>
            </a:r>
            <a:r>
              <a:rPr dirty="0" sz="650" spc="160">
                <a:latin typeface="Arial MT"/>
                <a:cs typeface="Arial MT"/>
              </a:rPr>
              <a:t> </a:t>
            </a:r>
            <a:r>
              <a:rPr dirty="0" sz="650" spc="80">
                <a:latin typeface="Arial MT"/>
                <a:cs typeface="Arial MT"/>
              </a:rPr>
              <a:t>to</a:t>
            </a:r>
            <a:r>
              <a:rPr dirty="0" sz="650" spc="145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predict.</a:t>
            </a:r>
            <a:endParaRPr sz="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49000" y="653415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1143000" y="0"/>
                </a:moveTo>
                <a:lnTo>
                  <a:pt x="0" y="0"/>
                </a:lnTo>
                <a:lnTo>
                  <a:pt x="0" y="323850"/>
                </a:lnTo>
                <a:lnTo>
                  <a:pt x="1143000" y="323850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9287" y="640968"/>
            <a:ext cx="3135630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 spc="150"/>
              <a:t>Technology</a:t>
            </a:r>
            <a:r>
              <a:rPr dirty="0" sz="2750" spc="85"/>
              <a:t> </a:t>
            </a:r>
            <a:r>
              <a:rPr dirty="0" sz="2750" spc="114"/>
              <a:t>Stack</a:t>
            </a:r>
            <a:endParaRPr sz="2750"/>
          </a:p>
        </p:txBody>
      </p:sp>
      <p:sp>
        <p:nvSpPr>
          <p:cNvPr id="4" name="object 4"/>
          <p:cNvSpPr txBox="1"/>
          <p:nvPr/>
        </p:nvSpPr>
        <p:spPr>
          <a:xfrm>
            <a:off x="649287" y="1326197"/>
            <a:ext cx="865949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A</a:t>
            </a:r>
            <a:r>
              <a:rPr dirty="0" sz="1100" spc="5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403B4E"/>
                </a:solidFill>
                <a:latin typeface="Arial MT"/>
                <a:cs typeface="Arial MT"/>
              </a:rPr>
              <a:t>robust</a:t>
            </a:r>
            <a:r>
              <a:rPr dirty="0" sz="110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Python-centric</a:t>
            </a:r>
            <a:r>
              <a:rPr dirty="0" sz="1100" spc="9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ecosystem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powering</a:t>
            </a:r>
            <a:r>
              <a:rPr dirty="0" sz="1100" spc="8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r>
              <a:rPr dirty="0" sz="1100" spc="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end-to-end</a:t>
            </a:r>
            <a:r>
              <a:rPr dirty="0" sz="1100" spc="8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machine</a:t>
            </a:r>
            <a:r>
              <a:rPr dirty="0" sz="1100" spc="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learning</a:t>
            </a:r>
            <a:r>
              <a:rPr dirty="0" sz="1100" spc="8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pipeline</a:t>
            </a:r>
            <a:r>
              <a:rPr dirty="0" sz="1100" spc="10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—</a:t>
            </a:r>
            <a:r>
              <a:rPr dirty="0" sz="110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80">
                <a:solidFill>
                  <a:srgbClr val="403B4E"/>
                </a:solidFill>
                <a:latin typeface="Arial MT"/>
                <a:cs typeface="Arial MT"/>
              </a:rPr>
              <a:t>from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 data</a:t>
            </a:r>
            <a:r>
              <a:rPr dirty="0" sz="110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wrangling</a:t>
            </a:r>
            <a:r>
              <a:rPr dirty="0" sz="1100" spc="-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5">
                <a:solidFill>
                  <a:srgbClr val="403B4E"/>
                </a:solidFill>
                <a:latin typeface="Arial MT"/>
                <a:cs typeface="Arial MT"/>
              </a:rPr>
              <a:t>to</a:t>
            </a:r>
            <a:r>
              <a:rPr dirty="0" sz="1100" spc="-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403B4E"/>
                </a:solidFill>
                <a:latin typeface="Arial MT"/>
                <a:cs typeface="Arial MT"/>
              </a:rPr>
              <a:t>model</a:t>
            </a:r>
            <a:r>
              <a:rPr dirty="0" sz="110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03B4E"/>
                </a:solidFill>
                <a:latin typeface="Arial MT"/>
                <a:cs typeface="Arial MT"/>
              </a:rPr>
              <a:t>deployment.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3445" y="1682862"/>
            <a:ext cx="310515" cy="302260"/>
          </a:xfrm>
          <a:custGeom>
            <a:avLst/>
            <a:gdLst/>
            <a:ahLst/>
            <a:cxnLst/>
            <a:rect l="l" t="t" r="r" b="b"/>
            <a:pathLst>
              <a:path w="310515" h="302260">
                <a:moveTo>
                  <a:pt x="267288" y="77002"/>
                </a:moveTo>
                <a:lnTo>
                  <a:pt x="239543" y="77002"/>
                </a:lnTo>
                <a:lnTo>
                  <a:pt x="239527" y="109009"/>
                </a:lnTo>
                <a:lnTo>
                  <a:pt x="235786" y="126536"/>
                </a:lnTo>
                <a:lnTo>
                  <a:pt x="225674" y="141077"/>
                </a:lnTo>
                <a:lnTo>
                  <a:pt x="210944" y="150969"/>
                </a:lnTo>
                <a:lnTo>
                  <a:pt x="193333" y="154619"/>
                </a:lnTo>
                <a:lnTo>
                  <a:pt x="119445" y="154619"/>
                </a:lnTo>
                <a:lnTo>
                  <a:pt x="105150" y="157559"/>
                </a:lnTo>
                <a:lnTo>
                  <a:pt x="93396" y="165506"/>
                </a:lnTo>
                <a:lnTo>
                  <a:pt x="85430" y="177155"/>
                </a:lnTo>
                <a:lnTo>
                  <a:pt x="82497" y="191202"/>
                </a:lnTo>
                <a:lnTo>
                  <a:pt x="82497" y="259781"/>
                </a:lnTo>
                <a:lnTo>
                  <a:pt x="105443" y="291036"/>
                </a:lnTo>
                <a:lnTo>
                  <a:pt x="154649" y="301820"/>
                </a:lnTo>
                <a:lnTo>
                  <a:pt x="173254" y="300627"/>
                </a:lnTo>
                <a:lnTo>
                  <a:pt x="193333" y="296363"/>
                </a:lnTo>
                <a:lnTo>
                  <a:pt x="206956" y="291348"/>
                </a:lnTo>
                <a:lnTo>
                  <a:pt x="218781" y="283883"/>
                </a:lnTo>
                <a:lnTo>
                  <a:pt x="223479" y="278038"/>
                </a:lnTo>
                <a:lnTo>
                  <a:pt x="190353" y="278038"/>
                </a:lnTo>
                <a:lnTo>
                  <a:pt x="184130" y="271908"/>
                </a:lnTo>
                <a:lnTo>
                  <a:pt x="184129" y="256749"/>
                </a:lnTo>
                <a:lnTo>
                  <a:pt x="190353" y="250618"/>
                </a:lnTo>
                <a:lnTo>
                  <a:pt x="230272" y="250618"/>
                </a:lnTo>
                <a:lnTo>
                  <a:pt x="230272" y="232360"/>
                </a:lnTo>
                <a:lnTo>
                  <a:pt x="156461" y="232360"/>
                </a:lnTo>
                <a:lnTo>
                  <a:pt x="156461" y="223200"/>
                </a:lnTo>
                <a:lnTo>
                  <a:pt x="267288" y="223200"/>
                </a:lnTo>
                <a:lnTo>
                  <a:pt x="281086" y="220574"/>
                </a:lnTo>
                <a:lnTo>
                  <a:pt x="304228" y="186684"/>
                </a:lnTo>
                <a:lnTo>
                  <a:pt x="309911" y="152479"/>
                </a:lnTo>
                <a:lnTo>
                  <a:pt x="308510" y="134829"/>
                </a:lnTo>
                <a:lnTo>
                  <a:pt x="291828" y="87454"/>
                </a:lnTo>
                <a:lnTo>
                  <a:pt x="281387" y="79780"/>
                </a:lnTo>
                <a:lnTo>
                  <a:pt x="267288" y="77002"/>
                </a:lnTo>
                <a:close/>
              </a:path>
              <a:path w="310515" h="302260">
                <a:moveTo>
                  <a:pt x="230272" y="250618"/>
                </a:moveTo>
                <a:lnTo>
                  <a:pt x="205643" y="250618"/>
                </a:lnTo>
                <a:lnTo>
                  <a:pt x="211875" y="256749"/>
                </a:lnTo>
                <a:lnTo>
                  <a:pt x="211875" y="271908"/>
                </a:lnTo>
                <a:lnTo>
                  <a:pt x="205643" y="278038"/>
                </a:lnTo>
                <a:lnTo>
                  <a:pt x="223479" y="278038"/>
                </a:lnTo>
                <a:lnTo>
                  <a:pt x="227118" y="273512"/>
                </a:lnTo>
                <a:lnTo>
                  <a:pt x="230272" y="259781"/>
                </a:lnTo>
                <a:lnTo>
                  <a:pt x="230272" y="250618"/>
                </a:lnTo>
                <a:close/>
              </a:path>
              <a:path w="310515" h="302260">
                <a:moveTo>
                  <a:pt x="152036" y="0"/>
                </a:moveTo>
                <a:lnTo>
                  <a:pt x="97091" y="8163"/>
                </a:lnTo>
                <a:lnTo>
                  <a:pt x="79111" y="40420"/>
                </a:lnTo>
                <a:lnTo>
                  <a:pt x="79111" y="67842"/>
                </a:lnTo>
                <a:lnTo>
                  <a:pt x="153066" y="67842"/>
                </a:lnTo>
                <a:lnTo>
                  <a:pt x="153066" y="77002"/>
                </a:lnTo>
                <a:lnTo>
                  <a:pt x="51370" y="77002"/>
                </a:lnTo>
                <a:lnTo>
                  <a:pt x="35899" y="79345"/>
                </a:lnTo>
                <a:lnTo>
                  <a:pt x="5156" y="113519"/>
                </a:lnTo>
                <a:lnTo>
                  <a:pt x="0" y="149236"/>
                </a:lnTo>
                <a:lnTo>
                  <a:pt x="63" y="150969"/>
                </a:lnTo>
                <a:lnTo>
                  <a:pt x="10489" y="201370"/>
                </a:lnTo>
                <a:lnTo>
                  <a:pt x="30102" y="220574"/>
                </a:lnTo>
                <a:lnTo>
                  <a:pt x="30432" y="220574"/>
                </a:lnTo>
                <a:lnTo>
                  <a:pt x="44451" y="223200"/>
                </a:lnTo>
                <a:lnTo>
                  <a:pt x="69840" y="223200"/>
                </a:lnTo>
                <a:lnTo>
                  <a:pt x="69840" y="190320"/>
                </a:lnTo>
                <a:lnTo>
                  <a:pt x="73529" y="173299"/>
                </a:lnTo>
                <a:lnTo>
                  <a:pt x="83529" y="159039"/>
                </a:lnTo>
                <a:lnTo>
                  <a:pt x="98239" y="149236"/>
                </a:lnTo>
                <a:lnTo>
                  <a:pt x="116059" y="145591"/>
                </a:lnTo>
                <a:lnTo>
                  <a:pt x="189938" y="145591"/>
                </a:lnTo>
                <a:lnTo>
                  <a:pt x="204380" y="142699"/>
                </a:lnTo>
                <a:lnTo>
                  <a:pt x="216117" y="134829"/>
                </a:lnTo>
                <a:lnTo>
                  <a:pt x="224002" y="123195"/>
                </a:lnTo>
                <a:lnTo>
                  <a:pt x="226886" y="109009"/>
                </a:lnTo>
                <a:lnTo>
                  <a:pt x="226886" y="49514"/>
                </a:lnTo>
                <a:lnTo>
                  <a:pt x="103740" y="49514"/>
                </a:lnTo>
                <a:lnTo>
                  <a:pt x="97517" y="43388"/>
                </a:lnTo>
                <a:lnTo>
                  <a:pt x="97584" y="28300"/>
                </a:lnTo>
                <a:lnTo>
                  <a:pt x="99093" y="26725"/>
                </a:lnTo>
                <a:lnTo>
                  <a:pt x="103740" y="22100"/>
                </a:lnTo>
                <a:lnTo>
                  <a:pt x="220628" y="22100"/>
                </a:lnTo>
                <a:lnTo>
                  <a:pt x="215936" y="15538"/>
                </a:lnTo>
                <a:lnTo>
                  <a:pt x="204176" y="7395"/>
                </a:lnTo>
                <a:lnTo>
                  <a:pt x="190147" y="2964"/>
                </a:lnTo>
                <a:lnTo>
                  <a:pt x="190502" y="2964"/>
                </a:lnTo>
                <a:lnTo>
                  <a:pt x="171773" y="773"/>
                </a:lnTo>
                <a:lnTo>
                  <a:pt x="173337" y="773"/>
                </a:lnTo>
                <a:lnTo>
                  <a:pt x="152036" y="0"/>
                </a:lnTo>
                <a:close/>
              </a:path>
              <a:path w="310515" h="302260">
                <a:moveTo>
                  <a:pt x="220628" y="22100"/>
                </a:moveTo>
                <a:lnTo>
                  <a:pt x="119030" y="22100"/>
                </a:lnTo>
                <a:lnTo>
                  <a:pt x="125321" y="28300"/>
                </a:lnTo>
                <a:lnTo>
                  <a:pt x="125321" y="43388"/>
                </a:lnTo>
                <a:lnTo>
                  <a:pt x="119098" y="49514"/>
                </a:lnTo>
                <a:lnTo>
                  <a:pt x="226886" y="49514"/>
                </a:lnTo>
                <a:lnTo>
                  <a:pt x="226886" y="40420"/>
                </a:lnTo>
                <a:lnTo>
                  <a:pt x="223934" y="26725"/>
                </a:lnTo>
                <a:lnTo>
                  <a:pt x="220628" y="22100"/>
                </a:lnTo>
                <a:close/>
              </a:path>
            </a:pathLst>
          </a:custGeom>
          <a:solidFill>
            <a:srgbClr val="CC2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49287" y="2016634"/>
            <a:ext cx="3660140" cy="59880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350" spc="65" b="1">
                <a:solidFill>
                  <a:srgbClr val="403B4E"/>
                </a:solidFill>
                <a:latin typeface="Cambria"/>
                <a:cs typeface="Cambria"/>
              </a:rPr>
              <a:t>Python</a:t>
            </a:r>
            <a:endParaRPr sz="1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Core</a:t>
            </a:r>
            <a:r>
              <a:rPr dirty="0" sz="1100" spc="10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programming</a:t>
            </a:r>
            <a:r>
              <a:rPr dirty="0" sz="1100" spc="1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language</a:t>
            </a:r>
            <a:r>
              <a:rPr dirty="0" sz="1100" spc="10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dirty="0" sz="1100" spc="1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r>
              <a:rPr dirty="0" sz="1100" spc="1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entire</a:t>
            </a:r>
            <a:r>
              <a:rPr dirty="0" sz="1100" spc="10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ML</a:t>
            </a:r>
            <a:r>
              <a:rPr dirty="0" sz="1100" spc="1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35">
                <a:solidFill>
                  <a:srgbClr val="403B4E"/>
                </a:solidFill>
                <a:latin typeface="Arial MT"/>
                <a:cs typeface="Arial MT"/>
              </a:rPr>
              <a:t>workflow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80033" y="1691877"/>
            <a:ext cx="318135" cy="283845"/>
          </a:xfrm>
          <a:custGeom>
            <a:avLst/>
            <a:gdLst/>
            <a:ahLst/>
            <a:cxnLst/>
            <a:rect l="l" t="t" r="r" b="b"/>
            <a:pathLst>
              <a:path w="318135" h="283844">
                <a:moveTo>
                  <a:pt x="279313" y="283790"/>
                </a:moveTo>
                <a:lnTo>
                  <a:pt x="312973" y="265505"/>
                </a:lnTo>
                <a:lnTo>
                  <a:pt x="318010" y="242540"/>
                </a:lnTo>
                <a:lnTo>
                  <a:pt x="318043" y="231870"/>
                </a:lnTo>
              </a:path>
              <a:path w="318135" h="283844">
                <a:moveTo>
                  <a:pt x="318034" y="39822"/>
                </a:moveTo>
                <a:lnTo>
                  <a:pt x="296691" y="3207"/>
                </a:lnTo>
                <a:lnTo>
                  <a:pt x="278332" y="16"/>
                </a:lnTo>
                <a:lnTo>
                  <a:pt x="267672" y="0"/>
                </a:lnTo>
              </a:path>
              <a:path w="318135" h="283844">
                <a:moveTo>
                  <a:pt x="33464" y="148"/>
                </a:moveTo>
                <a:lnTo>
                  <a:pt x="1938" y="24511"/>
                </a:lnTo>
                <a:lnTo>
                  <a:pt x="11" y="38008"/>
                </a:lnTo>
                <a:lnTo>
                  <a:pt x="0" y="45256"/>
                </a:lnTo>
              </a:path>
              <a:path w="318135" h="283844">
                <a:moveTo>
                  <a:pt x="10" y="247006"/>
                </a:moveTo>
                <a:lnTo>
                  <a:pt x="21627" y="280805"/>
                </a:lnTo>
                <a:lnTo>
                  <a:pt x="39176" y="283777"/>
                </a:lnTo>
                <a:lnTo>
                  <a:pt x="48874" y="283783"/>
                </a:lnTo>
              </a:path>
              <a:path w="318135" h="283844">
                <a:moveTo>
                  <a:pt x="318043" y="182425"/>
                </a:moveTo>
                <a:lnTo>
                  <a:pt x="13" y="182277"/>
                </a:lnTo>
              </a:path>
              <a:path w="318135" h="283844">
                <a:moveTo>
                  <a:pt x="165243" y="283778"/>
                </a:moveTo>
                <a:lnTo>
                  <a:pt x="279313" y="283790"/>
                </a:lnTo>
              </a:path>
              <a:path w="318135" h="283844">
                <a:moveTo>
                  <a:pt x="159612" y="283777"/>
                </a:moveTo>
                <a:lnTo>
                  <a:pt x="159406" y="71334"/>
                </a:lnTo>
              </a:path>
              <a:path w="318135" h="283844">
                <a:moveTo>
                  <a:pt x="318067" y="71351"/>
                </a:moveTo>
                <a:lnTo>
                  <a:pt x="0" y="71351"/>
                </a:lnTo>
              </a:path>
              <a:path w="318135" h="283844">
                <a:moveTo>
                  <a:pt x="318043" y="231870"/>
                </a:moveTo>
                <a:lnTo>
                  <a:pt x="318034" y="39822"/>
                </a:lnTo>
              </a:path>
              <a:path w="318135" h="283844">
                <a:moveTo>
                  <a:pt x="267672" y="0"/>
                </a:moveTo>
                <a:lnTo>
                  <a:pt x="33464" y="148"/>
                </a:lnTo>
              </a:path>
              <a:path w="318135" h="283844">
                <a:moveTo>
                  <a:pt x="0" y="45256"/>
                </a:moveTo>
                <a:lnTo>
                  <a:pt x="10" y="247006"/>
                </a:lnTo>
              </a:path>
              <a:path w="318135" h="283844">
                <a:moveTo>
                  <a:pt x="48874" y="283783"/>
                </a:moveTo>
                <a:lnTo>
                  <a:pt x="165243" y="283778"/>
                </a:lnTo>
              </a:path>
            </a:pathLst>
          </a:custGeom>
          <a:ln w="14089">
            <a:solidFill>
              <a:srgbClr val="CC2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154420" y="2016634"/>
            <a:ext cx="2789555" cy="59880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350" spc="45" b="1">
                <a:solidFill>
                  <a:srgbClr val="403B4E"/>
                </a:solidFill>
                <a:latin typeface="Cambria"/>
                <a:cs typeface="Cambria"/>
              </a:rPr>
              <a:t>Pandas</a:t>
            </a:r>
            <a:endParaRPr sz="1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100" spc="30">
                <a:solidFill>
                  <a:srgbClr val="403B4E"/>
                </a:solidFill>
                <a:latin typeface="Arial MT"/>
                <a:cs typeface="Arial MT"/>
              </a:rPr>
              <a:t>Data</a:t>
            </a:r>
            <a:r>
              <a:rPr dirty="0" sz="110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403B4E"/>
                </a:solidFill>
                <a:latin typeface="Arial MT"/>
                <a:cs typeface="Arial MT"/>
              </a:rPr>
              <a:t>manipulation</a:t>
            </a:r>
            <a:r>
              <a:rPr dirty="0" sz="110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10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403B4E"/>
                </a:solidFill>
                <a:latin typeface="Arial MT"/>
                <a:cs typeface="Arial MT"/>
              </a:rPr>
              <a:t>structured</a:t>
            </a:r>
            <a:r>
              <a:rPr dirty="0" sz="110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03B4E"/>
                </a:solidFill>
                <a:latin typeface="Arial MT"/>
                <a:cs typeface="Arial MT"/>
              </a:rPr>
              <a:t>analysis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049" y="2848633"/>
            <a:ext cx="286621" cy="33245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49287" y="3201466"/>
            <a:ext cx="2835910" cy="59944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350" spc="85" b="1">
                <a:solidFill>
                  <a:srgbClr val="403B4E"/>
                </a:solidFill>
                <a:latin typeface="Cambria"/>
                <a:cs typeface="Cambria"/>
              </a:rPr>
              <a:t>NumPy</a:t>
            </a:r>
            <a:endParaRPr sz="1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Numerical</a:t>
            </a:r>
            <a:r>
              <a:rPr dirty="0" sz="110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403B4E"/>
                </a:solidFill>
                <a:latin typeface="Arial MT"/>
                <a:cs typeface="Arial MT"/>
              </a:rPr>
              <a:t>computing</a:t>
            </a:r>
            <a:r>
              <a:rPr dirty="0" sz="1100" spc="-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array</a:t>
            </a:r>
            <a:r>
              <a:rPr dirty="0" sz="1100" spc="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03B4E"/>
                </a:solidFill>
                <a:latin typeface="Arial MT"/>
                <a:cs typeface="Arial MT"/>
              </a:rPr>
              <a:t>operations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72988" y="2851570"/>
            <a:ext cx="332740" cy="327025"/>
            <a:chOff x="6172988" y="2851570"/>
            <a:chExt cx="332740" cy="32702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1827" y="2932156"/>
              <a:ext cx="303319" cy="24584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180033" y="2858615"/>
              <a:ext cx="291465" cy="313055"/>
            </a:xfrm>
            <a:custGeom>
              <a:avLst/>
              <a:gdLst/>
              <a:ahLst/>
              <a:cxnLst/>
              <a:rect l="l" t="t" r="r" b="b"/>
              <a:pathLst>
                <a:path w="291464" h="313055">
                  <a:moveTo>
                    <a:pt x="290698" y="239"/>
                  </a:moveTo>
                  <a:lnTo>
                    <a:pt x="234813" y="0"/>
                  </a:lnTo>
                </a:path>
                <a:path w="291464" h="313055">
                  <a:moveTo>
                    <a:pt x="291160" y="308810"/>
                  </a:moveTo>
                  <a:lnTo>
                    <a:pt x="290698" y="239"/>
                  </a:lnTo>
                </a:path>
                <a:path w="291464" h="313055">
                  <a:moveTo>
                    <a:pt x="234813" y="0"/>
                  </a:moveTo>
                  <a:lnTo>
                    <a:pt x="234343" y="303901"/>
                  </a:lnTo>
                </a:path>
                <a:path w="291464" h="313055">
                  <a:moveTo>
                    <a:pt x="0" y="312518"/>
                  </a:moveTo>
                  <a:lnTo>
                    <a:pt x="34717" y="308212"/>
                  </a:lnTo>
                </a:path>
                <a:path w="291464" h="313055">
                  <a:moveTo>
                    <a:pt x="135763" y="301801"/>
                  </a:moveTo>
                  <a:lnTo>
                    <a:pt x="175960" y="301688"/>
                  </a:lnTo>
                </a:path>
              </a:pathLst>
            </a:custGeom>
            <a:ln w="14088">
              <a:solidFill>
                <a:srgbClr val="CC2F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154420" y="3201466"/>
            <a:ext cx="2778760" cy="59944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350" spc="60" b="1">
                <a:solidFill>
                  <a:srgbClr val="403B4E"/>
                </a:solidFill>
                <a:latin typeface="Cambria"/>
                <a:cs typeface="Cambria"/>
              </a:rPr>
              <a:t>Matplotlib</a:t>
            </a:r>
            <a:endParaRPr sz="1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100" spc="30">
                <a:solidFill>
                  <a:srgbClr val="403B4E"/>
                </a:solidFill>
                <a:latin typeface="Arial MT"/>
                <a:cs typeface="Arial MT"/>
              </a:rPr>
              <a:t>Data</a:t>
            </a:r>
            <a:r>
              <a:rPr dirty="0" sz="1100" spc="-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403B4E"/>
                </a:solidFill>
                <a:latin typeface="Arial MT"/>
                <a:cs typeface="Arial MT"/>
              </a:rPr>
              <a:t>visualisation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100" spc="-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403B4E"/>
                </a:solidFill>
                <a:latin typeface="Arial MT"/>
                <a:cs typeface="Arial MT"/>
              </a:rPr>
              <a:t>exploratory</a:t>
            </a:r>
            <a:r>
              <a:rPr dirty="0" sz="1100" spc="-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03B4E"/>
                </a:solidFill>
                <a:latin typeface="Arial MT"/>
                <a:cs typeface="Arial MT"/>
              </a:rPr>
              <a:t>plotting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67927" y="4029962"/>
            <a:ext cx="341630" cy="332740"/>
            <a:chOff x="667927" y="4029962"/>
            <a:chExt cx="341630" cy="332740"/>
          </a:xfrm>
        </p:grpSpPr>
        <p:sp>
          <p:nvSpPr>
            <p:cNvPr id="16" name="object 16"/>
            <p:cNvSpPr/>
            <p:nvPr/>
          </p:nvSpPr>
          <p:spPr>
            <a:xfrm>
              <a:off x="675079" y="4038379"/>
              <a:ext cx="327025" cy="316865"/>
            </a:xfrm>
            <a:custGeom>
              <a:avLst/>
              <a:gdLst/>
              <a:ahLst/>
              <a:cxnLst/>
              <a:rect l="l" t="t" r="r" b="b"/>
              <a:pathLst>
                <a:path w="327025" h="316864">
                  <a:moveTo>
                    <a:pt x="53373" y="41306"/>
                  </a:moveTo>
                  <a:lnTo>
                    <a:pt x="26868" y="70239"/>
                  </a:lnTo>
                  <a:lnTo>
                    <a:pt x="7993" y="107158"/>
                  </a:lnTo>
                  <a:lnTo>
                    <a:pt x="132" y="148461"/>
                  </a:lnTo>
                  <a:lnTo>
                    <a:pt x="0" y="156934"/>
                  </a:lnTo>
                  <a:lnTo>
                    <a:pt x="212" y="166269"/>
                  </a:lnTo>
                  <a:lnTo>
                    <a:pt x="10324" y="211736"/>
                  </a:lnTo>
                  <a:lnTo>
                    <a:pt x="30573" y="247857"/>
                  </a:lnTo>
                  <a:lnTo>
                    <a:pt x="63157" y="280178"/>
                  </a:lnTo>
                  <a:lnTo>
                    <a:pt x="96434" y="299723"/>
                  </a:lnTo>
                  <a:lnTo>
                    <a:pt x="139207" y="313507"/>
                  </a:lnTo>
                  <a:lnTo>
                    <a:pt x="183521" y="316598"/>
                  </a:lnTo>
                  <a:lnTo>
                    <a:pt x="193274" y="315574"/>
                  </a:lnTo>
                  <a:lnTo>
                    <a:pt x="237423" y="304942"/>
                  </a:lnTo>
                  <a:lnTo>
                    <a:pt x="274693" y="286453"/>
                  </a:lnTo>
                  <a:lnTo>
                    <a:pt x="305829" y="263105"/>
                  </a:lnTo>
                  <a:lnTo>
                    <a:pt x="326894" y="227368"/>
                  </a:lnTo>
                  <a:lnTo>
                    <a:pt x="326674" y="222710"/>
                  </a:lnTo>
                  <a:lnTo>
                    <a:pt x="297315" y="195470"/>
                  </a:lnTo>
                  <a:lnTo>
                    <a:pt x="260118" y="193861"/>
                  </a:lnTo>
                  <a:lnTo>
                    <a:pt x="255343" y="193276"/>
                  </a:lnTo>
                  <a:lnTo>
                    <a:pt x="226878" y="163017"/>
                  </a:lnTo>
                  <a:lnTo>
                    <a:pt x="226777" y="158424"/>
                  </a:lnTo>
                  <a:lnTo>
                    <a:pt x="227065" y="155374"/>
                  </a:lnTo>
                  <a:lnTo>
                    <a:pt x="252647" y="126520"/>
                  </a:lnTo>
                  <a:lnTo>
                    <a:pt x="262861" y="120407"/>
                  </a:lnTo>
                  <a:lnTo>
                    <a:pt x="269364" y="116005"/>
                  </a:lnTo>
                  <a:lnTo>
                    <a:pt x="289802" y="80758"/>
                  </a:lnTo>
                  <a:lnTo>
                    <a:pt x="290030" y="74550"/>
                  </a:lnTo>
                  <a:lnTo>
                    <a:pt x="289599" y="68374"/>
                  </a:lnTo>
                  <a:lnTo>
                    <a:pt x="269042" y="31577"/>
                  </a:lnTo>
                  <a:lnTo>
                    <a:pt x="231776" y="10105"/>
                  </a:lnTo>
                  <a:lnTo>
                    <a:pt x="198531" y="1181"/>
                  </a:lnTo>
                  <a:lnTo>
                    <a:pt x="191420" y="0"/>
                  </a:lnTo>
                </a:path>
              </a:pathLst>
            </a:custGeom>
            <a:ln w="14298">
              <a:solidFill>
                <a:srgbClr val="CC2F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9760" y="4029962"/>
              <a:ext cx="153799" cy="2854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49287" y="4386555"/>
            <a:ext cx="2950845" cy="59944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350" spc="45" b="1">
                <a:solidFill>
                  <a:srgbClr val="403B4E"/>
                </a:solidFill>
                <a:latin typeface="Cambria"/>
                <a:cs typeface="Cambria"/>
              </a:rPr>
              <a:t>Seaborn</a:t>
            </a:r>
            <a:endParaRPr sz="1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Statistical</a:t>
            </a:r>
            <a:r>
              <a:rPr dirty="0" sz="1100" spc="9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graphics</a:t>
            </a:r>
            <a:r>
              <a:rPr dirty="0" sz="1100" spc="-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100" spc="-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403B4E"/>
                </a:solidFill>
                <a:latin typeface="Arial MT"/>
                <a:cs typeface="Arial MT"/>
              </a:rPr>
              <a:t>correlation</a:t>
            </a:r>
            <a:r>
              <a:rPr dirty="0" sz="1100" spc="5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03B4E"/>
                </a:solidFill>
                <a:latin typeface="Arial MT"/>
                <a:cs typeface="Arial MT"/>
              </a:rPr>
              <a:t>heatmaps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90102" y="4036920"/>
            <a:ext cx="297928" cy="32514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154420" y="4386555"/>
            <a:ext cx="3084830" cy="59944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350" spc="105" b="1">
                <a:solidFill>
                  <a:srgbClr val="403B4E"/>
                </a:solidFill>
                <a:latin typeface="Cambria"/>
                <a:cs typeface="Cambria"/>
              </a:rPr>
              <a:t>Scikit-</a:t>
            </a:r>
            <a:r>
              <a:rPr dirty="0" sz="1350" spc="35" b="1">
                <a:solidFill>
                  <a:srgbClr val="403B4E"/>
                </a:solidFill>
                <a:latin typeface="Cambria"/>
                <a:cs typeface="Cambria"/>
              </a:rPr>
              <a:t>Learn</a:t>
            </a:r>
            <a:endParaRPr sz="1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Preprocessing,</a:t>
            </a:r>
            <a:r>
              <a:rPr dirty="0" sz="110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403B4E"/>
                </a:solidFill>
                <a:latin typeface="Arial MT"/>
                <a:cs typeface="Arial MT"/>
              </a:rPr>
              <a:t>model</a:t>
            </a:r>
            <a:r>
              <a:rPr dirty="0" sz="11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selection,</a:t>
            </a:r>
            <a:r>
              <a:rPr dirty="0" sz="1100" spc="1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100" spc="8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03B4E"/>
                </a:solidFill>
                <a:latin typeface="Arial MT"/>
                <a:cs typeface="Arial MT"/>
              </a:rPr>
              <a:t>evaluation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8531" y="5220327"/>
            <a:ext cx="199699" cy="33253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49287" y="5571923"/>
            <a:ext cx="3271520" cy="59880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350" spc="75" b="1">
                <a:solidFill>
                  <a:srgbClr val="403B4E"/>
                </a:solidFill>
                <a:latin typeface="Cambria"/>
                <a:cs typeface="Cambria"/>
              </a:rPr>
              <a:t>XGBoost</a:t>
            </a:r>
            <a:endParaRPr sz="1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Gradient-boosted</a:t>
            </a:r>
            <a:r>
              <a:rPr dirty="0" sz="1100" spc="2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regression</a:t>
            </a:r>
            <a:r>
              <a:rPr dirty="0" sz="1100" spc="204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model</a:t>
            </a:r>
            <a:r>
              <a:rPr dirty="0" sz="1100" spc="2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dirty="0" sz="1100" spc="8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03B4E"/>
                </a:solidFill>
                <a:latin typeface="Arial MT"/>
                <a:cs typeface="Arial MT"/>
              </a:rPr>
              <a:t>prediction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172988" y="5273094"/>
            <a:ext cx="332740" cy="227329"/>
            <a:chOff x="6172988" y="5273094"/>
            <a:chExt cx="332740" cy="227329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47738" y="5273094"/>
              <a:ext cx="186106" cy="9047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180033" y="5347582"/>
              <a:ext cx="318135" cy="146050"/>
            </a:xfrm>
            <a:custGeom>
              <a:avLst/>
              <a:gdLst/>
              <a:ahLst/>
              <a:cxnLst/>
              <a:rect l="l" t="t" r="r" b="b"/>
              <a:pathLst>
                <a:path w="318135" h="146050">
                  <a:moveTo>
                    <a:pt x="69647" y="14560"/>
                  </a:moveTo>
                  <a:lnTo>
                    <a:pt x="68468" y="14510"/>
                  </a:lnTo>
                  <a:lnTo>
                    <a:pt x="67108" y="14461"/>
                  </a:lnTo>
                  <a:lnTo>
                    <a:pt x="65269" y="14420"/>
                  </a:lnTo>
                  <a:lnTo>
                    <a:pt x="63478" y="14420"/>
                  </a:lnTo>
                  <a:lnTo>
                    <a:pt x="27095" y="26045"/>
                  </a:lnTo>
                  <a:lnTo>
                    <a:pt x="3471" y="57499"/>
                  </a:lnTo>
                  <a:lnTo>
                    <a:pt x="0" y="78284"/>
                  </a:lnTo>
                  <a:lnTo>
                    <a:pt x="4" y="80032"/>
                  </a:lnTo>
                  <a:lnTo>
                    <a:pt x="12003" y="116475"/>
                  </a:lnTo>
                  <a:lnTo>
                    <a:pt x="42044" y="140722"/>
                  </a:lnTo>
                  <a:lnTo>
                    <a:pt x="76869" y="145301"/>
                  </a:lnTo>
                  <a:lnTo>
                    <a:pt x="78617" y="145319"/>
                  </a:lnTo>
                  <a:lnTo>
                    <a:pt x="80364" y="145337"/>
                  </a:lnTo>
                  <a:lnTo>
                    <a:pt x="82112" y="145351"/>
                  </a:lnTo>
                  <a:lnTo>
                    <a:pt x="83868" y="145365"/>
                  </a:lnTo>
                  <a:lnTo>
                    <a:pt x="85616" y="145377"/>
                  </a:lnTo>
                  <a:lnTo>
                    <a:pt x="87380" y="145389"/>
                  </a:lnTo>
                  <a:lnTo>
                    <a:pt x="89119" y="145402"/>
                  </a:lnTo>
                  <a:lnTo>
                    <a:pt x="90859" y="145413"/>
                  </a:lnTo>
                  <a:lnTo>
                    <a:pt x="92598" y="145424"/>
                  </a:lnTo>
                  <a:lnTo>
                    <a:pt x="94346" y="145431"/>
                  </a:lnTo>
                  <a:lnTo>
                    <a:pt x="96094" y="145439"/>
                  </a:lnTo>
                  <a:lnTo>
                    <a:pt x="106580" y="145468"/>
                  </a:lnTo>
                  <a:lnTo>
                    <a:pt x="108328" y="145471"/>
                  </a:lnTo>
                  <a:lnTo>
                    <a:pt x="110075" y="145473"/>
                  </a:lnTo>
                  <a:lnTo>
                    <a:pt x="111823" y="145474"/>
                  </a:lnTo>
                  <a:lnTo>
                    <a:pt x="113571" y="145474"/>
                  </a:lnTo>
                  <a:lnTo>
                    <a:pt x="115318" y="145473"/>
                  </a:lnTo>
                  <a:lnTo>
                    <a:pt x="117066" y="145473"/>
                  </a:lnTo>
                  <a:lnTo>
                    <a:pt x="118814" y="145472"/>
                  </a:lnTo>
                  <a:lnTo>
                    <a:pt x="120561" y="145470"/>
                  </a:lnTo>
                  <a:lnTo>
                    <a:pt x="122309" y="145468"/>
                  </a:lnTo>
                  <a:lnTo>
                    <a:pt x="124049" y="145464"/>
                  </a:lnTo>
                  <a:lnTo>
                    <a:pt x="125796" y="145460"/>
                  </a:lnTo>
                  <a:lnTo>
                    <a:pt x="127544" y="145456"/>
                  </a:lnTo>
                  <a:lnTo>
                    <a:pt x="129292" y="145453"/>
                  </a:lnTo>
                  <a:lnTo>
                    <a:pt x="131039" y="145448"/>
                  </a:lnTo>
                  <a:lnTo>
                    <a:pt x="132787" y="145442"/>
                  </a:lnTo>
                  <a:lnTo>
                    <a:pt x="134535" y="145437"/>
                  </a:lnTo>
                  <a:lnTo>
                    <a:pt x="136283" y="145431"/>
                  </a:lnTo>
                  <a:lnTo>
                    <a:pt x="138030" y="145425"/>
                  </a:lnTo>
                  <a:lnTo>
                    <a:pt x="139778" y="145419"/>
                  </a:lnTo>
                  <a:lnTo>
                    <a:pt x="141526" y="145412"/>
                  </a:lnTo>
                  <a:lnTo>
                    <a:pt x="143273" y="145405"/>
                  </a:lnTo>
                  <a:lnTo>
                    <a:pt x="145021" y="145398"/>
                  </a:lnTo>
                  <a:lnTo>
                    <a:pt x="146769" y="145391"/>
                  </a:lnTo>
                  <a:lnTo>
                    <a:pt x="148516" y="145384"/>
                  </a:lnTo>
                  <a:lnTo>
                    <a:pt x="150264" y="145376"/>
                  </a:lnTo>
                  <a:lnTo>
                    <a:pt x="152004" y="145369"/>
                  </a:lnTo>
                  <a:lnTo>
                    <a:pt x="153743" y="145361"/>
                  </a:lnTo>
                  <a:lnTo>
                    <a:pt x="155482" y="145354"/>
                  </a:lnTo>
                  <a:lnTo>
                    <a:pt x="157238" y="145346"/>
                  </a:lnTo>
                  <a:lnTo>
                    <a:pt x="158994" y="145337"/>
                  </a:lnTo>
                  <a:lnTo>
                    <a:pt x="160750" y="145329"/>
                  </a:lnTo>
                  <a:lnTo>
                    <a:pt x="162498" y="145321"/>
                  </a:lnTo>
                  <a:lnTo>
                    <a:pt x="164246" y="145313"/>
                  </a:lnTo>
                  <a:lnTo>
                    <a:pt x="165993" y="145306"/>
                  </a:lnTo>
                  <a:lnTo>
                    <a:pt x="167741" y="145299"/>
                  </a:lnTo>
                  <a:lnTo>
                    <a:pt x="169489" y="145291"/>
                  </a:lnTo>
                  <a:lnTo>
                    <a:pt x="171237" y="145283"/>
                  </a:lnTo>
                  <a:lnTo>
                    <a:pt x="172984" y="145276"/>
                  </a:lnTo>
                  <a:lnTo>
                    <a:pt x="174732" y="145270"/>
                  </a:lnTo>
                  <a:lnTo>
                    <a:pt x="176480" y="145262"/>
                  </a:lnTo>
                  <a:lnTo>
                    <a:pt x="178227" y="145257"/>
                  </a:lnTo>
                  <a:lnTo>
                    <a:pt x="179975" y="145250"/>
                  </a:lnTo>
                  <a:lnTo>
                    <a:pt x="181723" y="145244"/>
                  </a:lnTo>
                  <a:lnTo>
                    <a:pt x="183470" y="145238"/>
                  </a:lnTo>
                  <a:lnTo>
                    <a:pt x="185218" y="145234"/>
                  </a:lnTo>
                  <a:lnTo>
                    <a:pt x="186966" y="145229"/>
                  </a:lnTo>
                  <a:lnTo>
                    <a:pt x="188714" y="145224"/>
                  </a:lnTo>
                  <a:lnTo>
                    <a:pt x="190453" y="145220"/>
                  </a:lnTo>
                  <a:lnTo>
                    <a:pt x="192201" y="145216"/>
                  </a:lnTo>
                  <a:lnTo>
                    <a:pt x="200939" y="145205"/>
                  </a:lnTo>
                  <a:lnTo>
                    <a:pt x="202687" y="145205"/>
                  </a:lnTo>
                  <a:lnTo>
                    <a:pt x="204435" y="145205"/>
                  </a:lnTo>
                  <a:lnTo>
                    <a:pt x="216669" y="145226"/>
                  </a:lnTo>
                  <a:lnTo>
                    <a:pt x="218416" y="145232"/>
                  </a:lnTo>
                  <a:lnTo>
                    <a:pt x="227155" y="145274"/>
                  </a:lnTo>
                  <a:lnTo>
                    <a:pt x="228902" y="145285"/>
                  </a:lnTo>
                  <a:lnTo>
                    <a:pt x="230650" y="145296"/>
                  </a:lnTo>
                  <a:lnTo>
                    <a:pt x="232398" y="145309"/>
                  </a:lnTo>
                  <a:lnTo>
                    <a:pt x="234154" y="145324"/>
                  </a:lnTo>
                  <a:lnTo>
                    <a:pt x="235902" y="145341"/>
                  </a:lnTo>
                  <a:lnTo>
                    <a:pt x="237666" y="145357"/>
                  </a:lnTo>
                  <a:lnTo>
                    <a:pt x="239405" y="145374"/>
                  </a:lnTo>
                  <a:lnTo>
                    <a:pt x="241145" y="145391"/>
                  </a:lnTo>
                  <a:lnTo>
                    <a:pt x="242884" y="145409"/>
                  </a:lnTo>
                  <a:lnTo>
                    <a:pt x="244632" y="145427"/>
                  </a:lnTo>
                  <a:lnTo>
                    <a:pt x="246380" y="145445"/>
                  </a:lnTo>
                  <a:lnTo>
                    <a:pt x="248111" y="145451"/>
                  </a:lnTo>
                  <a:lnTo>
                    <a:pt x="249858" y="145437"/>
                  </a:lnTo>
                  <a:lnTo>
                    <a:pt x="286676" y="133780"/>
                  </a:lnTo>
                  <a:lnTo>
                    <a:pt x="312232" y="104008"/>
                  </a:lnTo>
                  <a:lnTo>
                    <a:pt x="318068" y="75951"/>
                  </a:lnTo>
                  <a:lnTo>
                    <a:pt x="318060" y="74203"/>
                  </a:lnTo>
                  <a:lnTo>
                    <a:pt x="306461" y="37448"/>
                  </a:lnTo>
                  <a:lnTo>
                    <a:pt x="277145" y="11707"/>
                  </a:lnTo>
                  <a:lnTo>
                    <a:pt x="253032" y="5095"/>
                  </a:lnTo>
                  <a:lnTo>
                    <a:pt x="251870" y="4963"/>
                  </a:lnTo>
                </a:path>
                <a:path w="318135" h="146050">
                  <a:moveTo>
                    <a:pt x="74750" y="8945"/>
                  </a:moveTo>
                  <a:lnTo>
                    <a:pt x="73959" y="14750"/>
                  </a:lnTo>
                </a:path>
                <a:path w="318135" h="146050">
                  <a:moveTo>
                    <a:pt x="246767" y="0"/>
                  </a:moveTo>
                  <a:lnTo>
                    <a:pt x="247929" y="4518"/>
                  </a:lnTo>
                </a:path>
                <a:path w="318135" h="146050">
                  <a:moveTo>
                    <a:pt x="69647" y="14560"/>
                  </a:moveTo>
                  <a:lnTo>
                    <a:pt x="73959" y="14750"/>
                  </a:lnTo>
                </a:path>
                <a:path w="318135" h="146050">
                  <a:moveTo>
                    <a:pt x="251870" y="4963"/>
                  </a:moveTo>
                  <a:lnTo>
                    <a:pt x="247929" y="4518"/>
                  </a:lnTo>
                </a:path>
              </a:pathLst>
            </a:custGeom>
            <a:ln w="14088">
              <a:solidFill>
                <a:srgbClr val="CC2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246939" y="5345061"/>
              <a:ext cx="188595" cy="24765"/>
            </a:xfrm>
            <a:custGeom>
              <a:avLst/>
              <a:gdLst/>
              <a:ahLst/>
              <a:cxnLst/>
              <a:rect l="l" t="t" r="r" b="b"/>
              <a:pathLst>
                <a:path w="188595" h="24764">
                  <a:moveTo>
                    <a:pt x="14084" y="17272"/>
                  </a:moveTo>
                  <a:lnTo>
                    <a:pt x="12026" y="12293"/>
                  </a:lnTo>
                  <a:lnTo>
                    <a:pt x="7048" y="10236"/>
                  </a:lnTo>
                  <a:lnTo>
                    <a:pt x="2070" y="12293"/>
                  </a:lnTo>
                  <a:lnTo>
                    <a:pt x="0" y="17272"/>
                  </a:lnTo>
                  <a:lnTo>
                    <a:pt x="2070" y="22263"/>
                  </a:lnTo>
                  <a:lnTo>
                    <a:pt x="7048" y="24320"/>
                  </a:lnTo>
                  <a:lnTo>
                    <a:pt x="12026" y="22263"/>
                  </a:lnTo>
                  <a:lnTo>
                    <a:pt x="14084" y="17272"/>
                  </a:lnTo>
                  <a:close/>
                </a:path>
                <a:path w="188595" h="24764">
                  <a:moveTo>
                    <a:pt x="188061" y="7048"/>
                  </a:moveTo>
                  <a:lnTo>
                    <a:pt x="185991" y="2057"/>
                  </a:lnTo>
                  <a:lnTo>
                    <a:pt x="181013" y="0"/>
                  </a:lnTo>
                  <a:lnTo>
                    <a:pt x="176034" y="2057"/>
                  </a:lnTo>
                  <a:lnTo>
                    <a:pt x="173977" y="7048"/>
                  </a:lnTo>
                  <a:lnTo>
                    <a:pt x="176034" y="12026"/>
                  </a:lnTo>
                  <a:lnTo>
                    <a:pt x="181013" y="14084"/>
                  </a:lnTo>
                  <a:lnTo>
                    <a:pt x="185991" y="12026"/>
                  </a:lnTo>
                  <a:lnTo>
                    <a:pt x="188061" y="7048"/>
                  </a:lnTo>
                  <a:close/>
                </a:path>
              </a:pathLst>
            </a:custGeom>
            <a:solidFill>
              <a:srgbClr val="CC2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154420" y="5571923"/>
            <a:ext cx="3272154" cy="59880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350" spc="75" b="1">
                <a:solidFill>
                  <a:srgbClr val="403B4E"/>
                </a:solidFill>
                <a:latin typeface="Cambria"/>
                <a:cs typeface="Cambria"/>
              </a:rPr>
              <a:t>Google</a:t>
            </a:r>
            <a:r>
              <a:rPr dirty="0" sz="1350" spc="9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350" spc="30" b="1">
                <a:solidFill>
                  <a:srgbClr val="403B4E"/>
                </a:solidFill>
                <a:latin typeface="Cambria"/>
                <a:cs typeface="Cambria"/>
              </a:rPr>
              <a:t>Colab</a:t>
            </a:r>
            <a:endParaRPr sz="1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Cloud-based</a:t>
            </a:r>
            <a:r>
              <a:rPr dirty="0" sz="1100" spc="2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notebook</a:t>
            </a:r>
            <a:r>
              <a:rPr dirty="0" sz="1100" spc="3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development</a:t>
            </a:r>
            <a:r>
              <a:rPr dirty="0" sz="1100" spc="2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03B4E"/>
                </a:solidFill>
                <a:latin typeface="Arial MT"/>
                <a:cs typeface="Arial MT"/>
              </a:rPr>
              <a:t>environment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49000" y="653415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1143000" y="0"/>
                </a:moveTo>
                <a:lnTo>
                  <a:pt x="0" y="0"/>
                </a:lnTo>
                <a:lnTo>
                  <a:pt x="0" y="323850"/>
                </a:lnTo>
                <a:lnTo>
                  <a:pt x="1143000" y="323850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9287" y="501649"/>
            <a:ext cx="5656580" cy="5067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120"/>
              <a:t>Data</a:t>
            </a:r>
            <a:r>
              <a:rPr dirty="0" sz="3150" spc="90"/>
              <a:t> </a:t>
            </a:r>
            <a:r>
              <a:rPr dirty="0" sz="3150" spc="135"/>
              <a:t>Preprocessing</a:t>
            </a:r>
            <a:r>
              <a:rPr dirty="0" sz="3150" spc="70"/>
              <a:t> </a:t>
            </a:r>
            <a:r>
              <a:rPr dirty="0" sz="3150" spc="90"/>
              <a:t>Pipeline</a:t>
            </a:r>
            <a:endParaRPr sz="3150"/>
          </a:p>
        </p:txBody>
      </p:sp>
      <p:sp>
        <p:nvSpPr>
          <p:cNvPr id="4" name="object 4"/>
          <p:cNvSpPr txBox="1"/>
          <p:nvPr/>
        </p:nvSpPr>
        <p:spPr>
          <a:xfrm>
            <a:off x="649287" y="1337690"/>
            <a:ext cx="1081595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Raw</a:t>
            </a:r>
            <a:r>
              <a:rPr dirty="0" sz="125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data</a:t>
            </a:r>
            <a:r>
              <a:rPr dirty="0" sz="1250" spc="1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is</a:t>
            </a:r>
            <a:r>
              <a:rPr dirty="0" sz="1250" spc="1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rarely</a:t>
            </a:r>
            <a:r>
              <a:rPr dirty="0" sz="1250" spc="114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model-ready.</a:t>
            </a:r>
            <a:r>
              <a:rPr dirty="0" sz="1250" spc="1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A</a:t>
            </a:r>
            <a:r>
              <a:rPr dirty="0" sz="1250" spc="9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structured</a:t>
            </a:r>
            <a:r>
              <a:rPr dirty="0" sz="1250" spc="1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preprocessing</a:t>
            </a:r>
            <a:r>
              <a:rPr dirty="0" sz="1250" spc="1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pipeline</a:t>
            </a:r>
            <a:r>
              <a:rPr dirty="0" sz="1250" spc="1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ensures</a:t>
            </a:r>
            <a:r>
              <a:rPr dirty="0" sz="1250" spc="1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data</a:t>
            </a:r>
            <a:r>
              <a:rPr dirty="0" sz="1250" spc="1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quality,</a:t>
            </a:r>
            <a:r>
              <a:rPr dirty="0" sz="1250" spc="15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consistency,</a:t>
            </a:r>
            <a:r>
              <a:rPr dirty="0" sz="1250" spc="50">
                <a:solidFill>
                  <a:srgbClr val="403B4E"/>
                </a:solidFill>
                <a:latin typeface="Arial MT"/>
                <a:cs typeface="Arial MT"/>
              </a:rPr>
              <a:t> and</a:t>
            </a:r>
            <a:r>
              <a:rPr dirty="0" sz="125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predictive</a:t>
            </a:r>
            <a:r>
              <a:rPr dirty="0" sz="1250" spc="1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power</a:t>
            </a:r>
            <a:r>
              <a:rPr dirty="0" sz="1250" spc="8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60">
                <a:solidFill>
                  <a:srgbClr val="403B4E"/>
                </a:solidFill>
                <a:latin typeface="Arial MT"/>
                <a:cs typeface="Arial MT"/>
              </a:rPr>
              <a:t>before</a:t>
            </a:r>
            <a:r>
              <a:rPr dirty="0" sz="1250" spc="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45">
                <a:solidFill>
                  <a:srgbClr val="403B4E"/>
                </a:solidFill>
                <a:latin typeface="Arial MT"/>
                <a:cs typeface="Arial MT"/>
              </a:rPr>
              <a:t>training</a:t>
            </a:r>
            <a:r>
              <a:rPr dirty="0" sz="125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begins.</a:t>
            </a:r>
            <a:endParaRPr sz="1250">
              <a:latin typeface="Arial MT"/>
              <a:cs typeface="Arial MT"/>
            </a:endParaRPr>
          </a:p>
        </p:txBody>
      </p:sp>
      <p:pic>
        <p:nvPicPr>
          <p:cNvPr id="5" name="object 5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881" y="2163810"/>
            <a:ext cx="10126810" cy="215466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547859" y="4790503"/>
            <a:ext cx="1174115" cy="60706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080" indent="248285">
              <a:lnSpc>
                <a:spcPct val="104800"/>
              </a:lnSpc>
              <a:spcBef>
                <a:spcPts val="20"/>
              </a:spcBef>
            </a:pPr>
            <a:r>
              <a:rPr dirty="0" sz="1850" spc="75" b="1">
                <a:solidFill>
                  <a:srgbClr val="403B4E"/>
                </a:solidFill>
                <a:latin typeface="Cambria"/>
                <a:cs typeface="Cambria"/>
              </a:rPr>
              <a:t>Label </a:t>
            </a:r>
            <a:r>
              <a:rPr dirty="0" sz="1850" spc="130" b="1">
                <a:solidFill>
                  <a:srgbClr val="403B4E"/>
                </a:solidFill>
                <a:latin typeface="Cambria"/>
                <a:cs typeface="Cambria"/>
              </a:rPr>
              <a:t>Encoding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60539" y="4943538"/>
            <a:ext cx="1551305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80" b="1">
                <a:solidFill>
                  <a:srgbClr val="403B4E"/>
                </a:solidFill>
                <a:latin typeface="Cambria"/>
                <a:cs typeface="Cambria"/>
              </a:rPr>
              <a:t>Feature</a:t>
            </a:r>
            <a:r>
              <a:rPr dirty="0" sz="1850" spc="75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850" spc="155" b="1">
                <a:solidFill>
                  <a:srgbClr val="403B4E"/>
                </a:solidFill>
                <a:latin typeface="Cambria"/>
                <a:cs typeface="Cambria"/>
              </a:rPr>
              <a:t>Eng.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3870" y="4790503"/>
            <a:ext cx="1165225" cy="60706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080" indent="77470">
              <a:lnSpc>
                <a:spcPct val="104800"/>
              </a:lnSpc>
              <a:spcBef>
                <a:spcPts val="20"/>
              </a:spcBef>
            </a:pPr>
            <a:r>
              <a:rPr dirty="0" sz="1850" spc="150" b="1">
                <a:solidFill>
                  <a:srgbClr val="403B4E"/>
                </a:solidFill>
                <a:latin typeface="Cambria"/>
                <a:cs typeface="Cambria"/>
              </a:rPr>
              <a:t>Missing </a:t>
            </a:r>
            <a:r>
              <a:rPr dirty="0" sz="1850" spc="130" b="1">
                <a:solidFill>
                  <a:srgbClr val="403B4E"/>
                </a:solidFill>
                <a:latin typeface="Cambria"/>
                <a:cs typeface="Cambria"/>
              </a:rPr>
              <a:t>Handling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03625" y="4790503"/>
            <a:ext cx="1097280" cy="60706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080" indent="260350">
              <a:lnSpc>
                <a:spcPct val="104800"/>
              </a:lnSpc>
              <a:spcBef>
                <a:spcPts val="20"/>
              </a:spcBef>
            </a:pPr>
            <a:r>
              <a:rPr dirty="0" sz="1850" spc="70" b="1">
                <a:solidFill>
                  <a:srgbClr val="403B4E"/>
                </a:solidFill>
                <a:latin typeface="Cambria"/>
                <a:cs typeface="Cambria"/>
              </a:rPr>
              <a:t>Data </a:t>
            </a:r>
            <a:r>
              <a:rPr dirty="0" sz="1850" spc="114" b="1">
                <a:solidFill>
                  <a:srgbClr val="403B4E"/>
                </a:solidFill>
                <a:latin typeface="Cambria"/>
                <a:cs typeface="Cambria"/>
              </a:rPr>
              <a:t>Cleaning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0994" y="4790503"/>
            <a:ext cx="1020444" cy="60706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080" indent="219075">
              <a:lnSpc>
                <a:spcPct val="104800"/>
              </a:lnSpc>
              <a:spcBef>
                <a:spcPts val="20"/>
              </a:spcBef>
            </a:pPr>
            <a:r>
              <a:rPr dirty="0" sz="1850" spc="75" b="1">
                <a:solidFill>
                  <a:srgbClr val="403B4E"/>
                </a:solidFill>
                <a:latin typeface="Cambria"/>
                <a:cs typeface="Cambria"/>
              </a:rPr>
              <a:t>Data </a:t>
            </a:r>
            <a:r>
              <a:rPr dirty="0" sz="1850" spc="125" b="1">
                <a:solidFill>
                  <a:srgbClr val="403B4E"/>
                </a:solidFill>
                <a:latin typeface="Cambria"/>
                <a:cs typeface="Cambria"/>
              </a:rPr>
              <a:t>Loading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9287" y="6088697"/>
            <a:ext cx="872934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25">
                <a:solidFill>
                  <a:srgbClr val="403B4E"/>
                </a:solidFill>
                <a:latin typeface="Arial MT"/>
                <a:cs typeface="Arial MT"/>
              </a:rPr>
              <a:t>Each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stage</a:t>
            </a:r>
            <a:r>
              <a:rPr dirty="0" sz="1250" spc="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45">
                <a:solidFill>
                  <a:srgbClr val="403B4E"/>
                </a:solidFill>
                <a:latin typeface="Arial MT"/>
                <a:cs typeface="Arial MT"/>
              </a:rPr>
              <a:t>transforms </a:t>
            </a:r>
            <a:r>
              <a:rPr dirty="0" sz="1250" spc="50">
                <a:solidFill>
                  <a:srgbClr val="403B4E"/>
                </a:solidFill>
                <a:latin typeface="Arial MT"/>
                <a:cs typeface="Arial MT"/>
              </a:rPr>
              <a:t>raw</a:t>
            </a:r>
            <a:r>
              <a:rPr dirty="0" sz="1250" spc="1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retail</a:t>
            </a:r>
            <a:r>
              <a:rPr dirty="0" sz="125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records</a:t>
            </a:r>
            <a:r>
              <a:rPr dirty="0" sz="125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55">
                <a:solidFill>
                  <a:srgbClr val="403B4E"/>
                </a:solidFill>
                <a:latin typeface="Arial MT"/>
                <a:cs typeface="Arial MT"/>
              </a:rPr>
              <a:t>into</a:t>
            </a:r>
            <a:r>
              <a:rPr dirty="0" sz="1250" spc="1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a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clean,</a:t>
            </a:r>
            <a:r>
              <a:rPr dirty="0" sz="1250" spc="1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encoded,</a:t>
            </a:r>
            <a:r>
              <a:rPr dirty="0" sz="125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55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25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feature-rich</a:t>
            </a:r>
            <a:r>
              <a:rPr dirty="0" sz="1250" spc="1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dataset</a:t>
            </a:r>
            <a:r>
              <a:rPr dirty="0" sz="1250" spc="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ready</a:t>
            </a:r>
            <a:r>
              <a:rPr dirty="0" sz="1250" spc="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55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dirty="0" sz="1250" spc="1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supervised</a:t>
            </a:r>
            <a:r>
              <a:rPr dirty="0" sz="125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learning.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49000" y="653415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1143000" y="0"/>
                </a:moveTo>
                <a:lnTo>
                  <a:pt x="0" y="0"/>
                </a:lnTo>
                <a:lnTo>
                  <a:pt x="0" y="323850"/>
                </a:lnTo>
                <a:lnTo>
                  <a:pt x="1143000" y="323850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9287" y="590549"/>
            <a:ext cx="3829685" cy="4724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900" spc="190"/>
              <a:t>System</a:t>
            </a:r>
            <a:r>
              <a:rPr dirty="0" sz="2900" spc="80"/>
              <a:t> </a:t>
            </a:r>
            <a:r>
              <a:rPr dirty="0" sz="2900" spc="110"/>
              <a:t>Architecture</a:t>
            </a:r>
            <a:endParaRPr sz="2900"/>
          </a:p>
        </p:txBody>
      </p:sp>
      <p:sp>
        <p:nvSpPr>
          <p:cNvPr id="4" name="object 4"/>
          <p:cNvSpPr txBox="1"/>
          <p:nvPr/>
        </p:nvSpPr>
        <p:spPr>
          <a:xfrm>
            <a:off x="649287" y="1306067"/>
            <a:ext cx="10522585" cy="7861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200"/>
              </a:lnSpc>
              <a:spcBef>
                <a:spcPts val="95"/>
              </a:spcBef>
            </a:pP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r>
              <a:rPr dirty="0" sz="1100" spc="9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end-</a:t>
            </a:r>
            <a:r>
              <a:rPr dirty="0" sz="1100" spc="60">
                <a:solidFill>
                  <a:srgbClr val="403B4E"/>
                </a:solidFill>
                <a:latin typeface="Arial MT"/>
                <a:cs typeface="Arial MT"/>
              </a:rPr>
              <a:t>to-end</a:t>
            </a:r>
            <a:r>
              <a:rPr dirty="0" sz="11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403B4E"/>
                </a:solidFill>
                <a:latin typeface="Arial MT"/>
                <a:cs typeface="Arial MT"/>
              </a:rPr>
              <a:t>architecture</a:t>
            </a:r>
            <a:r>
              <a:rPr dirty="0" sz="1100" spc="9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403B4E"/>
                </a:solidFill>
                <a:latin typeface="Arial MT"/>
                <a:cs typeface="Arial MT"/>
              </a:rPr>
              <a:t>follows</a:t>
            </a:r>
            <a:r>
              <a:rPr dirty="0" sz="1100" spc="1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a linear</a:t>
            </a:r>
            <a:r>
              <a:rPr dirty="0" sz="1100" spc="1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data-</a:t>
            </a:r>
            <a:r>
              <a:rPr dirty="0" sz="1100" spc="60">
                <a:solidFill>
                  <a:srgbClr val="403B4E"/>
                </a:solidFill>
                <a:latin typeface="Arial MT"/>
                <a:cs typeface="Arial MT"/>
              </a:rPr>
              <a:t>to-</a:t>
            </a:r>
            <a:r>
              <a:rPr dirty="0" sz="1100" spc="45">
                <a:solidFill>
                  <a:srgbClr val="403B4E"/>
                </a:solidFill>
                <a:latin typeface="Arial MT"/>
                <a:cs typeface="Arial MT"/>
              </a:rPr>
              <a:t>insight</a:t>
            </a:r>
            <a:r>
              <a:rPr dirty="0" sz="110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403B4E"/>
                </a:solidFill>
                <a:latin typeface="Arial MT"/>
                <a:cs typeface="Arial MT"/>
              </a:rPr>
              <a:t>pipeline</a:t>
            </a:r>
            <a:r>
              <a:rPr dirty="0" sz="110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—</a:t>
            </a:r>
            <a:r>
              <a:rPr dirty="0" sz="1100" spc="8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0">
                <a:solidFill>
                  <a:srgbClr val="403B4E"/>
                </a:solidFill>
                <a:latin typeface="Arial MT"/>
                <a:cs typeface="Arial MT"/>
              </a:rPr>
              <a:t>from</a:t>
            </a:r>
            <a:r>
              <a:rPr dirty="0" sz="110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403B4E"/>
                </a:solidFill>
                <a:latin typeface="Arial MT"/>
                <a:cs typeface="Arial MT"/>
              </a:rPr>
              <a:t>raw</a:t>
            </a:r>
            <a:r>
              <a:rPr dirty="0" sz="110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Big</a:t>
            </a:r>
            <a:r>
              <a:rPr dirty="0" sz="11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90">
                <a:solidFill>
                  <a:srgbClr val="403B4E"/>
                </a:solidFill>
                <a:latin typeface="Arial MT"/>
                <a:cs typeface="Arial MT"/>
              </a:rPr>
              <a:t>Mart</a:t>
            </a:r>
            <a:r>
              <a:rPr dirty="0" sz="110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403B4E"/>
                </a:solidFill>
                <a:latin typeface="Arial MT"/>
                <a:cs typeface="Arial MT"/>
              </a:rPr>
              <a:t>records</a:t>
            </a:r>
            <a:r>
              <a:rPr dirty="0" sz="110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403B4E"/>
                </a:solidFill>
                <a:latin typeface="Arial MT"/>
                <a:cs typeface="Arial MT"/>
              </a:rPr>
              <a:t>through</a:t>
            </a:r>
            <a:r>
              <a:rPr dirty="0" sz="11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403B4E"/>
                </a:solidFill>
                <a:latin typeface="Arial MT"/>
                <a:cs typeface="Arial MT"/>
              </a:rPr>
              <a:t>preprocessing</a:t>
            </a:r>
            <a:r>
              <a:rPr dirty="0" sz="1100" spc="114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1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403B4E"/>
                </a:solidFill>
                <a:latin typeface="Arial MT"/>
                <a:cs typeface="Arial MT"/>
              </a:rPr>
              <a:t>modelling</a:t>
            </a:r>
            <a:r>
              <a:rPr dirty="0" sz="110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0">
                <a:solidFill>
                  <a:srgbClr val="403B4E"/>
                </a:solidFill>
                <a:latin typeface="Arial MT"/>
                <a:cs typeface="Arial MT"/>
              </a:rPr>
              <a:t>to</a:t>
            </a:r>
            <a:r>
              <a:rPr dirty="0" sz="110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actionable</a:t>
            </a:r>
            <a:r>
              <a:rPr dirty="0" sz="1100" spc="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03B4E"/>
                </a:solidFill>
                <a:latin typeface="Arial MT"/>
                <a:cs typeface="Arial MT"/>
              </a:rPr>
              <a:t>sales </a:t>
            </a:r>
            <a:r>
              <a:rPr dirty="0" sz="1100" spc="40">
                <a:solidFill>
                  <a:srgbClr val="403B4E"/>
                </a:solidFill>
                <a:latin typeface="Arial MT"/>
                <a:cs typeface="Arial MT"/>
              </a:rPr>
              <a:t>predictions.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5511800" algn="l"/>
              </a:tabLst>
            </a:pPr>
            <a:r>
              <a:rPr dirty="0" sz="1100" spc="-25">
                <a:solidFill>
                  <a:srgbClr val="403B4E"/>
                </a:solidFill>
                <a:latin typeface="Cambria"/>
                <a:cs typeface="Cambria"/>
              </a:rPr>
              <a:t>01</a:t>
            </a:r>
            <a:r>
              <a:rPr dirty="0" sz="1100">
                <a:solidFill>
                  <a:srgbClr val="403B4E"/>
                </a:solidFill>
                <a:latin typeface="Cambria"/>
                <a:cs typeface="Cambria"/>
              </a:rPr>
              <a:t>	</a:t>
            </a:r>
            <a:r>
              <a:rPr dirty="0" sz="1100" spc="85">
                <a:solidFill>
                  <a:srgbClr val="403B4E"/>
                </a:solidFill>
                <a:latin typeface="Cambria"/>
                <a:cs typeface="Cambria"/>
              </a:rPr>
              <a:t>02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7225" y="2143125"/>
            <a:ext cx="5381625" cy="19050"/>
          </a:xfrm>
          <a:custGeom>
            <a:avLst/>
            <a:gdLst/>
            <a:ahLst/>
            <a:cxnLst/>
            <a:rect l="l" t="t" r="r" b="b"/>
            <a:pathLst>
              <a:path w="5381625" h="19050">
                <a:moveTo>
                  <a:pt x="5381625" y="0"/>
                </a:moveTo>
                <a:lnTo>
                  <a:pt x="0" y="0"/>
                </a:lnTo>
                <a:lnTo>
                  <a:pt x="0" y="19050"/>
                </a:lnTo>
                <a:lnTo>
                  <a:pt x="5381625" y="19050"/>
                </a:lnTo>
                <a:lnTo>
                  <a:pt x="5381625" y="0"/>
                </a:lnTo>
                <a:close/>
              </a:path>
            </a:pathLst>
          </a:custGeom>
          <a:solidFill>
            <a:srgbClr val="FFAC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49287" y="2239962"/>
            <a:ext cx="4576445" cy="5353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65" b="1">
                <a:solidFill>
                  <a:srgbClr val="403B4E"/>
                </a:solidFill>
                <a:latin typeface="Cambria"/>
                <a:cs typeface="Cambria"/>
              </a:rPr>
              <a:t>Dataset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100" spc="20">
                <a:solidFill>
                  <a:srgbClr val="403B4E"/>
                </a:solidFill>
                <a:latin typeface="Arial MT"/>
                <a:cs typeface="Arial MT"/>
              </a:rPr>
              <a:t>Load Train.csv</a:t>
            </a:r>
            <a:r>
              <a:rPr dirty="0" sz="110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10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Test.csv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75">
                <a:solidFill>
                  <a:srgbClr val="403B4E"/>
                </a:solidFill>
                <a:latin typeface="Arial MT"/>
                <a:cs typeface="Arial MT"/>
              </a:rPr>
              <a:t>into</a:t>
            </a:r>
            <a:r>
              <a:rPr dirty="0" sz="110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403B4E"/>
                </a:solidFill>
                <a:latin typeface="Arial MT"/>
                <a:cs typeface="Arial MT"/>
              </a:rPr>
              <a:t>Pandas</a:t>
            </a:r>
            <a:r>
              <a:rPr dirty="0" sz="11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403B4E"/>
                </a:solidFill>
                <a:latin typeface="Arial MT"/>
                <a:cs typeface="Arial MT"/>
              </a:rPr>
              <a:t>DataFrames</a:t>
            </a:r>
            <a:r>
              <a:rPr dirty="0" sz="110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dirty="0" sz="1100" spc="1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03B4E"/>
                </a:solidFill>
                <a:latin typeface="Arial MT"/>
                <a:cs typeface="Arial MT"/>
              </a:rPr>
              <a:t>processing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53150" y="2143125"/>
            <a:ext cx="5381625" cy="19050"/>
          </a:xfrm>
          <a:custGeom>
            <a:avLst/>
            <a:gdLst/>
            <a:ahLst/>
            <a:cxnLst/>
            <a:rect l="l" t="t" r="r" b="b"/>
            <a:pathLst>
              <a:path w="5381625" h="19050">
                <a:moveTo>
                  <a:pt x="5381625" y="0"/>
                </a:moveTo>
                <a:lnTo>
                  <a:pt x="0" y="0"/>
                </a:lnTo>
                <a:lnTo>
                  <a:pt x="0" y="19050"/>
                </a:lnTo>
                <a:lnTo>
                  <a:pt x="5381625" y="19050"/>
                </a:lnTo>
                <a:lnTo>
                  <a:pt x="5381625" y="0"/>
                </a:lnTo>
                <a:close/>
              </a:path>
            </a:pathLst>
          </a:custGeom>
          <a:solidFill>
            <a:srgbClr val="FFAC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148451" y="2239962"/>
            <a:ext cx="4130040" cy="5353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80" b="1">
                <a:solidFill>
                  <a:srgbClr val="403B4E"/>
                </a:solidFill>
                <a:latin typeface="Cambria"/>
                <a:cs typeface="Cambria"/>
              </a:rPr>
              <a:t>Data</a:t>
            </a:r>
            <a:r>
              <a:rPr dirty="0" sz="1400" spc="2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400" spc="75" b="1">
                <a:solidFill>
                  <a:srgbClr val="403B4E"/>
                </a:solidFill>
                <a:latin typeface="Cambria"/>
                <a:cs typeface="Cambria"/>
              </a:rPr>
              <a:t>Preprocessing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100" spc="20">
                <a:solidFill>
                  <a:srgbClr val="403B4E"/>
                </a:solidFill>
                <a:latin typeface="Arial MT"/>
                <a:cs typeface="Arial MT"/>
              </a:rPr>
              <a:t>Clean,</a:t>
            </a:r>
            <a:r>
              <a:rPr dirty="0" sz="1100" spc="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65">
                <a:solidFill>
                  <a:srgbClr val="403B4E"/>
                </a:solidFill>
                <a:latin typeface="Arial MT"/>
                <a:cs typeface="Arial MT"/>
              </a:rPr>
              <a:t>transform,</a:t>
            </a:r>
            <a:r>
              <a:rPr dirty="0" sz="1100" spc="60">
                <a:solidFill>
                  <a:srgbClr val="403B4E"/>
                </a:solidFill>
                <a:latin typeface="Arial MT"/>
                <a:cs typeface="Arial MT"/>
              </a:rPr>
              <a:t> and</a:t>
            </a:r>
            <a:r>
              <a:rPr dirty="0" sz="1100" spc="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403B4E"/>
                </a:solidFill>
                <a:latin typeface="Arial MT"/>
                <a:cs typeface="Arial MT"/>
              </a:rPr>
              <a:t>engineer</a:t>
            </a:r>
            <a:r>
              <a:rPr dirty="0" sz="11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403B4E"/>
                </a:solidFill>
                <a:latin typeface="Arial MT"/>
                <a:cs typeface="Arial MT"/>
              </a:rPr>
              <a:t>features</a:t>
            </a:r>
            <a:r>
              <a:rPr dirty="0" sz="110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0">
                <a:solidFill>
                  <a:srgbClr val="403B4E"/>
                </a:solidFill>
                <a:latin typeface="Arial MT"/>
                <a:cs typeface="Arial MT"/>
              </a:rPr>
              <a:t>from</a:t>
            </a:r>
            <a:r>
              <a:rPr dirty="0" sz="1100" spc="1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403B4E"/>
                </a:solidFill>
                <a:latin typeface="Arial MT"/>
                <a:cs typeface="Arial MT"/>
              </a:rPr>
              <a:t>raw</a:t>
            </a:r>
            <a:r>
              <a:rPr dirty="0" sz="1100" spc="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403B4E"/>
                </a:solidFill>
                <a:latin typeface="Arial MT"/>
                <a:cs typeface="Arial MT"/>
              </a:rPr>
              <a:t>retail</a:t>
            </a:r>
            <a:r>
              <a:rPr dirty="0" sz="110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403B4E"/>
                </a:solidFill>
                <a:latin typeface="Arial MT"/>
                <a:cs typeface="Arial MT"/>
              </a:rPr>
              <a:t>data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9287" y="3008566"/>
            <a:ext cx="205104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65">
                <a:solidFill>
                  <a:srgbClr val="403B4E"/>
                </a:solidFill>
                <a:latin typeface="Cambria"/>
                <a:cs typeface="Cambria"/>
              </a:rPr>
              <a:t>03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57225" y="3257550"/>
            <a:ext cx="5381625" cy="19050"/>
          </a:xfrm>
          <a:custGeom>
            <a:avLst/>
            <a:gdLst/>
            <a:ahLst/>
            <a:cxnLst/>
            <a:rect l="l" t="t" r="r" b="b"/>
            <a:pathLst>
              <a:path w="5381625" h="19050">
                <a:moveTo>
                  <a:pt x="5381625" y="0"/>
                </a:moveTo>
                <a:lnTo>
                  <a:pt x="0" y="0"/>
                </a:lnTo>
                <a:lnTo>
                  <a:pt x="0" y="19050"/>
                </a:lnTo>
                <a:lnTo>
                  <a:pt x="5381625" y="19050"/>
                </a:lnTo>
                <a:lnTo>
                  <a:pt x="5381625" y="0"/>
                </a:lnTo>
                <a:close/>
              </a:path>
            </a:pathLst>
          </a:custGeom>
          <a:solidFill>
            <a:srgbClr val="FFAC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49287" y="3354323"/>
            <a:ext cx="4291330" cy="534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125" b="1">
                <a:solidFill>
                  <a:srgbClr val="403B4E"/>
                </a:solidFill>
                <a:latin typeface="Cambria"/>
                <a:cs typeface="Cambria"/>
              </a:rPr>
              <a:t>Missing</a:t>
            </a:r>
            <a:r>
              <a:rPr dirty="0" sz="1400" spc="9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400" spc="65" b="1">
                <a:solidFill>
                  <a:srgbClr val="403B4E"/>
                </a:solidFill>
                <a:latin typeface="Cambria"/>
                <a:cs typeface="Cambria"/>
              </a:rPr>
              <a:t>Value</a:t>
            </a:r>
            <a:r>
              <a:rPr dirty="0" sz="1400" spc="4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400" spc="95" b="1">
                <a:solidFill>
                  <a:srgbClr val="403B4E"/>
                </a:solidFill>
                <a:latin typeface="Cambria"/>
                <a:cs typeface="Cambria"/>
              </a:rPr>
              <a:t>Handling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1100" spc="75">
                <a:solidFill>
                  <a:srgbClr val="403B4E"/>
                </a:solidFill>
                <a:latin typeface="Arial MT"/>
                <a:cs typeface="Arial MT"/>
              </a:rPr>
              <a:t>Impute</a:t>
            </a:r>
            <a:r>
              <a:rPr dirty="0" sz="11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gaps</a:t>
            </a:r>
            <a:r>
              <a:rPr dirty="0" sz="110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using</a:t>
            </a:r>
            <a:r>
              <a:rPr dirty="0" sz="1100" spc="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403B4E"/>
                </a:solidFill>
                <a:latin typeface="Arial MT"/>
                <a:cs typeface="Arial MT"/>
              </a:rPr>
              <a:t>median</a:t>
            </a:r>
            <a:r>
              <a:rPr dirty="0" sz="110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10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80">
                <a:solidFill>
                  <a:srgbClr val="403B4E"/>
                </a:solidFill>
                <a:latin typeface="Arial MT"/>
                <a:cs typeface="Arial MT"/>
              </a:rPr>
              <a:t>mode</a:t>
            </a:r>
            <a:r>
              <a:rPr dirty="0" sz="1100" spc="114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strategies</a:t>
            </a:r>
            <a:r>
              <a:rPr dirty="0" sz="1100" spc="1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dirty="0" sz="110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403B4E"/>
                </a:solidFill>
                <a:latin typeface="Arial MT"/>
                <a:cs typeface="Arial MT"/>
              </a:rPr>
              <a:t>robustness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48451" y="3008566"/>
            <a:ext cx="21590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105">
                <a:solidFill>
                  <a:srgbClr val="403B4E"/>
                </a:solidFill>
                <a:latin typeface="Cambria"/>
                <a:cs typeface="Cambria"/>
              </a:rPr>
              <a:t>04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153150" y="3257550"/>
            <a:ext cx="5381625" cy="19050"/>
          </a:xfrm>
          <a:custGeom>
            <a:avLst/>
            <a:gdLst/>
            <a:ahLst/>
            <a:cxnLst/>
            <a:rect l="l" t="t" r="r" b="b"/>
            <a:pathLst>
              <a:path w="5381625" h="19050">
                <a:moveTo>
                  <a:pt x="5381625" y="0"/>
                </a:moveTo>
                <a:lnTo>
                  <a:pt x="0" y="0"/>
                </a:lnTo>
                <a:lnTo>
                  <a:pt x="0" y="19050"/>
                </a:lnTo>
                <a:lnTo>
                  <a:pt x="5381625" y="19050"/>
                </a:lnTo>
                <a:lnTo>
                  <a:pt x="5381625" y="0"/>
                </a:lnTo>
                <a:close/>
              </a:path>
            </a:pathLst>
          </a:custGeom>
          <a:solidFill>
            <a:srgbClr val="FFAC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148451" y="3354323"/>
            <a:ext cx="3957954" cy="534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75" b="1">
                <a:solidFill>
                  <a:srgbClr val="403B4E"/>
                </a:solidFill>
                <a:latin typeface="Cambria"/>
                <a:cs typeface="Cambria"/>
              </a:rPr>
              <a:t>Label</a:t>
            </a:r>
            <a:r>
              <a:rPr dirty="0" sz="1400" spc="3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400" spc="95" b="1">
                <a:solidFill>
                  <a:srgbClr val="403B4E"/>
                </a:solidFill>
                <a:latin typeface="Cambria"/>
                <a:cs typeface="Cambria"/>
              </a:rPr>
              <a:t>Encoding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1100" spc="45">
                <a:solidFill>
                  <a:srgbClr val="403B4E"/>
                </a:solidFill>
                <a:latin typeface="Arial MT"/>
                <a:cs typeface="Arial MT"/>
              </a:rPr>
              <a:t>Convert</a:t>
            </a:r>
            <a:r>
              <a:rPr dirty="0" sz="11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403B4E"/>
                </a:solidFill>
                <a:latin typeface="Arial MT"/>
                <a:cs typeface="Arial MT"/>
              </a:rPr>
              <a:t>categorical</a:t>
            </a:r>
            <a:r>
              <a:rPr dirty="0" sz="110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403B4E"/>
                </a:solidFill>
                <a:latin typeface="Arial MT"/>
                <a:cs typeface="Arial MT"/>
              </a:rPr>
              <a:t>features</a:t>
            </a:r>
            <a:r>
              <a:rPr dirty="0" sz="1100" spc="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75">
                <a:solidFill>
                  <a:srgbClr val="403B4E"/>
                </a:solidFill>
                <a:latin typeface="Arial MT"/>
                <a:cs typeface="Arial MT"/>
              </a:rPr>
              <a:t>into</a:t>
            </a:r>
            <a:r>
              <a:rPr dirty="0" sz="110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65">
                <a:solidFill>
                  <a:srgbClr val="403B4E"/>
                </a:solidFill>
                <a:latin typeface="Arial MT"/>
                <a:cs typeface="Arial MT"/>
              </a:rPr>
              <a:t>numeric</a:t>
            </a:r>
            <a:r>
              <a:rPr dirty="0" sz="1100" spc="40">
                <a:solidFill>
                  <a:srgbClr val="403B4E"/>
                </a:solidFill>
                <a:latin typeface="Arial MT"/>
                <a:cs typeface="Arial MT"/>
              </a:rPr>
              <a:t> representations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9287" y="4123054"/>
            <a:ext cx="208915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75">
                <a:solidFill>
                  <a:srgbClr val="403B4E"/>
                </a:solidFill>
                <a:latin typeface="Cambria"/>
                <a:cs typeface="Cambria"/>
              </a:rPr>
              <a:t>05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57225" y="4371975"/>
            <a:ext cx="5381625" cy="19050"/>
          </a:xfrm>
          <a:custGeom>
            <a:avLst/>
            <a:gdLst/>
            <a:ahLst/>
            <a:cxnLst/>
            <a:rect l="l" t="t" r="r" b="b"/>
            <a:pathLst>
              <a:path w="5381625" h="19050">
                <a:moveTo>
                  <a:pt x="5381625" y="0"/>
                </a:moveTo>
                <a:lnTo>
                  <a:pt x="0" y="0"/>
                </a:lnTo>
                <a:lnTo>
                  <a:pt x="0" y="19050"/>
                </a:lnTo>
                <a:lnTo>
                  <a:pt x="5381625" y="19050"/>
                </a:lnTo>
                <a:lnTo>
                  <a:pt x="5381625" y="0"/>
                </a:lnTo>
                <a:close/>
              </a:path>
            </a:pathLst>
          </a:custGeom>
          <a:solidFill>
            <a:srgbClr val="FFAC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49287" y="4467796"/>
            <a:ext cx="3168015" cy="5353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140" b="1">
                <a:solidFill>
                  <a:srgbClr val="403B4E"/>
                </a:solidFill>
                <a:latin typeface="Cambria"/>
                <a:cs typeface="Cambria"/>
              </a:rPr>
              <a:t>Train-</a:t>
            </a:r>
            <a:r>
              <a:rPr dirty="0" sz="1400" spc="95" b="1">
                <a:solidFill>
                  <a:srgbClr val="403B4E"/>
                </a:solidFill>
                <a:latin typeface="Cambria"/>
                <a:cs typeface="Cambria"/>
              </a:rPr>
              <a:t>Test</a:t>
            </a:r>
            <a:r>
              <a:rPr dirty="0" sz="1400" spc="25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400" spc="55" b="1">
                <a:solidFill>
                  <a:srgbClr val="403B4E"/>
                </a:solidFill>
                <a:latin typeface="Cambria"/>
                <a:cs typeface="Cambria"/>
              </a:rPr>
              <a:t>Split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100" spc="55">
                <a:solidFill>
                  <a:srgbClr val="403B4E"/>
                </a:solidFill>
                <a:latin typeface="Arial MT"/>
                <a:cs typeface="Arial MT"/>
              </a:rPr>
              <a:t>Partition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403B4E"/>
                </a:solidFill>
                <a:latin typeface="Arial MT"/>
                <a:cs typeface="Arial MT"/>
              </a:rPr>
              <a:t>training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data</a:t>
            </a:r>
            <a:r>
              <a:rPr dirty="0" sz="1100" spc="9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dirty="0" sz="1100" spc="10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65">
                <a:solidFill>
                  <a:srgbClr val="403B4E"/>
                </a:solidFill>
                <a:latin typeface="Arial MT"/>
                <a:cs typeface="Arial MT"/>
              </a:rPr>
              <a:t>model</a:t>
            </a:r>
            <a:r>
              <a:rPr dirty="0" sz="110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35">
                <a:solidFill>
                  <a:srgbClr val="403B4E"/>
                </a:solidFill>
                <a:latin typeface="Arial MT"/>
                <a:cs typeface="Arial MT"/>
              </a:rPr>
              <a:t>validation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48451" y="4123054"/>
            <a:ext cx="21971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120">
                <a:solidFill>
                  <a:srgbClr val="403B4E"/>
                </a:solidFill>
                <a:latin typeface="Cambria"/>
                <a:cs typeface="Cambria"/>
              </a:rPr>
              <a:t>06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153150" y="4371975"/>
            <a:ext cx="5381625" cy="19050"/>
          </a:xfrm>
          <a:custGeom>
            <a:avLst/>
            <a:gdLst/>
            <a:ahLst/>
            <a:cxnLst/>
            <a:rect l="l" t="t" r="r" b="b"/>
            <a:pathLst>
              <a:path w="5381625" h="19050">
                <a:moveTo>
                  <a:pt x="5381625" y="0"/>
                </a:moveTo>
                <a:lnTo>
                  <a:pt x="0" y="0"/>
                </a:lnTo>
                <a:lnTo>
                  <a:pt x="0" y="19050"/>
                </a:lnTo>
                <a:lnTo>
                  <a:pt x="5381625" y="19050"/>
                </a:lnTo>
                <a:lnTo>
                  <a:pt x="5381625" y="0"/>
                </a:lnTo>
                <a:close/>
              </a:path>
            </a:pathLst>
          </a:custGeom>
          <a:solidFill>
            <a:srgbClr val="FFAC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148451" y="4467796"/>
            <a:ext cx="4107815" cy="5353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114" b="1">
                <a:solidFill>
                  <a:srgbClr val="403B4E"/>
                </a:solidFill>
                <a:latin typeface="Cambria"/>
                <a:cs typeface="Cambria"/>
              </a:rPr>
              <a:t>XGBoost</a:t>
            </a:r>
            <a:r>
              <a:rPr dirty="0" sz="1400" spc="10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400" spc="70" b="1">
                <a:solidFill>
                  <a:srgbClr val="403B4E"/>
                </a:solidFill>
                <a:latin typeface="Cambria"/>
                <a:cs typeface="Cambria"/>
              </a:rPr>
              <a:t>Regressor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Train</a:t>
            </a:r>
            <a:r>
              <a:rPr dirty="0" sz="1100" spc="1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r>
              <a:rPr dirty="0" sz="1100" spc="1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403B4E"/>
                </a:solidFill>
                <a:latin typeface="Arial MT"/>
                <a:cs typeface="Arial MT"/>
              </a:rPr>
              <a:t>gradient-</a:t>
            </a:r>
            <a:r>
              <a:rPr dirty="0" sz="1100" spc="55">
                <a:solidFill>
                  <a:srgbClr val="403B4E"/>
                </a:solidFill>
                <a:latin typeface="Arial MT"/>
                <a:cs typeface="Arial MT"/>
              </a:rPr>
              <a:t>boosted</a:t>
            </a:r>
            <a:r>
              <a:rPr dirty="0" sz="1100" spc="1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403B4E"/>
                </a:solidFill>
                <a:latin typeface="Arial MT"/>
                <a:cs typeface="Arial MT"/>
              </a:rPr>
              <a:t>ensemble</a:t>
            </a:r>
            <a:r>
              <a:rPr dirty="0" sz="1100" spc="1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65">
                <a:solidFill>
                  <a:srgbClr val="403B4E"/>
                </a:solidFill>
                <a:latin typeface="Arial MT"/>
                <a:cs typeface="Arial MT"/>
              </a:rPr>
              <a:t>on</a:t>
            </a:r>
            <a:r>
              <a:rPr dirty="0" sz="1100" spc="1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processed</a:t>
            </a:r>
            <a:r>
              <a:rPr dirty="0" sz="110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40">
                <a:solidFill>
                  <a:srgbClr val="403B4E"/>
                </a:solidFill>
                <a:latin typeface="Arial MT"/>
                <a:cs typeface="Arial MT"/>
              </a:rPr>
              <a:t>features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9287" y="5236527"/>
            <a:ext cx="20891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80">
                <a:solidFill>
                  <a:srgbClr val="403B4E"/>
                </a:solidFill>
                <a:latin typeface="Cambria"/>
                <a:cs typeface="Cambria"/>
              </a:rPr>
              <a:t>07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57225" y="5486400"/>
            <a:ext cx="5381625" cy="19050"/>
          </a:xfrm>
          <a:custGeom>
            <a:avLst/>
            <a:gdLst/>
            <a:ahLst/>
            <a:cxnLst/>
            <a:rect l="l" t="t" r="r" b="b"/>
            <a:pathLst>
              <a:path w="5381625" h="19050">
                <a:moveTo>
                  <a:pt x="5381625" y="0"/>
                </a:moveTo>
                <a:lnTo>
                  <a:pt x="0" y="0"/>
                </a:lnTo>
                <a:lnTo>
                  <a:pt x="0" y="19050"/>
                </a:lnTo>
                <a:lnTo>
                  <a:pt x="5381625" y="19050"/>
                </a:lnTo>
                <a:lnTo>
                  <a:pt x="5381625" y="0"/>
                </a:lnTo>
                <a:close/>
              </a:path>
            </a:pathLst>
          </a:custGeom>
          <a:solidFill>
            <a:srgbClr val="FFAC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49287" y="5581967"/>
            <a:ext cx="3027045" cy="5353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60" b="1">
                <a:solidFill>
                  <a:srgbClr val="403B4E"/>
                </a:solidFill>
                <a:latin typeface="Cambria"/>
                <a:cs typeface="Cambria"/>
              </a:rPr>
              <a:t>Prediction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100" spc="45">
                <a:solidFill>
                  <a:srgbClr val="403B4E"/>
                </a:solidFill>
                <a:latin typeface="Arial MT"/>
                <a:cs typeface="Arial MT"/>
              </a:rPr>
              <a:t>Generate</a:t>
            </a:r>
            <a:r>
              <a:rPr dirty="0" sz="1100" spc="1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sales</a:t>
            </a:r>
            <a:r>
              <a:rPr dirty="0" sz="1100" spc="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forecasts</a:t>
            </a:r>
            <a:r>
              <a:rPr dirty="0" sz="1100" spc="1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dirty="0" sz="1100" spc="1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r>
              <a:rPr dirty="0" sz="1100" spc="1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403B4E"/>
                </a:solidFill>
                <a:latin typeface="Arial MT"/>
                <a:cs typeface="Arial MT"/>
              </a:rPr>
              <a:t>test</a:t>
            </a:r>
            <a:r>
              <a:rPr dirty="0" sz="1100" spc="1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03B4E"/>
                </a:solidFill>
                <a:latin typeface="Arial MT"/>
                <a:cs typeface="Arial MT"/>
              </a:rPr>
              <a:t>dataset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48451" y="5236527"/>
            <a:ext cx="21526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105">
                <a:solidFill>
                  <a:srgbClr val="403B4E"/>
                </a:solidFill>
                <a:latin typeface="Cambria"/>
                <a:cs typeface="Cambria"/>
              </a:rPr>
              <a:t>08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153150" y="5486400"/>
            <a:ext cx="5381625" cy="19050"/>
          </a:xfrm>
          <a:custGeom>
            <a:avLst/>
            <a:gdLst/>
            <a:ahLst/>
            <a:cxnLst/>
            <a:rect l="l" t="t" r="r" b="b"/>
            <a:pathLst>
              <a:path w="5381625" h="19050">
                <a:moveTo>
                  <a:pt x="5381625" y="0"/>
                </a:moveTo>
                <a:lnTo>
                  <a:pt x="0" y="0"/>
                </a:lnTo>
                <a:lnTo>
                  <a:pt x="0" y="19050"/>
                </a:lnTo>
                <a:lnTo>
                  <a:pt x="5381625" y="19050"/>
                </a:lnTo>
                <a:lnTo>
                  <a:pt x="5381625" y="0"/>
                </a:lnTo>
                <a:close/>
              </a:path>
            </a:pathLst>
          </a:custGeom>
          <a:solidFill>
            <a:srgbClr val="FFAC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148451" y="5581967"/>
            <a:ext cx="3548379" cy="5353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90" b="1">
                <a:solidFill>
                  <a:srgbClr val="403B4E"/>
                </a:solidFill>
                <a:latin typeface="Cambria"/>
                <a:cs typeface="Cambria"/>
              </a:rPr>
              <a:t>Performance</a:t>
            </a:r>
            <a:r>
              <a:rPr dirty="0" sz="1400" spc="45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400" spc="70" b="1">
                <a:solidFill>
                  <a:srgbClr val="403B4E"/>
                </a:solidFill>
                <a:latin typeface="Cambria"/>
                <a:cs typeface="Cambria"/>
              </a:rPr>
              <a:t>Evaluation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Assess</a:t>
            </a:r>
            <a:r>
              <a:rPr dirty="0" sz="1100" spc="1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accuracy</a:t>
            </a:r>
            <a:r>
              <a:rPr dirty="0" sz="1100" spc="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using</a:t>
            </a:r>
            <a:r>
              <a:rPr dirty="0" sz="1100" spc="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R²</a:t>
            </a:r>
            <a:r>
              <a:rPr dirty="0" sz="1100" spc="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score</a:t>
            </a:r>
            <a:r>
              <a:rPr dirty="0" sz="1100" spc="1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100" spc="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403B4E"/>
                </a:solidFill>
                <a:latin typeface="Arial MT"/>
                <a:cs typeface="Arial MT"/>
              </a:rPr>
              <a:t>residual</a:t>
            </a:r>
            <a:r>
              <a:rPr dirty="0" sz="1100" spc="-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03B4E"/>
                </a:solidFill>
                <a:latin typeface="Arial MT"/>
                <a:cs typeface="Arial MT"/>
              </a:rPr>
              <a:t>analysis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0" y="0"/>
            <a:ext cx="4572000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6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175"/>
              <a:t>XGBoost</a:t>
            </a:r>
            <a:r>
              <a:rPr dirty="0" sz="2600" spc="15"/>
              <a:t> </a:t>
            </a:r>
            <a:r>
              <a:rPr dirty="0" sz="2600" spc="100"/>
              <a:t>Regressor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649287" y="1390718"/>
            <a:ext cx="3337560" cy="1485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8600"/>
              </a:lnSpc>
              <a:spcBef>
                <a:spcPts val="95"/>
              </a:spcBef>
            </a:pP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XGBoost</a:t>
            </a:r>
            <a:r>
              <a:rPr dirty="0" sz="950" spc="2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(eXtreme</a:t>
            </a:r>
            <a:r>
              <a:rPr dirty="0" sz="950" spc="1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Gradient</a:t>
            </a:r>
            <a:r>
              <a:rPr dirty="0" sz="950" spc="2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Boosting)</a:t>
            </a:r>
            <a:r>
              <a:rPr dirty="0" sz="950" spc="18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is</a:t>
            </a:r>
            <a:r>
              <a:rPr dirty="0" sz="950" spc="1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an</a:t>
            </a:r>
            <a:r>
              <a:rPr dirty="0" sz="950" spc="1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40">
                <a:solidFill>
                  <a:srgbClr val="403B4E"/>
                </a:solidFill>
                <a:latin typeface="Arial MT"/>
                <a:cs typeface="Arial MT"/>
              </a:rPr>
              <a:t>optimised </a:t>
            </a:r>
            <a:r>
              <a:rPr dirty="0" sz="950" spc="60">
                <a:solidFill>
                  <a:srgbClr val="403B4E"/>
                </a:solidFill>
                <a:latin typeface="Arial MT"/>
                <a:cs typeface="Arial MT"/>
              </a:rPr>
              <a:t>distributed</a:t>
            </a:r>
            <a:r>
              <a:rPr dirty="0" sz="950" spc="1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45">
                <a:solidFill>
                  <a:srgbClr val="403B4E"/>
                </a:solidFill>
                <a:latin typeface="Arial MT"/>
                <a:cs typeface="Arial MT"/>
              </a:rPr>
              <a:t>gradient-</a:t>
            </a:r>
            <a:r>
              <a:rPr dirty="0" sz="950" spc="50">
                <a:solidFill>
                  <a:srgbClr val="403B4E"/>
                </a:solidFill>
                <a:latin typeface="Arial MT"/>
                <a:cs typeface="Arial MT"/>
              </a:rPr>
              <a:t>boosting</a:t>
            </a:r>
            <a:r>
              <a:rPr dirty="0" sz="950" spc="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50">
                <a:solidFill>
                  <a:srgbClr val="403B4E"/>
                </a:solidFill>
                <a:latin typeface="Arial MT"/>
                <a:cs typeface="Arial MT"/>
              </a:rPr>
              <a:t>library</a:t>
            </a:r>
            <a:r>
              <a:rPr dirty="0" sz="950" spc="5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designed</a:t>
            </a:r>
            <a:r>
              <a:rPr dirty="0" sz="950" spc="1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60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dirty="0" sz="950" spc="8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403B4E"/>
                </a:solidFill>
                <a:latin typeface="Arial MT"/>
                <a:cs typeface="Arial MT"/>
              </a:rPr>
              <a:t>speed </a:t>
            </a:r>
            <a:r>
              <a:rPr dirty="0" sz="950" spc="7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950" spc="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55">
                <a:solidFill>
                  <a:srgbClr val="403B4E"/>
                </a:solidFill>
                <a:latin typeface="Arial MT"/>
                <a:cs typeface="Arial MT"/>
              </a:rPr>
              <a:t>performance.</a:t>
            </a:r>
            <a:r>
              <a:rPr dirty="0" sz="95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55">
                <a:solidFill>
                  <a:srgbClr val="403B4E"/>
                </a:solidFill>
                <a:latin typeface="Arial MT"/>
                <a:cs typeface="Arial MT"/>
              </a:rPr>
              <a:t>It</a:t>
            </a:r>
            <a:r>
              <a:rPr dirty="0" sz="95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builds</a:t>
            </a:r>
            <a:r>
              <a:rPr dirty="0" sz="95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an</a:t>
            </a:r>
            <a:r>
              <a:rPr dirty="0" sz="950" spc="9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45">
                <a:solidFill>
                  <a:srgbClr val="403B4E"/>
                </a:solidFill>
                <a:latin typeface="Arial MT"/>
                <a:cs typeface="Arial MT"/>
              </a:rPr>
              <a:t>ensemble</a:t>
            </a:r>
            <a:r>
              <a:rPr dirty="0" sz="950" spc="65">
                <a:solidFill>
                  <a:srgbClr val="403B4E"/>
                </a:solidFill>
                <a:latin typeface="Arial MT"/>
                <a:cs typeface="Arial MT"/>
              </a:rPr>
              <a:t> of</a:t>
            </a:r>
            <a:r>
              <a:rPr dirty="0" sz="950" spc="5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403B4E"/>
                </a:solidFill>
                <a:latin typeface="Arial MT"/>
                <a:cs typeface="Arial MT"/>
              </a:rPr>
              <a:t>weak</a:t>
            </a:r>
            <a:r>
              <a:rPr dirty="0" sz="950" spc="5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45">
                <a:solidFill>
                  <a:srgbClr val="403B4E"/>
                </a:solidFill>
                <a:latin typeface="Arial MT"/>
                <a:cs typeface="Arial MT"/>
              </a:rPr>
              <a:t>learners</a:t>
            </a:r>
            <a:r>
              <a:rPr dirty="0" sz="950" spc="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20">
                <a:solidFill>
                  <a:srgbClr val="403B4E"/>
                </a:solidFill>
                <a:latin typeface="Arial MT"/>
                <a:cs typeface="Arial MT"/>
              </a:rPr>
              <a:t>sequentially,</a:t>
            </a:r>
            <a:r>
              <a:rPr dirty="0" sz="95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20">
                <a:solidFill>
                  <a:srgbClr val="403B4E"/>
                </a:solidFill>
                <a:latin typeface="Arial MT"/>
                <a:cs typeface="Arial MT"/>
              </a:rPr>
              <a:t>each</a:t>
            </a:r>
            <a:r>
              <a:rPr dirty="0" sz="950" spc="8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45">
                <a:solidFill>
                  <a:srgbClr val="403B4E"/>
                </a:solidFill>
                <a:latin typeface="Arial MT"/>
                <a:cs typeface="Arial MT"/>
              </a:rPr>
              <a:t>correcting</a:t>
            </a:r>
            <a:r>
              <a:rPr dirty="0" sz="95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60">
                <a:solidFill>
                  <a:srgbClr val="403B4E"/>
                </a:solidFill>
                <a:latin typeface="Arial MT"/>
                <a:cs typeface="Arial MT"/>
              </a:rPr>
              <a:t>errors</a:t>
            </a:r>
            <a:r>
              <a:rPr dirty="0" sz="950" spc="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85">
                <a:solidFill>
                  <a:srgbClr val="403B4E"/>
                </a:solidFill>
                <a:latin typeface="Arial MT"/>
                <a:cs typeface="Arial MT"/>
              </a:rPr>
              <a:t>from</a:t>
            </a:r>
            <a:r>
              <a:rPr dirty="0" sz="95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403B4E"/>
                </a:solidFill>
                <a:latin typeface="Arial MT"/>
                <a:cs typeface="Arial MT"/>
              </a:rPr>
              <a:t>its </a:t>
            </a:r>
            <a:r>
              <a:rPr dirty="0" sz="950" spc="-10">
                <a:solidFill>
                  <a:srgbClr val="403B4E"/>
                </a:solidFill>
                <a:latin typeface="Arial MT"/>
                <a:cs typeface="Arial MT"/>
              </a:rPr>
              <a:t>predecessor.</a:t>
            </a:r>
            <a:endParaRPr sz="950">
              <a:latin typeface="Arial MT"/>
              <a:cs typeface="Arial MT"/>
            </a:endParaRPr>
          </a:p>
          <a:p>
            <a:pPr marL="12700" marR="259715">
              <a:lnSpc>
                <a:spcPct val="118600"/>
              </a:lnSpc>
              <a:spcBef>
                <a:spcPts val="675"/>
              </a:spcBef>
            </a:pPr>
            <a:r>
              <a:rPr dirty="0" sz="950">
                <a:solidFill>
                  <a:srgbClr val="403B4E"/>
                </a:solidFill>
                <a:latin typeface="Arial Black"/>
                <a:cs typeface="Arial Black"/>
              </a:rPr>
              <a:t>Why</a:t>
            </a:r>
            <a:r>
              <a:rPr dirty="0" sz="950" spc="70">
                <a:solidFill>
                  <a:srgbClr val="403B4E"/>
                </a:solidFill>
                <a:latin typeface="Arial Black"/>
                <a:cs typeface="Arial Black"/>
              </a:rPr>
              <a:t> </a:t>
            </a:r>
            <a:r>
              <a:rPr dirty="0" sz="950" spc="-60">
                <a:solidFill>
                  <a:srgbClr val="403B4E"/>
                </a:solidFill>
                <a:latin typeface="Arial Black"/>
                <a:cs typeface="Arial Black"/>
              </a:rPr>
              <a:t>XGBoost?</a:t>
            </a:r>
            <a:r>
              <a:rPr dirty="0" sz="950" spc="40">
                <a:solidFill>
                  <a:srgbClr val="403B4E"/>
                </a:solidFill>
                <a:latin typeface="Arial Black"/>
                <a:cs typeface="Arial Black"/>
              </a:rPr>
              <a:t> </a:t>
            </a:r>
            <a:r>
              <a:rPr dirty="0" sz="950" spc="55">
                <a:solidFill>
                  <a:srgbClr val="403B4E"/>
                </a:solidFill>
                <a:latin typeface="Arial MT"/>
                <a:cs typeface="Arial MT"/>
              </a:rPr>
              <a:t>It</a:t>
            </a:r>
            <a:r>
              <a:rPr dirty="0" sz="950" spc="1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403B4E"/>
                </a:solidFill>
                <a:latin typeface="Arial MT"/>
                <a:cs typeface="Arial MT"/>
              </a:rPr>
              <a:t>consistently</a:t>
            </a:r>
            <a:r>
              <a:rPr dirty="0" sz="950" spc="1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70">
                <a:solidFill>
                  <a:srgbClr val="403B4E"/>
                </a:solidFill>
                <a:latin typeface="Arial MT"/>
                <a:cs typeface="Arial MT"/>
              </a:rPr>
              <a:t>outperforms</a:t>
            </a:r>
            <a:r>
              <a:rPr dirty="0" sz="950" spc="1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45">
                <a:solidFill>
                  <a:srgbClr val="403B4E"/>
                </a:solidFill>
                <a:latin typeface="Arial MT"/>
                <a:cs typeface="Arial MT"/>
              </a:rPr>
              <a:t>other </a:t>
            </a:r>
            <a:r>
              <a:rPr dirty="0" sz="950" spc="20">
                <a:solidFill>
                  <a:srgbClr val="403B4E"/>
                </a:solidFill>
                <a:latin typeface="Arial MT"/>
                <a:cs typeface="Arial MT"/>
              </a:rPr>
              <a:t>regression</a:t>
            </a:r>
            <a:r>
              <a:rPr dirty="0" sz="950" spc="8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55">
                <a:solidFill>
                  <a:srgbClr val="403B4E"/>
                </a:solidFill>
                <a:latin typeface="Arial MT"/>
                <a:cs typeface="Arial MT"/>
              </a:rPr>
              <a:t>algorithms</a:t>
            </a:r>
            <a:r>
              <a:rPr dirty="0" sz="95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65">
                <a:solidFill>
                  <a:srgbClr val="403B4E"/>
                </a:solidFill>
                <a:latin typeface="Arial MT"/>
                <a:cs typeface="Arial MT"/>
              </a:rPr>
              <a:t>on</a:t>
            </a:r>
            <a:r>
              <a:rPr dirty="0" sz="950" spc="8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55">
                <a:solidFill>
                  <a:srgbClr val="403B4E"/>
                </a:solidFill>
                <a:latin typeface="Arial MT"/>
                <a:cs typeface="Arial MT"/>
              </a:rPr>
              <a:t>tabular</a:t>
            </a:r>
            <a:r>
              <a:rPr dirty="0" sz="950" spc="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20">
                <a:solidFill>
                  <a:srgbClr val="403B4E"/>
                </a:solidFill>
                <a:latin typeface="Arial MT"/>
                <a:cs typeface="Arial MT"/>
              </a:rPr>
              <a:t>data,</a:t>
            </a:r>
            <a:r>
              <a:rPr dirty="0" sz="95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50">
                <a:solidFill>
                  <a:srgbClr val="403B4E"/>
                </a:solidFill>
                <a:latin typeface="Arial MT"/>
                <a:cs typeface="Arial MT"/>
              </a:rPr>
              <a:t>making</a:t>
            </a:r>
            <a:r>
              <a:rPr dirty="0" sz="95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20">
                <a:solidFill>
                  <a:srgbClr val="403B4E"/>
                </a:solidFill>
                <a:latin typeface="Arial MT"/>
                <a:cs typeface="Arial MT"/>
              </a:rPr>
              <a:t>it</a:t>
            </a:r>
            <a:r>
              <a:rPr dirty="0" sz="95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40">
                <a:solidFill>
                  <a:srgbClr val="403B4E"/>
                </a:solidFill>
                <a:latin typeface="Arial MT"/>
                <a:cs typeface="Arial MT"/>
              </a:rPr>
              <a:t>the </a:t>
            </a:r>
            <a:r>
              <a:rPr dirty="0" sz="950" spc="55">
                <a:solidFill>
                  <a:srgbClr val="403B4E"/>
                </a:solidFill>
                <a:latin typeface="Arial MT"/>
                <a:cs typeface="Arial MT"/>
              </a:rPr>
              <a:t>natural</a:t>
            </a:r>
            <a:r>
              <a:rPr dirty="0" sz="95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choice</a:t>
            </a:r>
            <a:r>
              <a:rPr dirty="0" sz="950" spc="8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85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dirty="0" sz="950" spc="8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Big</a:t>
            </a:r>
            <a:r>
              <a:rPr dirty="0" sz="950" spc="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Mart's</a:t>
            </a:r>
            <a:r>
              <a:rPr dirty="0" sz="950" spc="9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60">
                <a:solidFill>
                  <a:srgbClr val="403B4E"/>
                </a:solidFill>
                <a:latin typeface="Arial MT"/>
                <a:cs typeface="Arial MT"/>
              </a:rPr>
              <a:t>structured</a:t>
            </a:r>
            <a:r>
              <a:rPr dirty="0" sz="950" spc="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403B4E"/>
                </a:solidFill>
                <a:latin typeface="Arial MT"/>
                <a:cs typeface="Arial MT"/>
              </a:rPr>
              <a:t>dataset.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308647" y="1442233"/>
            <a:ext cx="2651125" cy="955040"/>
            <a:chOff x="4308647" y="1442233"/>
            <a:chExt cx="2651125" cy="955040"/>
          </a:xfrm>
        </p:grpSpPr>
        <p:sp>
          <p:nvSpPr>
            <p:cNvPr id="6" name="object 6"/>
            <p:cNvSpPr/>
            <p:nvPr/>
          </p:nvSpPr>
          <p:spPr>
            <a:xfrm>
              <a:off x="4308647" y="1442233"/>
              <a:ext cx="2651125" cy="955040"/>
            </a:xfrm>
            <a:custGeom>
              <a:avLst/>
              <a:gdLst/>
              <a:ahLst/>
              <a:cxnLst/>
              <a:rect l="l" t="t" r="r" b="b"/>
              <a:pathLst>
                <a:path w="2651125" h="955039">
                  <a:moveTo>
                    <a:pt x="13527" y="13969"/>
                  </a:moveTo>
                  <a:lnTo>
                    <a:pt x="3626" y="27939"/>
                  </a:lnTo>
                  <a:lnTo>
                    <a:pt x="0" y="45719"/>
                  </a:lnTo>
                  <a:lnTo>
                    <a:pt x="0" y="909320"/>
                  </a:lnTo>
                  <a:lnTo>
                    <a:pt x="820" y="918210"/>
                  </a:lnTo>
                  <a:lnTo>
                    <a:pt x="937" y="919480"/>
                  </a:lnTo>
                  <a:lnTo>
                    <a:pt x="46145" y="955040"/>
                  </a:lnTo>
                  <a:lnTo>
                    <a:pt x="2604966" y="955040"/>
                  </a:lnTo>
                  <a:lnTo>
                    <a:pt x="2637530" y="942340"/>
                  </a:lnTo>
                  <a:lnTo>
                    <a:pt x="2639791" y="937265"/>
                  </a:lnTo>
                  <a:lnTo>
                    <a:pt x="43392" y="937264"/>
                  </a:lnTo>
                  <a:lnTo>
                    <a:pt x="42245" y="935990"/>
                  </a:lnTo>
                  <a:lnTo>
                    <a:pt x="38063" y="935990"/>
                  </a:lnTo>
                  <a:lnTo>
                    <a:pt x="37192" y="934720"/>
                  </a:lnTo>
                  <a:lnTo>
                    <a:pt x="34875" y="934720"/>
                  </a:lnTo>
                  <a:lnTo>
                    <a:pt x="34115" y="933450"/>
                  </a:lnTo>
                  <a:lnTo>
                    <a:pt x="32229" y="933450"/>
                  </a:lnTo>
                  <a:lnTo>
                    <a:pt x="30145" y="932180"/>
                  </a:lnTo>
                  <a:lnTo>
                    <a:pt x="30475" y="932180"/>
                  </a:lnTo>
                  <a:lnTo>
                    <a:pt x="28745" y="930910"/>
                  </a:lnTo>
                  <a:lnTo>
                    <a:pt x="28196" y="930910"/>
                  </a:lnTo>
                  <a:lnTo>
                    <a:pt x="27202" y="929640"/>
                  </a:lnTo>
                  <a:lnTo>
                    <a:pt x="27336" y="929640"/>
                  </a:lnTo>
                  <a:lnTo>
                    <a:pt x="25737" y="927275"/>
                  </a:lnTo>
                  <a:lnTo>
                    <a:pt x="25618" y="927100"/>
                  </a:lnTo>
                  <a:lnTo>
                    <a:pt x="26095" y="927100"/>
                  </a:lnTo>
                  <a:lnTo>
                    <a:pt x="24367" y="925830"/>
                  </a:lnTo>
                  <a:lnTo>
                    <a:pt x="24071" y="925830"/>
                  </a:lnTo>
                  <a:lnTo>
                    <a:pt x="23559" y="924878"/>
                  </a:lnTo>
                  <a:lnTo>
                    <a:pt x="23258" y="924638"/>
                  </a:lnTo>
                  <a:lnTo>
                    <a:pt x="23094" y="924638"/>
                  </a:lnTo>
                  <a:lnTo>
                    <a:pt x="23059" y="923992"/>
                  </a:lnTo>
                  <a:lnTo>
                    <a:pt x="22853" y="923290"/>
                  </a:lnTo>
                  <a:lnTo>
                    <a:pt x="22155" y="923290"/>
                  </a:lnTo>
                  <a:lnTo>
                    <a:pt x="21764" y="922020"/>
                  </a:lnTo>
                  <a:lnTo>
                    <a:pt x="21603" y="920750"/>
                  </a:lnTo>
                  <a:lnTo>
                    <a:pt x="21079" y="920750"/>
                  </a:lnTo>
                  <a:lnTo>
                    <a:pt x="20696" y="919480"/>
                  </a:lnTo>
                  <a:lnTo>
                    <a:pt x="20563" y="918210"/>
                  </a:lnTo>
                  <a:lnTo>
                    <a:pt x="20165" y="918210"/>
                  </a:lnTo>
                  <a:lnTo>
                    <a:pt x="19527" y="915670"/>
                  </a:lnTo>
                  <a:lnTo>
                    <a:pt x="19434" y="914400"/>
                  </a:lnTo>
                  <a:lnTo>
                    <a:pt x="19346" y="41523"/>
                  </a:lnTo>
                  <a:lnTo>
                    <a:pt x="19687" y="39369"/>
                  </a:lnTo>
                  <a:lnTo>
                    <a:pt x="19981" y="39369"/>
                  </a:lnTo>
                  <a:lnTo>
                    <a:pt x="19991" y="38099"/>
                  </a:lnTo>
                  <a:lnTo>
                    <a:pt x="20397" y="36829"/>
                  </a:lnTo>
                  <a:lnTo>
                    <a:pt x="20599" y="36829"/>
                  </a:lnTo>
                  <a:lnTo>
                    <a:pt x="21200" y="35559"/>
                  </a:lnTo>
                  <a:lnTo>
                    <a:pt x="21419" y="34289"/>
                  </a:lnTo>
                  <a:lnTo>
                    <a:pt x="21811" y="34289"/>
                  </a:lnTo>
                  <a:lnTo>
                    <a:pt x="22207" y="33019"/>
                  </a:lnTo>
                  <a:lnTo>
                    <a:pt x="22636" y="31749"/>
                  </a:lnTo>
                  <a:lnTo>
                    <a:pt x="23174" y="31749"/>
                  </a:lnTo>
                  <a:lnTo>
                    <a:pt x="24018" y="30479"/>
                  </a:lnTo>
                  <a:lnTo>
                    <a:pt x="24615" y="29209"/>
                  </a:lnTo>
                  <a:lnTo>
                    <a:pt x="25727" y="27939"/>
                  </a:lnTo>
                  <a:lnTo>
                    <a:pt x="26371" y="27939"/>
                  </a:lnTo>
                  <a:lnTo>
                    <a:pt x="13527" y="13969"/>
                  </a:lnTo>
                  <a:close/>
                </a:path>
                <a:path w="2651125" h="955039">
                  <a:moveTo>
                    <a:pt x="2639951" y="935990"/>
                  </a:moveTo>
                  <a:lnTo>
                    <a:pt x="2610444" y="935990"/>
                  </a:lnTo>
                  <a:lnTo>
                    <a:pt x="2606404" y="937265"/>
                  </a:lnTo>
                  <a:lnTo>
                    <a:pt x="2639791" y="937265"/>
                  </a:lnTo>
                  <a:lnTo>
                    <a:pt x="2639891" y="937042"/>
                  </a:lnTo>
                  <a:lnTo>
                    <a:pt x="2639951" y="935990"/>
                  </a:lnTo>
                  <a:close/>
                </a:path>
                <a:path w="2651125" h="955039">
                  <a:moveTo>
                    <a:pt x="37192" y="934720"/>
                  </a:moveTo>
                  <a:lnTo>
                    <a:pt x="38073" y="935990"/>
                  </a:lnTo>
                  <a:lnTo>
                    <a:pt x="38865" y="935990"/>
                  </a:lnTo>
                  <a:lnTo>
                    <a:pt x="37192" y="934720"/>
                  </a:lnTo>
                  <a:close/>
                </a:path>
                <a:path w="2651125" h="955039">
                  <a:moveTo>
                    <a:pt x="37431" y="934720"/>
                  </a:moveTo>
                  <a:lnTo>
                    <a:pt x="37192" y="934720"/>
                  </a:lnTo>
                  <a:lnTo>
                    <a:pt x="38865" y="935990"/>
                  </a:lnTo>
                  <a:lnTo>
                    <a:pt x="38073" y="935990"/>
                  </a:lnTo>
                  <a:lnTo>
                    <a:pt x="37431" y="934720"/>
                  </a:lnTo>
                  <a:close/>
                </a:path>
                <a:path w="2651125" h="955039">
                  <a:moveTo>
                    <a:pt x="2640996" y="933450"/>
                  </a:moveTo>
                  <a:lnTo>
                    <a:pt x="2617052" y="933450"/>
                  </a:lnTo>
                  <a:lnTo>
                    <a:pt x="2615587" y="934720"/>
                  </a:lnTo>
                  <a:lnTo>
                    <a:pt x="2613104" y="935990"/>
                  </a:lnTo>
                  <a:lnTo>
                    <a:pt x="2640211" y="935990"/>
                  </a:lnTo>
                  <a:lnTo>
                    <a:pt x="2640425" y="934720"/>
                  </a:lnTo>
                  <a:lnTo>
                    <a:pt x="2640843" y="934720"/>
                  </a:lnTo>
                  <a:lnTo>
                    <a:pt x="2640996" y="933450"/>
                  </a:lnTo>
                  <a:close/>
                </a:path>
                <a:path w="2651125" h="955039">
                  <a:moveTo>
                    <a:pt x="31358" y="932180"/>
                  </a:moveTo>
                  <a:lnTo>
                    <a:pt x="30145" y="932180"/>
                  </a:lnTo>
                  <a:lnTo>
                    <a:pt x="32261" y="933450"/>
                  </a:lnTo>
                  <a:lnTo>
                    <a:pt x="31358" y="932180"/>
                  </a:lnTo>
                  <a:close/>
                </a:path>
                <a:path w="2651125" h="955039">
                  <a:moveTo>
                    <a:pt x="31358" y="932180"/>
                  </a:moveTo>
                  <a:lnTo>
                    <a:pt x="32229" y="933450"/>
                  </a:lnTo>
                  <a:lnTo>
                    <a:pt x="32597" y="933450"/>
                  </a:lnTo>
                  <a:lnTo>
                    <a:pt x="31358" y="932180"/>
                  </a:lnTo>
                  <a:close/>
                </a:path>
                <a:path w="2651125" h="955039">
                  <a:moveTo>
                    <a:pt x="2619810" y="932180"/>
                  </a:moveTo>
                  <a:lnTo>
                    <a:pt x="2617813" y="933450"/>
                  </a:lnTo>
                  <a:lnTo>
                    <a:pt x="2618908" y="933450"/>
                  </a:lnTo>
                  <a:lnTo>
                    <a:pt x="2619810" y="932180"/>
                  </a:lnTo>
                  <a:close/>
                </a:path>
                <a:path w="2651125" h="955039">
                  <a:moveTo>
                    <a:pt x="2642538" y="930910"/>
                  </a:moveTo>
                  <a:lnTo>
                    <a:pt x="2622423" y="930910"/>
                  </a:lnTo>
                  <a:lnTo>
                    <a:pt x="2619810" y="932180"/>
                  </a:lnTo>
                  <a:lnTo>
                    <a:pt x="2618908" y="933450"/>
                  </a:lnTo>
                  <a:lnTo>
                    <a:pt x="2620995" y="932180"/>
                  </a:lnTo>
                  <a:lnTo>
                    <a:pt x="2641945" y="932180"/>
                  </a:lnTo>
                  <a:lnTo>
                    <a:pt x="2642538" y="930910"/>
                  </a:lnTo>
                  <a:close/>
                </a:path>
                <a:path w="2651125" h="955039">
                  <a:moveTo>
                    <a:pt x="2641945" y="932180"/>
                  </a:moveTo>
                  <a:lnTo>
                    <a:pt x="2620995" y="932180"/>
                  </a:lnTo>
                  <a:lnTo>
                    <a:pt x="2618908" y="933450"/>
                  </a:lnTo>
                  <a:lnTo>
                    <a:pt x="2641267" y="933450"/>
                  </a:lnTo>
                  <a:lnTo>
                    <a:pt x="2641945" y="932180"/>
                  </a:lnTo>
                  <a:close/>
                </a:path>
                <a:path w="2651125" h="955039">
                  <a:moveTo>
                    <a:pt x="27505" y="929889"/>
                  </a:moveTo>
                  <a:lnTo>
                    <a:pt x="28196" y="930910"/>
                  </a:lnTo>
                  <a:lnTo>
                    <a:pt x="27863" y="930184"/>
                  </a:lnTo>
                  <a:lnTo>
                    <a:pt x="27505" y="929889"/>
                  </a:lnTo>
                  <a:close/>
                </a:path>
                <a:path w="2651125" h="955039">
                  <a:moveTo>
                    <a:pt x="27863" y="930184"/>
                  </a:moveTo>
                  <a:lnTo>
                    <a:pt x="28196" y="930910"/>
                  </a:lnTo>
                  <a:lnTo>
                    <a:pt x="28745" y="930910"/>
                  </a:lnTo>
                  <a:lnTo>
                    <a:pt x="27863" y="930184"/>
                  </a:lnTo>
                  <a:close/>
                </a:path>
                <a:path w="2651125" h="955039">
                  <a:moveTo>
                    <a:pt x="2625116" y="927481"/>
                  </a:moveTo>
                  <a:lnTo>
                    <a:pt x="2624103" y="928370"/>
                  </a:lnTo>
                  <a:lnTo>
                    <a:pt x="2622936" y="930910"/>
                  </a:lnTo>
                  <a:lnTo>
                    <a:pt x="2623806" y="929640"/>
                  </a:lnTo>
                  <a:lnTo>
                    <a:pt x="2625116" y="927481"/>
                  </a:lnTo>
                  <a:close/>
                </a:path>
                <a:path w="2651125" h="955039">
                  <a:moveTo>
                    <a:pt x="25813" y="927275"/>
                  </a:moveTo>
                  <a:lnTo>
                    <a:pt x="25876" y="927481"/>
                  </a:lnTo>
                  <a:lnTo>
                    <a:pt x="27505" y="929889"/>
                  </a:lnTo>
                  <a:lnTo>
                    <a:pt x="27863" y="930184"/>
                  </a:lnTo>
                  <a:lnTo>
                    <a:pt x="27032" y="928370"/>
                  </a:lnTo>
                  <a:lnTo>
                    <a:pt x="25813" y="927275"/>
                  </a:lnTo>
                  <a:close/>
                </a:path>
                <a:path w="2651125" h="955039">
                  <a:moveTo>
                    <a:pt x="27336" y="929640"/>
                  </a:moveTo>
                  <a:lnTo>
                    <a:pt x="27202" y="929640"/>
                  </a:lnTo>
                  <a:lnTo>
                    <a:pt x="27505" y="929889"/>
                  </a:lnTo>
                  <a:lnTo>
                    <a:pt x="27336" y="929640"/>
                  </a:lnTo>
                  <a:close/>
                </a:path>
                <a:path w="2651125" h="955039">
                  <a:moveTo>
                    <a:pt x="2646288" y="920750"/>
                  </a:moveTo>
                  <a:lnTo>
                    <a:pt x="2629600" y="920750"/>
                  </a:lnTo>
                  <a:lnTo>
                    <a:pt x="2628979" y="922020"/>
                  </a:lnTo>
                  <a:lnTo>
                    <a:pt x="2629263" y="922020"/>
                  </a:lnTo>
                  <a:lnTo>
                    <a:pt x="2628779" y="923290"/>
                  </a:lnTo>
                  <a:lnTo>
                    <a:pt x="2627122" y="925830"/>
                  </a:lnTo>
                  <a:lnTo>
                    <a:pt x="2626606" y="925830"/>
                  </a:lnTo>
                  <a:lnTo>
                    <a:pt x="2626098" y="926299"/>
                  </a:lnTo>
                  <a:lnTo>
                    <a:pt x="2625551" y="927100"/>
                  </a:lnTo>
                  <a:lnTo>
                    <a:pt x="2625288" y="927276"/>
                  </a:lnTo>
                  <a:lnTo>
                    <a:pt x="2625119" y="927481"/>
                  </a:lnTo>
                  <a:lnTo>
                    <a:pt x="2623814" y="929640"/>
                  </a:lnTo>
                  <a:lnTo>
                    <a:pt x="2643067" y="929640"/>
                  </a:lnTo>
                  <a:lnTo>
                    <a:pt x="2643529" y="927481"/>
                  </a:lnTo>
                  <a:lnTo>
                    <a:pt x="2643611" y="927100"/>
                  </a:lnTo>
                  <a:lnTo>
                    <a:pt x="2644423" y="925830"/>
                  </a:lnTo>
                  <a:lnTo>
                    <a:pt x="2626985" y="925830"/>
                  </a:lnTo>
                  <a:lnTo>
                    <a:pt x="2627574" y="924879"/>
                  </a:lnTo>
                  <a:lnTo>
                    <a:pt x="2644776" y="924879"/>
                  </a:lnTo>
                  <a:lnTo>
                    <a:pt x="2645364" y="923290"/>
                  </a:lnTo>
                  <a:lnTo>
                    <a:pt x="2646004" y="922020"/>
                  </a:lnTo>
                  <a:lnTo>
                    <a:pt x="2646288" y="920750"/>
                  </a:lnTo>
                  <a:close/>
                </a:path>
                <a:path w="2651125" h="955039">
                  <a:moveTo>
                    <a:pt x="26095" y="927100"/>
                  </a:moveTo>
                  <a:lnTo>
                    <a:pt x="25618" y="927100"/>
                  </a:lnTo>
                  <a:lnTo>
                    <a:pt x="27033" y="928370"/>
                  </a:lnTo>
                  <a:lnTo>
                    <a:pt x="26095" y="927100"/>
                  </a:lnTo>
                  <a:close/>
                </a:path>
                <a:path w="2651125" h="955039">
                  <a:moveTo>
                    <a:pt x="2625250" y="927276"/>
                  </a:moveTo>
                  <a:lnTo>
                    <a:pt x="2624958" y="927481"/>
                  </a:lnTo>
                  <a:lnTo>
                    <a:pt x="2624103" y="928370"/>
                  </a:lnTo>
                  <a:lnTo>
                    <a:pt x="2625116" y="927481"/>
                  </a:lnTo>
                  <a:lnTo>
                    <a:pt x="2625250" y="927276"/>
                  </a:lnTo>
                  <a:close/>
                </a:path>
                <a:path w="2651125" h="955039">
                  <a:moveTo>
                    <a:pt x="23481" y="924878"/>
                  </a:moveTo>
                  <a:lnTo>
                    <a:pt x="24071" y="925830"/>
                  </a:lnTo>
                  <a:lnTo>
                    <a:pt x="24367" y="925830"/>
                  </a:lnTo>
                  <a:lnTo>
                    <a:pt x="23481" y="924878"/>
                  </a:lnTo>
                  <a:close/>
                </a:path>
                <a:path w="2651125" h="955039">
                  <a:moveTo>
                    <a:pt x="2627889" y="924639"/>
                  </a:moveTo>
                  <a:lnTo>
                    <a:pt x="2627574" y="924879"/>
                  </a:lnTo>
                  <a:lnTo>
                    <a:pt x="2626985" y="925830"/>
                  </a:lnTo>
                  <a:lnTo>
                    <a:pt x="2627730" y="924879"/>
                  </a:lnTo>
                  <a:lnTo>
                    <a:pt x="2627827" y="924639"/>
                  </a:lnTo>
                  <a:close/>
                </a:path>
                <a:path w="2651125" h="955039">
                  <a:moveTo>
                    <a:pt x="23020" y="923290"/>
                  </a:moveTo>
                  <a:lnTo>
                    <a:pt x="22853" y="923290"/>
                  </a:lnTo>
                  <a:lnTo>
                    <a:pt x="22984" y="923992"/>
                  </a:lnTo>
                  <a:lnTo>
                    <a:pt x="23020" y="923290"/>
                  </a:lnTo>
                  <a:close/>
                </a:path>
                <a:path w="2651125" h="955039">
                  <a:moveTo>
                    <a:pt x="22014" y="922020"/>
                  </a:moveTo>
                  <a:lnTo>
                    <a:pt x="21764" y="922020"/>
                  </a:lnTo>
                  <a:lnTo>
                    <a:pt x="22198" y="923290"/>
                  </a:lnTo>
                  <a:lnTo>
                    <a:pt x="22014" y="922020"/>
                  </a:lnTo>
                  <a:close/>
                </a:path>
                <a:path w="2651125" h="955039">
                  <a:moveTo>
                    <a:pt x="22115" y="922020"/>
                  </a:moveTo>
                  <a:lnTo>
                    <a:pt x="21935" y="922020"/>
                  </a:lnTo>
                  <a:lnTo>
                    <a:pt x="22256" y="923290"/>
                  </a:lnTo>
                  <a:lnTo>
                    <a:pt x="22705" y="923290"/>
                  </a:lnTo>
                  <a:lnTo>
                    <a:pt x="22115" y="922020"/>
                  </a:lnTo>
                  <a:close/>
                </a:path>
                <a:path w="2651125" h="955039">
                  <a:moveTo>
                    <a:pt x="2647356" y="918210"/>
                  </a:moveTo>
                  <a:lnTo>
                    <a:pt x="2630612" y="918210"/>
                  </a:lnTo>
                  <a:lnTo>
                    <a:pt x="2629836" y="920750"/>
                  </a:lnTo>
                  <a:lnTo>
                    <a:pt x="2630033" y="920750"/>
                  </a:lnTo>
                  <a:lnTo>
                    <a:pt x="2630444" y="919480"/>
                  </a:lnTo>
                  <a:lnTo>
                    <a:pt x="2647068" y="919480"/>
                  </a:lnTo>
                  <a:lnTo>
                    <a:pt x="2647356" y="918210"/>
                  </a:lnTo>
                  <a:close/>
                </a:path>
                <a:path w="2651125" h="955039">
                  <a:moveTo>
                    <a:pt x="2647068" y="919480"/>
                  </a:moveTo>
                  <a:lnTo>
                    <a:pt x="2630444" y="919480"/>
                  </a:lnTo>
                  <a:lnTo>
                    <a:pt x="2630033" y="920750"/>
                  </a:lnTo>
                  <a:lnTo>
                    <a:pt x="2646562" y="920750"/>
                  </a:lnTo>
                  <a:lnTo>
                    <a:pt x="2647068" y="919480"/>
                  </a:lnTo>
                  <a:close/>
                </a:path>
                <a:path w="2651125" h="955039">
                  <a:moveTo>
                    <a:pt x="2648588" y="40159"/>
                  </a:moveTo>
                  <a:lnTo>
                    <a:pt x="2631795" y="40159"/>
                  </a:lnTo>
                  <a:lnTo>
                    <a:pt x="2631793" y="914400"/>
                  </a:lnTo>
                  <a:lnTo>
                    <a:pt x="2631511" y="915670"/>
                  </a:lnTo>
                  <a:lnTo>
                    <a:pt x="2631297" y="915670"/>
                  </a:lnTo>
                  <a:lnTo>
                    <a:pt x="2630839" y="918210"/>
                  </a:lnTo>
                  <a:lnTo>
                    <a:pt x="2647710" y="918210"/>
                  </a:lnTo>
                  <a:lnTo>
                    <a:pt x="2649200" y="914400"/>
                  </a:lnTo>
                  <a:lnTo>
                    <a:pt x="2649439" y="913532"/>
                  </a:lnTo>
                  <a:lnTo>
                    <a:pt x="2649549" y="913130"/>
                  </a:lnTo>
                  <a:lnTo>
                    <a:pt x="2649938" y="913130"/>
                  </a:lnTo>
                  <a:lnTo>
                    <a:pt x="2651113" y="909320"/>
                  </a:lnTo>
                  <a:lnTo>
                    <a:pt x="2651112" y="45720"/>
                  </a:lnTo>
                  <a:lnTo>
                    <a:pt x="2649577" y="41931"/>
                  </a:lnTo>
                  <a:lnTo>
                    <a:pt x="2649225" y="41931"/>
                  </a:lnTo>
                  <a:lnTo>
                    <a:pt x="2648588" y="40159"/>
                  </a:lnTo>
                  <a:close/>
                </a:path>
                <a:path w="2651125" h="955039">
                  <a:moveTo>
                    <a:pt x="2647392" y="36830"/>
                  </a:moveTo>
                  <a:lnTo>
                    <a:pt x="2630612" y="36830"/>
                  </a:lnTo>
                  <a:lnTo>
                    <a:pt x="2631225" y="39370"/>
                  </a:lnTo>
                  <a:lnTo>
                    <a:pt x="2631372" y="39370"/>
                  </a:lnTo>
                  <a:lnTo>
                    <a:pt x="2631503" y="40159"/>
                  </a:lnTo>
                  <a:lnTo>
                    <a:pt x="2631618" y="40640"/>
                  </a:lnTo>
                  <a:lnTo>
                    <a:pt x="2631740" y="41523"/>
                  </a:lnTo>
                  <a:lnTo>
                    <a:pt x="2631795" y="40159"/>
                  </a:lnTo>
                  <a:lnTo>
                    <a:pt x="2648588" y="40159"/>
                  </a:lnTo>
                  <a:lnTo>
                    <a:pt x="2647392" y="36830"/>
                  </a:lnTo>
                  <a:close/>
                </a:path>
                <a:path w="2651125" h="955039">
                  <a:moveTo>
                    <a:pt x="2630001" y="35560"/>
                  </a:moveTo>
                  <a:lnTo>
                    <a:pt x="2630255" y="36830"/>
                  </a:lnTo>
                  <a:lnTo>
                    <a:pt x="2630401" y="36830"/>
                  </a:lnTo>
                  <a:lnTo>
                    <a:pt x="2630001" y="35560"/>
                  </a:lnTo>
                  <a:close/>
                </a:path>
                <a:path w="2651125" h="955039">
                  <a:moveTo>
                    <a:pt x="2646304" y="34290"/>
                  </a:moveTo>
                  <a:lnTo>
                    <a:pt x="2629747" y="34290"/>
                  </a:lnTo>
                  <a:lnTo>
                    <a:pt x="2629994" y="35560"/>
                  </a:lnTo>
                  <a:lnTo>
                    <a:pt x="2630444" y="36830"/>
                  </a:lnTo>
                  <a:lnTo>
                    <a:pt x="2647091" y="36830"/>
                  </a:lnTo>
                  <a:lnTo>
                    <a:pt x="2646304" y="34290"/>
                  </a:lnTo>
                  <a:close/>
                </a:path>
                <a:path w="2651125" h="955039">
                  <a:moveTo>
                    <a:pt x="2629600" y="34290"/>
                  </a:moveTo>
                  <a:lnTo>
                    <a:pt x="2629262" y="34290"/>
                  </a:lnTo>
                  <a:lnTo>
                    <a:pt x="2629904" y="35560"/>
                  </a:lnTo>
                  <a:lnTo>
                    <a:pt x="2629600" y="34290"/>
                  </a:lnTo>
                  <a:close/>
                </a:path>
                <a:path w="2651125" h="955039">
                  <a:moveTo>
                    <a:pt x="2629747" y="34290"/>
                  </a:moveTo>
                  <a:lnTo>
                    <a:pt x="2629600" y="34290"/>
                  </a:lnTo>
                  <a:lnTo>
                    <a:pt x="2630001" y="35560"/>
                  </a:lnTo>
                  <a:lnTo>
                    <a:pt x="2629747" y="34290"/>
                  </a:lnTo>
                  <a:close/>
                </a:path>
                <a:path w="2651125" h="955039">
                  <a:moveTo>
                    <a:pt x="2644444" y="30480"/>
                  </a:moveTo>
                  <a:lnTo>
                    <a:pt x="2627694" y="30480"/>
                  </a:lnTo>
                  <a:lnTo>
                    <a:pt x="2628588" y="31750"/>
                  </a:lnTo>
                  <a:lnTo>
                    <a:pt x="2628885" y="33020"/>
                  </a:lnTo>
                  <a:lnTo>
                    <a:pt x="2645813" y="33020"/>
                  </a:lnTo>
                  <a:lnTo>
                    <a:pt x="2645427" y="31750"/>
                  </a:lnTo>
                  <a:lnTo>
                    <a:pt x="2645146" y="31750"/>
                  </a:lnTo>
                  <a:lnTo>
                    <a:pt x="2644444" y="30480"/>
                  </a:lnTo>
                  <a:close/>
                </a:path>
                <a:path w="2651125" h="955039">
                  <a:moveTo>
                    <a:pt x="2627805" y="31130"/>
                  </a:moveTo>
                  <a:lnTo>
                    <a:pt x="2627779" y="31568"/>
                  </a:lnTo>
                  <a:lnTo>
                    <a:pt x="2627912" y="31750"/>
                  </a:lnTo>
                  <a:lnTo>
                    <a:pt x="2628588" y="31750"/>
                  </a:lnTo>
                  <a:lnTo>
                    <a:pt x="2627805" y="31130"/>
                  </a:lnTo>
                  <a:close/>
                </a:path>
                <a:path w="2651125" h="955039">
                  <a:moveTo>
                    <a:pt x="2627694" y="30480"/>
                  </a:moveTo>
                  <a:lnTo>
                    <a:pt x="2627805" y="31130"/>
                  </a:lnTo>
                  <a:lnTo>
                    <a:pt x="2628359" y="31568"/>
                  </a:lnTo>
                  <a:lnTo>
                    <a:pt x="2628151" y="31130"/>
                  </a:lnTo>
                  <a:lnTo>
                    <a:pt x="2627694" y="30480"/>
                  </a:lnTo>
                  <a:close/>
                </a:path>
                <a:path w="2651125" h="955039">
                  <a:moveTo>
                    <a:pt x="2642619" y="25400"/>
                  </a:moveTo>
                  <a:lnTo>
                    <a:pt x="2623022" y="25400"/>
                  </a:lnTo>
                  <a:lnTo>
                    <a:pt x="2625550" y="27940"/>
                  </a:lnTo>
                  <a:lnTo>
                    <a:pt x="2625121" y="27940"/>
                  </a:lnTo>
                  <a:lnTo>
                    <a:pt x="2626985" y="30480"/>
                  </a:lnTo>
                  <a:lnTo>
                    <a:pt x="2627805" y="31130"/>
                  </a:lnTo>
                  <a:lnTo>
                    <a:pt x="2627694" y="30480"/>
                  </a:lnTo>
                  <a:lnTo>
                    <a:pt x="2644444" y="30480"/>
                  </a:lnTo>
                  <a:lnTo>
                    <a:pt x="2643637" y="27940"/>
                  </a:lnTo>
                  <a:lnTo>
                    <a:pt x="2625550" y="27940"/>
                  </a:lnTo>
                  <a:lnTo>
                    <a:pt x="2624642" y="27185"/>
                  </a:lnTo>
                  <a:lnTo>
                    <a:pt x="2643334" y="27185"/>
                  </a:lnTo>
                  <a:lnTo>
                    <a:pt x="2642619" y="25400"/>
                  </a:lnTo>
                  <a:close/>
                </a:path>
                <a:path w="2651125" h="955039">
                  <a:moveTo>
                    <a:pt x="25898" y="27939"/>
                  </a:moveTo>
                  <a:lnTo>
                    <a:pt x="25727" y="27939"/>
                  </a:lnTo>
                  <a:lnTo>
                    <a:pt x="25054" y="29209"/>
                  </a:lnTo>
                  <a:lnTo>
                    <a:pt x="25898" y="27939"/>
                  </a:lnTo>
                  <a:close/>
                </a:path>
                <a:path w="2651125" h="955039">
                  <a:moveTo>
                    <a:pt x="13524" y="13969"/>
                  </a:moveTo>
                  <a:lnTo>
                    <a:pt x="26383" y="27939"/>
                  </a:lnTo>
                  <a:lnTo>
                    <a:pt x="27154" y="26669"/>
                  </a:lnTo>
                  <a:lnTo>
                    <a:pt x="27645" y="26669"/>
                  </a:lnTo>
                  <a:lnTo>
                    <a:pt x="13524" y="13969"/>
                  </a:lnTo>
                  <a:close/>
                </a:path>
                <a:path w="2651125" h="955039">
                  <a:moveTo>
                    <a:pt x="2624286" y="26670"/>
                  </a:moveTo>
                  <a:lnTo>
                    <a:pt x="2624456" y="27031"/>
                  </a:lnTo>
                  <a:lnTo>
                    <a:pt x="2624569" y="27185"/>
                  </a:lnTo>
                  <a:lnTo>
                    <a:pt x="2625550" y="27940"/>
                  </a:lnTo>
                  <a:lnTo>
                    <a:pt x="2624286" y="26670"/>
                  </a:lnTo>
                  <a:close/>
                </a:path>
                <a:path w="2651125" h="955039">
                  <a:moveTo>
                    <a:pt x="2604966" y="0"/>
                  </a:moveTo>
                  <a:lnTo>
                    <a:pt x="46142" y="0"/>
                  </a:lnTo>
                  <a:lnTo>
                    <a:pt x="28182" y="3809"/>
                  </a:lnTo>
                  <a:lnTo>
                    <a:pt x="13527" y="13969"/>
                  </a:lnTo>
                  <a:lnTo>
                    <a:pt x="27645" y="26669"/>
                  </a:lnTo>
                  <a:lnTo>
                    <a:pt x="28921" y="25399"/>
                  </a:lnTo>
                  <a:lnTo>
                    <a:pt x="28764" y="25399"/>
                  </a:lnTo>
                  <a:lnTo>
                    <a:pt x="29718" y="24129"/>
                  </a:lnTo>
                  <a:lnTo>
                    <a:pt x="29913" y="24129"/>
                  </a:lnTo>
                  <a:lnTo>
                    <a:pt x="31829" y="22859"/>
                  </a:lnTo>
                  <a:lnTo>
                    <a:pt x="32483" y="22859"/>
                  </a:lnTo>
                  <a:lnTo>
                    <a:pt x="33411" y="21589"/>
                  </a:lnTo>
                  <a:lnTo>
                    <a:pt x="34943" y="21589"/>
                  </a:lnTo>
                  <a:lnTo>
                    <a:pt x="35739" y="20410"/>
                  </a:lnTo>
                  <a:lnTo>
                    <a:pt x="39376" y="20410"/>
                  </a:lnTo>
                  <a:lnTo>
                    <a:pt x="40378" y="19049"/>
                  </a:lnTo>
                  <a:lnTo>
                    <a:pt x="2639811" y="19050"/>
                  </a:lnTo>
                  <a:lnTo>
                    <a:pt x="2637539" y="13970"/>
                  </a:lnTo>
                  <a:lnTo>
                    <a:pt x="2630710" y="7620"/>
                  </a:lnTo>
                  <a:lnTo>
                    <a:pt x="2622912" y="3810"/>
                  </a:lnTo>
                  <a:lnTo>
                    <a:pt x="2614254" y="1270"/>
                  </a:lnTo>
                  <a:lnTo>
                    <a:pt x="2604966" y="0"/>
                  </a:lnTo>
                  <a:close/>
                </a:path>
                <a:path w="2651125" h="955039">
                  <a:moveTo>
                    <a:pt x="2640568" y="20410"/>
                  </a:moveTo>
                  <a:lnTo>
                    <a:pt x="2615700" y="20410"/>
                  </a:lnTo>
                  <a:lnTo>
                    <a:pt x="2617524" y="21590"/>
                  </a:lnTo>
                  <a:lnTo>
                    <a:pt x="2617877" y="21590"/>
                  </a:lnTo>
                  <a:lnTo>
                    <a:pt x="2619723" y="22860"/>
                  </a:lnTo>
                  <a:lnTo>
                    <a:pt x="2623898" y="26670"/>
                  </a:lnTo>
                  <a:lnTo>
                    <a:pt x="2623005" y="25400"/>
                  </a:lnTo>
                  <a:lnTo>
                    <a:pt x="2642619" y="25400"/>
                  </a:lnTo>
                  <a:lnTo>
                    <a:pt x="2641917" y="24130"/>
                  </a:lnTo>
                  <a:lnTo>
                    <a:pt x="2640934" y="21590"/>
                  </a:lnTo>
                  <a:lnTo>
                    <a:pt x="2640568" y="20410"/>
                  </a:lnTo>
                  <a:close/>
                </a:path>
                <a:path w="2651125" h="955039">
                  <a:moveTo>
                    <a:pt x="2623022" y="25400"/>
                  </a:moveTo>
                  <a:lnTo>
                    <a:pt x="2623898" y="26670"/>
                  </a:lnTo>
                  <a:lnTo>
                    <a:pt x="2624191" y="26670"/>
                  </a:lnTo>
                  <a:lnTo>
                    <a:pt x="2623926" y="26308"/>
                  </a:lnTo>
                  <a:lnTo>
                    <a:pt x="2623022" y="25400"/>
                  </a:lnTo>
                  <a:close/>
                </a:path>
                <a:path w="2651125" h="955039">
                  <a:moveTo>
                    <a:pt x="29718" y="24129"/>
                  </a:moveTo>
                  <a:lnTo>
                    <a:pt x="28764" y="25399"/>
                  </a:lnTo>
                  <a:lnTo>
                    <a:pt x="28921" y="25399"/>
                  </a:lnTo>
                  <a:lnTo>
                    <a:pt x="29718" y="24129"/>
                  </a:lnTo>
                  <a:close/>
                </a:path>
                <a:path w="2651125" h="955039">
                  <a:moveTo>
                    <a:pt x="29913" y="24129"/>
                  </a:moveTo>
                  <a:lnTo>
                    <a:pt x="29718" y="24129"/>
                  </a:lnTo>
                  <a:lnTo>
                    <a:pt x="29012" y="25399"/>
                  </a:lnTo>
                  <a:lnTo>
                    <a:pt x="29913" y="24129"/>
                  </a:lnTo>
                  <a:close/>
                </a:path>
                <a:path w="2651125" h="955039">
                  <a:moveTo>
                    <a:pt x="32067" y="22859"/>
                  </a:moveTo>
                  <a:lnTo>
                    <a:pt x="31829" y="22859"/>
                  </a:lnTo>
                  <a:lnTo>
                    <a:pt x="30760" y="24129"/>
                  </a:lnTo>
                  <a:lnTo>
                    <a:pt x="32067" y="22859"/>
                  </a:lnTo>
                  <a:close/>
                </a:path>
                <a:path w="2651125" h="955039">
                  <a:moveTo>
                    <a:pt x="2619333" y="22860"/>
                  </a:moveTo>
                  <a:lnTo>
                    <a:pt x="2618957" y="22860"/>
                  </a:lnTo>
                  <a:lnTo>
                    <a:pt x="2620486" y="24130"/>
                  </a:lnTo>
                  <a:lnTo>
                    <a:pt x="2619333" y="22860"/>
                  </a:lnTo>
                  <a:close/>
                </a:path>
                <a:path w="2651125" h="955039">
                  <a:moveTo>
                    <a:pt x="34273" y="21589"/>
                  </a:moveTo>
                  <a:lnTo>
                    <a:pt x="33411" y="21589"/>
                  </a:lnTo>
                  <a:lnTo>
                    <a:pt x="32577" y="22859"/>
                  </a:lnTo>
                  <a:lnTo>
                    <a:pt x="34273" y="21589"/>
                  </a:lnTo>
                  <a:close/>
                </a:path>
                <a:path w="2651125" h="955039">
                  <a:moveTo>
                    <a:pt x="2617589" y="21590"/>
                  </a:moveTo>
                  <a:lnTo>
                    <a:pt x="2618795" y="22860"/>
                  </a:lnTo>
                  <a:lnTo>
                    <a:pt x="2619022" y="22860"/>
                  </a:lnTo>
                  <a:lnTo>
                    <a:pt x="2617589" y="21590"/>
                  </a:lnTo>
                  <a:close/>
                </a:path>
                <a:path w="2651125" h="955039">
                  <a:moveTo>
                    <a:pt x="36415" y="20410"/>
                  </a:moveTo>
                  <a:lnTo>
                    <a:pt x="35739" y="20410"/>
                  </a:lnTo>
                  <a:lnTo>
                    <a:pt x="34943" y="21589"/>
                  </a:lnTo>
                  <a:lnTo>
                    <a:pt x="35363" y="21589"/>
                  </a:lnTo>
                  <a:lnTo>
                    <a:pt x="36415" y="20410"/>
                  </a:lnTo>
                  <a:close/>
                </a:path>
                <a:path w="2651125" h="955039">
                  <a:moveTo>
                    <a:pt x="36729" y="20410"/>
                  </a:moveTo>
                  <a:lnTo>
                    <a:pt x="36421" y="20410"/>
                  </a:lnTo>
                  <a:lnTo>
                    <a:pt x="35452" y="21589"/>
                  </a:lnTo>
                  <a:lnTo>
                    <a:pt x="36729" y="20410"/>
                  </a:lnTo>
                  <a:close/>
                </a:path>
                <a:path w="2651125" h="955039">
                  <a:moveTo>
                    <a:pt x="2615593" y="20410"/>
                  </a:moveTo>
                  <a:lnTo>
                    <a:pt x="2614960" y="20410"/>
                  </a:lnTo>
                  <a:lnTo>
                    <a:pt x="2616078" y="21590"/>
                  </a:lnTo>
                  <a:lnTo>
                    <a:pt x="2615593" y="20410"/>
                  </a:lnTo>
                  <a:close/>
                </a:path>
                <a:path w="2651125" h="955039">
                  <a:moveTo>
                    <a:pt x="2615614" y="20410"/>
                  </a:moveTo>
                  <a:lnTo>
                    <a:pt x="2616017" y="21590"/>
                  </a:lnTo>
                  <a:lnTo>
                    <a:pt x="2616318" y="21590"/>
                  </a:lnTo>
                  <a:lnTo>
                    <a:pt x="2615614" y="20410"/>
                  </a:lnTo>
                  <a:close/>
                </a:path>
                <a:path w="2651125" h="955039">
                  <a:moveTo>
                    <a:pt x="2639952" y="19050"/>
                  </a:moveTo>
                  <a:lnTo>
                    <a:pt x="2611119" y="19050"/>
                  </a:lnTo>
                  <a:lnTo>
                    <a:pt x="2614198" y="20410"/>
                  </a:lnTo>
                  <a:lnTo>
                    <a:pt x="2640215" y="20410"/>
                  </a:lnTo>
                  <a:lnTo>
                    <a:pt x="2639952" y="19050"/>
                  </a:lnTo>
                  <a:close/>
                </a:path>
              </a:pathLst>
            </a:custGeom>
            <a:solidFill>
              <a:srgbClr val="E4BD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327628" y="1460454"/>
              <a:ext cx="531495" cy="918210"/>
            </a:xfrm>
            <a:custGeom>
              <a:avLst/>
              <a:gdLst/>
              <a:ahLst/>
              <a:cxnLst/>
              <a:rect l="l" t="t" r="r" b="b"/>
              <a:pathLst>
                <a:path w="531495" h="918210">
                  <a:moveTo>
                    <a:pt x="531484" y="0"/>
                  </a:moveTo>
                  <a:lnTo>
                    <a:pt x="27162" y="0"/>
                  </a:lnTo>
                  <a:lnTo>
                    <a:pt x="0" y="26994"/>
                  </a:lnTo>
                  <a:lnTo>
                    <a:pt x="0" y="890964"/>
                  </a:lnTo>
                  <a:lnTo>
                    <a:pt x="27162" y="917957"/>
                  </a:lnTo>
                  <a:lnTo>
                    <a:pt x="531484" y="917957"/>
                  </a:lnTo>
                  <a:lnTo>
                    <a:pt x="531484" y="0"/>
                  </a:lnTo>
                  <a:close/>
                </a:path>
              </a:pathLst>
            </a:custGeom>
            <a:solidFill>
              <a:srgbClr val="FFD7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534534" y="1769427"/>
            <a:ext cx="11747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45" b="1">
                <a:solidFill>
                  <a:srgbClr val="403B4E"/>
                </a:solidFill>
                <a:latin typeface="Cambria"/>
                <a:cs typeface="Cambria"/>
              </a:rPr>
              <a:t>1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40300" y="1567116"/>
            <a:ext cx="1704339" cy="664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120" b="1">
                <a:solidFill>
                  <a:srgbClr val="403B4E"/>
                </a:solidFill>
                <a:latin typeface="Cambria"/>
                <a:cs typeface="Cambria"/>
              </a:rPr>
              <a:t>High</a:t>
            </a:r>
            <a:r>
              <a:rPr dirty="0" sz="1250" spc="7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250" spc="55" b="1">
                <a:solidFill>
                  <a:srgbClr val="403B4E"/>
                </a:solidFill>
                <a:latin typeface="Cambria"/>
                <a:cs typeface="Cambria"/>
              </a:rPr>
              <a:t>Accuracy</a:t>
            </a:r>
            <a:endParaRPr sz="12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Ensemble</a:t>
            </a:r>
            <a:r>
              <a:rPr dirty="0" sz="950" spc="1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55">
                <a:solidFill>
                  <a:srgbClr val="403B4E"/>
                </a:solidFill>
                <a:latin typeface="Arial MT"/>
                <a:cs typeface="Arial MT"/>
              </a:rPr>
              <a:t>learning</a:t>
            </a:r>
            <a:r>
              <a:rPr dirty="0" sz="95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40">
                <a:solidFill>
                  <a:srgbClr val="403B4E"/>
                </a:solidFill>
                <a:latin typeface="Arial MT"/>
                <a:cs typeface="Arial MT"/>
              </a:rPr>
              <a:t>captures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950" spc="55">
                <a:solidFill>
                  <a:srgbClr val="403B4E"/>
                </a:solidFill>
                <a:latin typeface="Arial MT"/>
                <a:cs typeface="Arial MT"/>
              </a:rPr>
              <a:t>complex</a:t>
            </a:r>
            <a:r>
              <a:rPr dirty="0" sz="950" spc="-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65">
                <a:solidFill>
                  <a:srgbClr val="403B4E"/>
                </a:solidFill>
                <a:latin typeface="Arial MT"/>
                <a:cs typeface="Arial MT"/>
              </a:rPr>
              <a:t>non-</a:t>
            </a:r>
            <a:r>
              <a:rPr dirty="0" sz="950" spc="50">
                <a:solidFill>
                  <a:srgbClr val="403B4E"/>
                </a:solidFill>
                <a:latin typeface="Arial MT"/>
                <a:cs typeface="Arial MT"/>
              </a:rPr>
              <a:t>linear</a:t>
            </a:r>
            <a:r>
              <a:rPr dirty="0" sz="95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45">
                <a:solidFill>
                  <a:srgbClr val="403B4E"/>
                </a:solidFill>
                <a:latin typeface="Arial MT"/>
                <a:cs typeface="Arial MT"/>
              </a:rPr>
              <a:t>patterns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08646" y="2489983"/>
            <a:ext cx="2651125" cy="955040"/>
            <a:chOff x="4308646" y="2489983"/>
            <a:chExt cx="2651125" cy="955040"/>
          </a:xfrm>
        </p:grpSpPr>
        <p:sp>
          <p:nvSpPr>
            <p:cNvPr id="11" name="object 11"/>
            <p:cNvSpPr/>
            <p:nvPr/>
          </p:nvSpPr>
          <p:spPr>
            <a:xfrm>
              <a:off x="4308646" y="2489983"/>
              <a:ext cx="2651125" cy="955040"/>
            </a:xfrm>
            <a:custGeom>
              <a:avLst/>
              <a:gdLst/>
              <a:ahLst/>
              <a:cxnLst/>
              <a:rect l="l" t="t" r="r" b="b"/>
              <a:pathLst>
                <a:path w="2651125" h="955039">
                  <a:moveTo>
                    <a:pt x="13527" y="13969"/>
                  </a:moveTo>
                  <a:lnTo>
                    <a:pt x="3626" y="27939"/>
                  </a:lnTo>
                  <a:lnTo>
                    <a:pt x="0" y="45719"/>
                  </a:lnTo>
                  <a:lnTo>
                    <a:pt x="0" y="909320"/>
                  </a:lnTo>
                  <a:lnTo>
                    <a:pt x="46145" y="955040"/>
                  </a:lnTo>
                  <a:lnTo>
                    <a:pt x="2604966" y="955040"/>
                  </a:lnTo>
                  <a:lnTo>
                    <a:pt x="2637530" y="942340"/>
                  </a:lnTo>
                  <a:lnTo>
                    <a:pt x="2639791" y="937265"/>
                  </a:lnTo>
                  <a:lnTo>
                    <a:pt x="43392" y="937264"/>
                  </a:lnTo>
                  <a:lnTo>
                    <a:pt x="42245" y="935990"/>
                  </a:lnTo>
                  <a:lnTo>
                    <a:pt x="38063" y="935990"/>
                  </a:lnTo>
                  <a:lnTo>
                    <a:pt x="37192" y="934720"/>
                  </a:lnTo>
                  <a:lnTo>
                    <a:pt x="34875" y="934720"/>
                  </a:lnTo>
                  <a:lnTo>
                    <a:pt x="34115" y="933450"/>
                  </a:lnTo>
                  <a:lnTo>
                    <a:pt x="32229" y="933450"/>
                  </a:lnTo>
                  <a:lnTo>
                    <a:pt x="30145" y="932180"/>
                  </a:lnTo>
                  <a:lnTo>
                    <a:pt x="30475" y="932180"/>
                  </a:lnTo>
                  <a:lnTo>
                    <a:pt x="28745" y="930910"/>
                  </a:lnTo>
                  <a:lnTo>
                    <a:pt x="28196" y="930910"/>
                  </a:lnTo>
                  <a:lnTo>
                    <a:pt x="27202" y="929640"/>
                  </a:lnTo>
                  <a:lnTo>
                    <a:pt x="27336" y="929640"/>
                  </a:lnTo>
                  <a:lnTo>
                    <a:pt x="25737" y="927275"/>
                  </a:lnTo>
                  <a:lnTo>
                    <a:pt x="25618" y="927100"/>
                  </a:lnTo>
                  <a:lnTo>
                    <a:pt x="26095" y="927100"/>
                  </a:lnTo>
                  <a:lnTo>
                    <a:pt x="24367" y="925830"/>
                  </a:lnTo>
                  <a:lnTo>
                    <a:pt x="24071" y="925830"/>
                  </a:lnTo>
                  <a:lnTo>
                    <a:pt x="23559" y="924878"/>
                  </a:lnTo>
                  <a:lnTo>
                    <a:pt x="23258" y="924638"/>
                  </a:lnTo>
                  <a:lnTo>
                    <a:pt x="23094" y="924638"/>
                  </a:lnTo>
                  <a:lnTo>
                    <a:pt x="23059" y="923992"/>
                  </a:lnTo>
                  <a:lnTo>
                    <a:pt x="22853" y="923290"/>
                  </a:lnTo>
                  <a:lnTo>
                    <a:pt x="22155" y="923290"/>
                  </a:lnTo>
                  <a:lnTo>
                    <a:pt x="21764" y="922020"/>
                  </a:lnTo>
                  <a:lnTo>
                    <a:pt x="21603" y="920750"/>
                  </a:lnTo>
                  <a:lnTo>
                    <a:pt x="21079" y="920750"/>
                  </a:lnTo>
                  <a:lnTo>
                    <a:pt x="20696" y="919480"/>
                  </a:lnTo>
                  <a:lnTo>
                    <a:pt x="20563" y="918210"/>
                  </a:lnTo>
                  <a:lnTo>
                    <a:pt x="20165" y="918210"/>
                  </a:lnTo>
                  <a:lnTo>
                    <a:pt x="19527" y="915670"/>
                  </a:lnTo>
                  <a:lnTo>
                    <a:pt x="19434" y="914400"/>
                  </a:lnTo>
                  <a:lnTo>
                    <a:pt x="19346" y="41523"/>
                  </a:lnTo>
                  <a:lnTo>
                    <a:pt x="19687" y="39369"/>
                  </a:lnTo>
                  <a:lnTo>
                    <a:pt x="19981" y="39369"/>
                  </a:lnTo>
                  <a:lnTo>
                    <a:pt x="19991" y="38099"/>
                  </a:lnTo>
                  <a:lnTo>
                    <a:pt x="20397" y="36829"/>
                  </a:lnTo>
                  <a:lnTo>
                    <a:pt x="20599" y="36829"/>
                  </a:lnTo>
                  <a:lnTo>
                    <a:pt x="21200" y="35559"/>
                  </a:lnTo>
                  <a:lnTo>
                    <a:pt x="21419" y="34289"/>
                  </a:lnTo>
                  <a:lnTo>
                    <a:pt x="21811" y="34289"/>
                  </a:lnTo>
                  <a:lnTo>
                    <a:pt x="22207" y="33019"/>
                  </a:lnTo>
                  <a:lnTo>
                    <a:pt x="22636" y="31749"/>
                  </a:lnTo>
                  <a:lnTo>
                    <a:pt x="23174" y="31749"/>
                  </a:lnTo>
                  <a:lnTo>
                    <a:pt x="24018" y="30479"/>
                  </a:lnTo>
                  <a:lnTo>
                    <a:pt x="24615" y="29209"/>
                  </a:lnTo>
                  <a:lnTo>
                    <a:pt x="25727" y="27939"/>
                  </a:lnTo>
                  <a:lnTo>
                    <a:pt x="26371" y="27939"/>
                  </a:lnTo>
                  <a:lnTo>
                    <a:pt x="13527" y="13969"/>
                  </a:lnTo>
                  <a:close/>
                </a:path>
                <a:path w="2651125" h="955039">
                  <a:moveTo>
                    <a:pt x="2639951" y="935990"/>
                  </a:moveTo>
                  <a:lnTo>
                    <a:pt x="2610444" y="935990"/>
                  </a:lnTo>
                  <a:lnTo>
                    <a:pt x="2606404" y="937265"/>
                  </a:lnTo>
                  <a:lnTo>
                    <a:pt x="2639791" y="937265"/>
                  </a:lnTo>
                  <a:lnTo>
                    <a:pt x="2639891" y="937042"/>
                  </a:lnTo>
                  <a:lnTo>
                    <a:pt x="2639951" y="935990"/>
                  </a:lnTo>
                  <a:close/>
                </a:path>
                <a:path w="2651125" h="955039">
                  <a:moveTo>
                    <a:pt x="37192" y="934720"/>
                  </a:moveTo>
                  <a:lnTo>
                    <a:pt x="38073" y="935990"/>
                  </a:lnTo>
                  <a:lnTo>
                    <a:pt x="38865" y="935990"/>
                  </a:lnTo>
                  <a:lnTo>
                    <a:pt x="37192" y="934720"/>
                  </a:lnTo>
                  <a:close/>
                </a:path>
                <a:path w="2651125" h="955039">
                  <a:moveTo>
                    <a:pt x="37431" y="934720"/>
                  </a:moveTo>
                  <a:lnTo>
                    <a:pt x="37192" y="934720"/>
                  </a:lnTo>
                  <a:lnTo>
                    <a:pt x="38865" y="935990"/>
                  </a:lnTo>
                  <a:lnTo>
                    <a:pt x="38073" y="935990"/>
                  </a:lnTo>
                  <a:lnTo>
                    <a:pt x="37431" y="934720"/>
                  </a:lnTo>
                  <a:close/>
                </a:path>
                <a:path w="2651125" h="955039">
                  <a:moveTo>
                    <a:pt x="2640996" y="933450"/>
                  </a:moveTo>
                  <a:lnTo>
                    <a:pt x="2617052" y="933450"/>
                  </a:lnTo>
                  <a:lnTo>
                    <a:pt x="2615587" y="934720"/>
                  </a:lnTo>
                  <a:lnTo>
                    <a:pt x="2613104" y="935990"/>
                  </a:lnTo>
                  <a:lnTo>
                    <a:pt x="2640211" y="935990"/>
                  </a:lnTo>
                  <a:lnTo>
                    <a:pt x="2640425" y="934720"/>
                  </a:lnTo>
                  <a:lnTo>
                    <a:pt x="2640843" y="934720"/>
                  </a:lnTo>
                  <a:lnTo>
                    <a:pt x="2640996" y="933450"/>
                  </a:lnTo>
                  <a:close/>
                </a:path>
                <a:path w="2651125" h="955039">
                  <a:moveTo>
                    <a:pt x="31358" y="932180"/>
                  </a:moveTo>
                  <a:lnTo>
                    <a:pt x="30145" y="932180"/>
                  </a:lnTo>
                  <a:lnTo>
                    <a:pt x="32261" y="933450"/>
                  </a:lnTo>
                  <a:lnTo>
                    <a:pt x="31358" y="932180"/>
                  </a:lnTo>
                  <a:close/>
                </a:path>
                <a:path w="2651125" h="955039">
                  <a:moveTo>
                    <a:pt x="31358" y="932180"/>
                  </a:moveTo>
                  <a:lnTo>
                    <a:pt x="32229" y="933450"/>
                  </a:lnTo>
                  <a:lnTo>
                    <a:pt x="32597" y="933450"/>
                  </a:lnTo>
                  <a:lnTo>
                    <a:pt x="31358" y="932180"/>
                  </a:lnTo>
                  <a:close/>
                </a:path>
                <a:path w="2651125" h="955039">
                  <a:moveTo>
                    <a:pt x="2619810" y="932180"/>
                  </a:moveTo>
                  <a:lnTo>
                    <a:pt x="2617813" y="933450"/>
                  </a:lnTo>
                  <a:lnTo>
                    <a:pt x="2618908" y="933450"/>
                  </a:lnTo>
                  <a:lnTo>
                    <a:pt x="2619810" y="932180"/>
                  </a:lnTo>
                  <a:close/>
                </a:path>
                <a:path w="2651125" h="955039">
                  <a:moveTo>
                    <a:pt x="2642538" y="930910"/>
                  </a:moveTo>
                  <a:lnTo>
                    <a:pt x="2622423" y="930910"/>
                  </a:lnTo>
                  <a:lnTo>
                    <a:pt x="2619810" y="932180"/>
                  </a:lnTo>
                  <a:lnTo>
                    <a:pt x="2618908" y="933450"/>
                  </a:lnTo>
                  <a:lnTo>
                    <a:pt x="2620995" y="932180"/>
                  </a:lnTo>
                  <a:lnTo>
                    <a:pt x="2641945" y="932180"/>
                  </a:lnTo>
                  <a:lnTo>
                    <a:pt x="2642538" y="930910"/>
                  </a:lnTo>
                  <a:close/>
                </a:path>
                <a:path w="2651125" h="955039">
                  <a:moveTo>
                    <a:pt x="2641945" y="932180"/>
                  </a:moveTo>
                  <a:lnTo>
                    <a:pt x="2620995" y="932180"/>
                  </a:lnTo>
                  <a:lnTo>
                    <a:pt x="2618908" y="933450"/>
                  </a:lnTo>
                  <a:lnTo>
                    <a:pt x="2641267" y="933450"/>
                  </a:lnTo>
                  <a:lnTo>
                    <a:pt x="2641945" y="932180"/>
                  </a:lnTo>
                  <a:close/>
                </a:path>
                <a:path w="2651125" h="955039">
                  <a:moveTo>
                    <a:pt x="27505" y="929889"/>
                  </a:moveTo>
                  <a:lnTo>
                    <a:pt x="28196" y="930910"/>
                  </a:lnTo>
                  <a:lnTo>
                    <a:pt x="27863" y="930184"/>
                  </a:lnTo>
                  <a:lnTo>
                    <a:pt x="27505" y="929889"/>
                  </a:lnTo>
                  <a:close/>
                </a:path>
                <a:path w="2651125" h="955039">
                  <a:moveTo>
                    <a:pt x="27863" y="930184"/>
                  </a:moveTo>
                  <a:lnTo>
                    <a:pt x="28196" y="930910"/>
                  </a:lnTo>
                  <a:lnTo>
                    <a:pt x="28745" y="930910"/>
                  </a:lnTo>
                  <a:lnTo>
                    <a:pt x="27863" y="930184"/>
                  </a:lnTo>
                  <a:close/>
                </a:path>
                <a:path w="2651125" h="955039">
                  <a:moveTo>
                    <a:pt x="2625116" y="927481"/>
                  </a:moveTo>
                  <a:lnTo>
                    <a:pt x="2624103" y="928370"/>
                  </a:lnTo>
                  <a:lnTo>
                    <a:pt x="2622936" y="930910"/>
                  </a:lnTo>
                  <a:lnTo>
                    <a:pt x="2623806" y="929640"/>
                  </a:lnTo>
                  <a:lnTo>
                    <a:pt x="2625116" y="927481"/>
                  </a:lnTo>
                  <a:close/>
                </a:path>
                <a:path w="2651125" h="955039">
                  <a:moveTo>
                    <a:pt x="25813" y="927275"/>
                  </a:moveTo>
                  <a:lnTo>
                    <a:pt x="25876" y="927481"/>
                  </a:lnTo>
                  <a:lnTo>
                    <a:pt x="27505" y="929889"/>
                  </a:lnTo>
                  <a:lnTo>
                    <a:pt x="27863" y="930184"/>
                  </a:lnTo>
                  <a:lnTo>
                    <a:pt x="27032" y="928370"/>
                  </a:lnTo>
                  <a:lnTo>
                    <a:pt x="25813" y="927275"/>
                  </a:lnTo>
                  <a:close/>
                </a:path>
                <a:path w="2651125" h="955039">
                  <a:moveTo>
                    <a:pt x="27336" y="929640"/>
                  </a:moveTo>
                  <a:lnTo>
                    <a:pt x="27202" y="929640"/>
                  </a:lnTo>
                  <a:lnTo>
                    <a:pt x="27505" y="929889"/>
                  </a:lnTo>
                  <a:lnTo>
                    <a:pt x="27336" y="929640"/>
                  </a:lnTo>
                  <a:close/>
                </a:path>
                <a:path w="2651125" h="955039">
                  <a:moveTo>
                    <a:pt x="2646288" y="920750"/>
                  </a:moveTo>
                  <a:lnTo>
                    <a:pt x="2629600" y="920750"/>
                  </a:lnTo>
                  <a:lnTo>
                    <a:pt x="2628979" y="922020"/>
                  </a:lnTo>
                  <a:lnTo>
                    <a:pt x="2629263" y="922020"/>
                  </a:lnTo>
                  <a:lnTo>
                    <a:pt x="2628779" y="923290"/>
                  </a:lnTo>
                  <a:lnTo>
                    <a:pt x="2627122" y="925830"/>
                  </a:lnTo>
                  <a:lnTo>
                    <a:pt x="2626606" y="925830"/>
                  </a:lnTo>
                  <a:lnTo>
                    <a:pt x="2626098" y="926299"/>
                  </a:lnTo>
                  <a:lnTo>
                    <a:pt x="2625551" y="927100"/>
                  </a:lnTo>
                  <a:lnTo>
                    <a:pt x="2625288" y="927276"/>
                  </a:lnTo>
                  <a:lnTo>
                    <a:pt x="2625119" y="927481"/>
                  </a:lnTo>
                  <a:lnTo>
                    <a:pt x="2623814" y="929640"/>
                  </a:lnTo>
                  <a:lnTo>
                    <a:pt x="2643067" y="929640"/>
                  </a:lnTo>
                  <a:lnTo>
                    <a:pt x="2643529" y="927481"/>
                  </a:lnTo>
                  <a:lnTo>
                    <a:pt x="2643611" y="927100"/>
                  </a:lnTo>
                  <a:lnTo>
                    <a:pt x="2644423" y="925830"/>
                  </a:lnTo>
                  <a:lnTo>
                    <a:pt x="2626985" y="925830"/>
                  </a:lnTo>
                  <a:lnTo>
                    <a:pt x="2627574" y="924879"/>
                  </a:lnTo>
                  <a:lnTo>
                    <a:pt x="2644776" y="924879"/>
                  </a:lnTo>
                  <a:lnTo>
                    <a:pt x="2645364" y="923290"/>
                  </a:lnTo>
                  <a:lnTo>
                    <a:pt x="2646004" y="922020"/>
                  </a:lnTo>
                  <a:lnTo>
                    <a:pt x="2646288" y="920750"/>
                  </a:lnTo>
                  <a:close/>
                </a:path>
                <a:path w="2651125" h="955039">
                  <a:moveTo>
                    <a:pt x="26095" y="927100"/>
                  </a:moveTo>
                  <a:lnTo>
                    <a:pt x="25618" y="927100"/>
                  </a:lnTo>
                  <a:lnTo>
                    <a:pt x="27033" y="928370"/>
                  </a:lnTo>
                  <a:lnTo>
                    <a:pt x="26095" y="927100"/>
                  </a:lnTo>
                  <a:close/>
                </a:path>
                <a:path w="2651125" h="955039">
                  <a:moveTo>
                    <a:pt x="2625250" y="927276"/>
                  </a:moveTo>
                  <a:lnTo>
                    <a:pt x="2624958" y="927481"/>
                  </a:lnTo>
                  <a:lnTo>
                    <a:pt x="2624103" y="928370"/>
                  </a:lnTo>
                  <a:lnTo>
                    <a:pt x="2625116" y="927481"/>
                  </a:lnTo>
                  <a:lnTo>
                    <a:pt x="2625250" y="927276"/>
                  </a:lnTo>
                  <a:close/>
                </a:path>
                <a:path w="2651125" h="955039">
                  <a:moveTo>
                    <a:pt x="23481" y="924878"/>
                  </a:moveTo>
                  <a:lnTo>
                    <a:pt x="24071" y="925830"/>
                  </a:lnTo>
                  <a:lnTo>
                    <a:pt x="24367" y="925830"/>
                  </a:lnTo>
                  <a:lnTo>
                    <a:pt x="23481" y="924878"/>
                  </a:lnTo>
                  <a:close/>
                </a:path>
                <a:path w="2651125" h="955039">
                  <a:moveTo>
                    <a:pt x="2627889" y="924639"/>
                  </a:moveTo>
                  <a:lnTo>
                    <a:pt x="2627574" y="924879"/>
                  </a:lnTo>
                  <a:lnTo>
                    <a:pt x="2626985" y="925830"/>
                  </a:lnTo>
                  <a:lnTo>
                    <a:pt x="2627730" y="924879"/>
                  </a:lnTo>
                  <a:lnTo>
                    <a:pt x="2627827" y="924639"/>
                  </a:lnTo>
                  <a:close/>
                </a:path>
                <a:path w="2651125" h="955039">
                  <a:moveTo>
                    <a:pt x="23020" y="923290"/>
                  </a:moveTo>
                  <a:lnTo>
                    <a:pt x="22853" y="923290"/>
                  </a:lnTo>
                  <a:lnTo>
                    <a:pt x="22984" y="923992"/>
                  </a:lnTo>
                  <a:lnTo>
                    <a:pt x="23020" y="923290"/>
                  </a:lnTo>
                  <a:close/>
                </a:path>
                <a:path w="2651125" h="955039">
                  <a:moveTo>
                    <a:pt x="22014" y="922020"/>
                  </a:moveTo>
                  <a:lnTo>
                    <a:pt x="21764" y="922020"/>
                  </a:lnTo>
                  <a:lnTo>
                    <a:pt x="22198" y="923290"/>
                  </a:lnTo>
                  <a:lnTo>
                    <a:pt x="22014" y="922020"/>
                  </a:lnTo>
                  <a:close/>
                </a:path>
                <a:path w="2651125" h="955039">
                  <a:moveTo>
                    <a:pt x="22115" y="922020"/>
                  </a:moveTo>
                  <a:lnTo>
                    <a:pt x="21935" y="922020"/>
                  </a:lnTo>
                  <a:lnTo>
                    <a:pt x="22256" y="923290"/>
                  </a:lnTo>
                  <a:lnTo>
                    <a:pt x="22705" y="923290"/>
                  </a:lnTo>
                  <a:lnTo>
                    <a:pt x="22115" y="922020"/>
                  </a:lnTo>
                  <a:close/>
                </a:path>
                <a:path w="2651125" h="955039">
                  <a:moveTo>
                    <a:pt x="2647356" y="918210"/>
                  </a:moveTo>
                  <a:lnTo>
                    <a:pt x="2630612" y="918210"/>
                  </a:lnTo>
                  <a:lnTo>
                    <a:pt x="2629836" y="920750"/>
                  </a:lnTo>
                  <a:lnTo>
                    <a:pt x="2630033" y="920750"/>
                  </a:lnTo>
                  <a:lnTo>
                    <a:pt x="2630444" y="919480"/>
                  </a:lnTo>
                  <a:lnTo>
                    <a:pt x="2647068" y="919480"/>
                  </a:lnTo>
                  <a:lnTo>
                    <a:pt x="2647356" y="918210"/>
                  </a:lnTo>
                  <a:close/>
                </a:path>
                <a:path w="2651125" h="955039">
                  <a:moveTo>
                    <a:pt x="2647068" y="919480"/>
                  </a:moveTo>
                  <a:lnTo>
                    <a:pt x="2630444" y="919480"/>
                  </a:lnTo>
                  <a:lnTo>
                    <a:pt x="2630033" y="920750"/>
                  </a:lnTo>
                  <a:lnTo>
                    <a:pt x="2646562" y="920750"/>
                  </a:lnTo>
                  <a:lnTo>
                    <a:pt x="2647068" y="919480"/>
                  </a:lnTo>
                  <a:close/>
                </a:path>
                <a:path w="2651125" h="955039">
                  <a:moveTo>
                    <a:pt x="2648588" y="40159"/>
                  </a:moveTo>
                  <a:lnTo>
                    <a:pt x="2631795" y="40159"/>
                  </a:lnTo>
                  <a:lnTo>
                    <a:pt x="2631793" y="914400"/>
                  </a:lnTo>
                  <a:lnTo>
                    <a:pt x="2631511" y="915670"/>
                  </a:lnTo>
                  <a:lnTo>
                    <a:pt x="2631297" y="915670"/>
                  </a:lnTo>
                  <a:lnTo>
                    <a:pt x="2630839" y="918210"/>
                  </a:lnTo>
                  <a:lnTo>
                    <a:pt x="2647710" y="918210"/>
                  </a:lnTo>
                  <a:lnTo>
                    <a:pt x="2649200" y="914400"/>
                  </a:lnTo>
                  <a:lnTo>
                    <a:pt x="2649439" y="913532"/>
                  </a:lnTo>
                  <a:lnTo>
                    <a:pt x="2649549" y="913130"/>
                  </a:lnTo>
                  <a:lnTo>
                    <a:pt x="2649938" y="913130"/>
                  </a:lnTo>
                  <a:lnTo>
                    <a:pt x="2651113" y="909320"/>
                  </a:lnTo>
                  <a:lnTo>
                    <a:pt x="2651112" y="45720"/>
                  </a:lnTo>
                  <a:lnTo>
                    <a:pt x="2649577" y="41931"/>
                  </a:lnTo>
                  <a:lnTo>
                    <a:pt x="2649225" y="41931"/>
                  </a:lnTo>
                  <a:lnTo>
                    <a:pt x="2648588" y="40159"/>
                  </a:lnTo>
                  <a:close/>
                </a:path>
                <a:path w="2651125" h="955039">
                  <a:moveTo>
                    <a:pt x="2647392" y="36830"/>
                  </a:moveTo>
                  <a:lnTo>
                    <a:pt x="2630612" y="36830"/>
                  </a:lnTo>
                  <a:lnTo>
                    <a:pt x="2631225" y="39370"/>
                  </a:lnTo>
                  <a:lnTo>
                    <a:pt x="2631372" y="39370"/>
                  </a:lnTo>
                  <a:lnTo>
                    <a:pt x="2631503" y="40159"/>
                  </a:lnTo>
                  <a:lnTo>
                    <a:pt x="2631618" y="40640"/>
                  </a:lnTo>
                  <a:lnTo>
                    <a:pt x="2631740" y="41523"/>
                  </a:lnTo>
                  <a:lnTo>
                    <a:pt x="2631795" y="40159"/>
                  </a:lnTo>
                  <a:lnTo>
                    <a:pt x="2648588" y="40159"/>
                  </a:lnTo>
                  <a:lnTo>
                    <a:pt x="2647392" y="36830"/>
                  </a:lnTo>
                  <a:close/>
                </a:path>
                <a:path w="2651125" h="955039">
                  <a:moveTo>
                    <a:pt x="2630001" y="35560"/>
                  </a:moveTo>
                  <a:lnTo>
                    <a:pt x="2630255" y="36830"/>
                  </a:lnTo>
                  <a:lnTo>
                    <a:pt x="2630401" y="36830"/>
                  </a:lnTo>
                  <a:lnTo>
                    <a:pt x="2630001" y="35560"/>
                  </a:lnTo>
                  <a:close/>
                </a:path>
                <a:path w="2651125" h="955039">
                  <a:moveTo>
                    <a:pt x="2646304" y="34290"/>
                  </a:moveTo>
                  <a:lnTo>
                    <a:pt x="2629747" y="34290"/>
                  </a:lnTo>
                  <a:lnTo>
                    <a:pt x="2629994" y="35560"/>
                  </a:lnTo>
                  <a:lnTo>
                    <a:pt x="2630444" y="36830"/>
                  </a:lnTo>
                  <a:lnTo>
                    <a:pt x="2647091" y="36830"/>
                  </a:lnTo>
                  <a:lnTo>
                    <a:pt x="2646304" y="34290"/>
                  </a:lnTo>
                  <a:close/>
                </a:path>
                <a:path w="2651125" h="955039">
                  <a:moveTo>
                    <a:pt x="2629600" y="34290"/>
                  </a:moveTo>
                  <a:lnTo>
                    <a:pt x="2629262" y="34290"/>
                  </a:lnTo>
                  <a:lnTo>
                    <a:pt x="2629904" y="35560"/>
                  </a:lnTo>
                  <a:lnTo>
                    <a:pt x="2629600" y="34290"/>
                  </a:lnTo>
                  <a:close/>
                </a:path>
                <a:path w="2651125" h="955039">
                  <a:moveTo>
                    <a:pt x="2629747" y="34290"/>
                  </a:moveTo>
                  <a:lnTo>
                    <a:pt x="2629600" y="34290"/>
                  </a:lnTo>
                  <a:lnTo>
                    <a:pt x="2630001" y="35560"/>
                  </a:lnTo>
                  <a:lnTo>
                    <a:pt x="2629747" y="34290"/>
                  </a:lnTo>
                  <a:close/>
                </a:path>
                <a:path w="2651125" h="955039">
                  <a:moveTo>
                    <a:pt x="2644444" y="30480"/>
                  </a:moveTo>
                  <a:lnTo>
                    <a:pt x="2627694" y="30480"/>
                  </a:lnTo>
                  <a:lnTo>
                    <a:pt x="2628588" y="31750"/>
                  </a:lnTo>
                  <a:lnTo>
                    <a:pt x="2628885" y="33020"/>
                  </a:lnTo>
                  <a:lnTo>
                    <a:pt x="2645813" y="33020"/>
                  </a:lnTo>
                  <a:lnTo>
                    <a:pt x="2645427" y="31750"/>
                  </a:lnTo>
                  <a:lnTo>
                    <a:pt x="2645146" y="31750"/>
                  </a:lnTo>
                  <a:lnTo>
                    <a:pt x="2644444" y="30480"/>
                  </a:lnTo>
                  <a:close/>
                </a:path>
                <a:path w="2651125" h="955039">
                  <a:moveTo>
                    <a:pt x="2627805" y="31130"/>
                  </a:moveTo>
                  <a:lnTo>
                    <a:pt x="2627779" y="31568"/>
                  </a:lnTo>
                  <a:lnTo>
                    <a:pt x="2627912" y="31750"/>
                  </a:lnTo>
                  <a:lnTo>
                    <a:pt x="2628588" y="31750"/>
                  </a:lnTo>
                  <a:lnTo>
                    <a:pt x="2627805" y="31130"/>
                  </a:lnTo>
                  <a:close/>
                </a:path>
                <a:path w="2651125" h="955039">
                  <a:moveTo>
                    <a:pt x="2627694" y="30480"/>
                  </a:moveTo>
                  <a:lnTo>
                    <a:pt x="2627805" y="31130"/>
                  </a:lnTo>
                  <a:lnTo>
                    <a:pt x="2628359" y="31568"/>
                  </a:lnTo>
                  <a:lnTo>
                    <a:pt x="2628151" y="31130"/>
                  </a:lnTo>
                  <a:lnTo>
                    <a:pt x="2627694" y="30480"/>
                  </a:lnTo>
                  <a:close/>
                </a:path>
                <a:path w="2651125" h="955039">
                  <a:moveTo>
                    <a:pt x="2642619" y="25400"/>
                  </a:moveTo>
                  <a:lnTo>
                    <a:pt x="2623022" y="25400"/>
                  </a:lnTo>
                  <a:lnTo>
                    <a:pt x="2625550" y="27940"/>
                  </a:lnTo>
                  <a:lnTo>
                    <a:pt x="2625121" y="27940"/>
                  </a:lnTo>
                  <a:lnTo>
                    <a:pt x="2626985" y="30480"/>
                  </a:lnTo>
                  <a:lnTo>
                    <a:pt x="2627805" y="31130"/>
                  </a:lnTo>
                  <a:lnTo>
                    <a:pt x="2627694" y="30480"/>
                  </a:lnTo>
                  <a:lnTo>
                    <a:pt x="2644444" y="30480"/>
                  </a:lnTo>
                  <a:lnTo>
                    <a:pt x="2643637" y="27940"/>
                  </a:lnTo>
                  <a:lnTo>
                    <a:pt x="2625550" y="27940"/>
                  </a:lnTo>
                  <a:lnTo>
                    <a:pt x="2624642" y="27185"/>
                  </a:lnTo>
                  <a:lnTo>
                    <a:pt x="2643334" y="27185"/>
                  </a:lnTo>
                  <a:lnTo>
                    <a:pt x="2642619" y="25400"/>
                  </a:lnTo>
                  <a:close/>
                </a:path>
                <a:path w="2651125" h="955039">
                  <a:moveTo>
                    <a:pt x="25898" y="27939"/>
                  </a:moveTo>
                  <a:lnTo>
                    <a:pt x="25727" y="27939"/>
                  </a:lnTo>
                  <a:lnTo>
                    <a:pt x="25054" y="29209"/>
                  </a:lnTo>
                  <a:lnTo>
                    <a:pt x="25898" y="27939"/>
                  </a:lnTo>
                  <a:close/>
                </a:path>
                <a:path w="2651125" h="955039">
                  <a:moveTo>
                    <a:pt x="13524" y="13969"/>
                  </a:moveTo>
                  <a:lnTo>
                    <a:pt x="26383" y="27939"/>
                  </a:lnTo>
                  <a:lnTo>
                    <a:pt x="27154" y="26669"/>
                  </a:lnTo>
                  <a:lnTo>
                    <a:pt x="27645" y="26669"/>
                  </a:lnTo>
                  <a:lnTo>
                    <a:pt x="13524" y="13969"/>
                  </a:lnTo>
                  <a:close/>
                </a:path>
                <a:path w="2651125" h="955039">
                  <a:moveTo>
                    <a:pt x="2624286" y="26670"/>
                  </a:moveTo>
                  <a:lnTo>
                    <a:pt x="2624456" y="27031"/>
                  </a:lnTo>
                  <a:lnTo>
                    <a:pt x="2624569" y="27185"/>
                  </a:lnTo>
                  <a:lnTo>
                    <a:pt x="2625550" y="27940"/>
                  </a:lnTo>
                  <a:lnTo>
                    <a:pt x="2624286" y="26670"/>
                  </a:lnTo>
                  <a:close/>
                </a:path>
                <a:path w="2651125" h="955039">
                  <a:moveTo>
                    <a:pt x="2604966" y="0"/>
                  </a:moveTo>
                  <a:lnTo>
                    <a:pt x="46142" y="0"/>
                  </a:lnTo>
                  <a:lnTo>
                    <a:pt x="28182" y="3809"/>
                  </a:lnTo>
                  <a:lnTo>
                    <a:pt x="13527" y="13969"/>
                  </a:lnTo>
                  <a:lnTo>
                    <a:pt x="27645" y="26669"/>
                  </a:lnTo>
                  <a:lnTo>
                    <a:pt x="28921" y="25399"/>
                  </a:lnTo>
                  <a:lnTo>
                    <a:pt x="28764" y="25399"/>
                  </a:lnTo>
                  <a:lnTo>
                    <a:pt x="29718" y="24129"/>
                  </a:lnTo>
                  <a:lnTo>
                    <a:pt x="29913" y="24129"/>
                  </a:lnTo>
                  <a:lnTo>
                    <a:pt x="31829" y="22859"/>
                  </a:lnTo>
                  <a:lnTo>
                    <a:pt x="32483" y="22859"/>
                  </a:lnTo>
                  <a:lnTo>
                    <a:pt x="33411" y="21589"/>
                  </a:lnTo>
                  <a:lnTo>
                    <a:pt x="34943" y="21589"/>
                  </a:lnTo>
                  <a:lnTo>
                    <a:pt x="35739" y="20410"/>
                  </a:lnTo>
                  <a:lnTo>
                    <a:pt x="39376" y="20410"/>
                  </a:lnTo>
                  <a:lnTo>
                    <a:pt x="40378" y="19049"/>
                  </a:lnTo>
                  <a:lnTo>
                    <a:pt x="2639811" y="19050"/>
                  </a:lnTo>
                  <a:lnTo>
                    <a:pt x="2637539" y="13970"/>
                  </a:lnTo>
                  <a:lnTo>
                    <a:pt x="2630710" y="7620"/>
                  </a:lnTo>
                  <a:lnTo>
                    <a:pt x="2622912" y="3810"/>
                  </a:lnTo>
                  <a:lnTo>
                    <a:pt x="2614254" y="1270"/>
                  </a:lnTo>
                  <a:lnTo>
                    <a:pt x="2604966" y="0"/>
                  </a:lnTo>
                  <a:close/>
                </a:path>
                <a:path w="2651125" h="955039">
                  <a:moveTo>
                    <a:pt x="2640568" y="20410"/>
                  </a:moveTo>
                  <a:lnTo>
                    <a:pt x="2615700" y="20410"/>
                  </a:lnTo>
                  <a:lnTo>
                    <a:pt x="2617524" y="21590"/>
                  </a:lnTo>
                  <a:lnTo>
                    <a:pt x="2617877" y="21590"/>
                  </a:lnTo>
                  <a:lnTo>
                    <a:pt x="2619723" y="22860"/>
                  </a:lnTo>
                  <a:lnTo>
                    <a:pt x="2623898" y="26670"/>
                  </a:lnTo>
                  <a:lnTo>
                    <a:pt x="2623005" y="25400"/>
                  </a:lnTo>
                  <a:lnTo>
                    <a:pt x="2642619" y="25400"/>
                  </a:lnTo>
                  <a:lnTo>
                    <a:pt x="2641917" y="24130"/>
                  </a:lnTo>
                  <a:lnTo>
                    <a:pt x="2640934" y="21590"/>
                  </a:lnTo>
                  <a:lnTo>
                    <a:pt x="2640568" y="20410"/>
                  </a:lnTo>
                  <a:close/>
                </a:path>
                <a:path w="2651125" h="955039">
                  <a:moveTo>
                    <a:pt x="2623022" y="25400"/>
                  </a:moveTo>
                  <a:lnTo>
                    <a:pt x="2623898" y="26670"/>
                  </a:lnTo>
                  <a:lnTo>
                    <a:pt x="2624191" y="26670"/>
                  </a:lnTo>
                  <a:lnTo>
                    <a:pt x="2623926" y="26308"/>
                  </a:lnTo>
                  <a:lnTo>
                    <a:pt x="2623022" y="25400"/>
                  </a:lnTo>
                  <a:close/>
                </a:path>
                <a:path w="2651125" h="955039">
                  <a:moveTo>
                    <a:pt x="29718" y="24129"/>
                  </a:moveTo>
                  <a:lnTo>
                    <a:pt x="28764" y="25399"/>
                  </a:lnTo>
                  <a:lnTo>
                    <a:pt x="28921" y="25399"/>
                  </a:lnTo>
                  <a:lnTo>
                    <a:pt x="29718" y="24129"/>
                  </a:lnTo>
                  <a:close/>
                </a:path>
                <a:path w="2651125" h="955039">
                  <a:moveTo>
                    <a:pt x="29913" y="24129"/>
                  </a:moveTo>
                  <a:lnTo>
                    <a:pt x="29718" y="24129"/>
                  </a:lnTo>
                  <a:lnTo>
                    <a:pt x="29012" y="25399"/>
                  </a:lnTo>
                  <a:lnTo>
                    <a:pt x="29913" y="24129"/>
                  </a:lnTo>
                  <a:close/>
                </a:path>
                <a:path w="2651125" h="955039">
                  <a:moveTo>
                    <a:pt x="32067" y="22859"/>
                  </a:moveTo>
                  <a:lnTo>
                    <a:pt x="31829" y="22859"/>
                  </a:lnTo>
                  <a:lnTo>
                    <a:pt x="30760" y="24129"/>
                  </a:lnTo>
                  <a:lnTo>
                    <a:pt x="32067" y="22859"/>
                  </a:lnTo>
                  <a:close/>
                </a:path>
                <a:path w="2651125" h="955039">
                  <a:moveTo>
                    <a:pt x="2619333" y="22860"/>
                  </a:moveTo>
                  <a:lnTo>
                    <a:pt x="2618957" y="22860"/>
                  </a:lnTo>
                  <a:lnTo>
                    <a:pt x="2620486" y="24130"/>
                  </a:lnTo>
                  <a:lnTo>
                    <a:pt x="2619333" y="22860"/>
                  </a:lnTo>
                  <a:close/>
                </a:path>
                <a:path w="2651125" h="955039">
                  <a:moveTo>
                    <a:pt x="34273" y="21589"/>
                  </a:moveTo>
                  <a:lnTo>
                    <a:pt x="33411" y="21589"/>
                  </a:lnTo>
                  <a:lnTo>
                    <a:pt x="32577" y="22859"/>
                  </a:lnTo>
                  <a:lnTo>
                    <a:pt x="34273" y="21589"/>
                  </a:lnTo>
                  <a:close/>
                </a:path>
                <a:path w="2651125" h="955039">
                  <a:moveTo>
                    <a:pt x="2617589" y="21590"/>
                  </a:moveTo>
                  <a:lnTo>
                    <a:pt x="2618795" y="22860"/>
                  </a:lnTo>
                  <a:lnTo>
                    <a:pt x="2619022" y="22860"/>
                  </a:lnTo>
                  <a:lnTo>
                    <a:pt x="2617589" y="21590"/>
                  </a:lnTo>
                  <a:close/>
                </a:path>
                <a:path w="2651125" h="955039">
                  <a:moveTo>
                    <a:pt x="36415" y="20410"/>
                  </a:moveTo>
                  <a:lnTo>
                    <a:pt x="35739" y="20410"/>
                  </a:lnTo>
                  <a:lnTo>
                    <a:pt x="34943" y="21589"/>
                  </a:lnTo>
                  <a:lnTo>
                    <a:pt x="35363" y="21589"/>
                  </a:lnTo>
                  <a:lnTo>
                    <a:pt x="36415" y="20410"/>
                  </a:lnTo>
                  <a:close/>
                </a:path>
                <a:path w="2651125" h="955039">
                  <a:moveTo>
                    <a:pt x="36729" y="20410"/>
                  </a:moveTo>
                  <a:lnTo>
                    <a:pt x="36421" y="20410"/>
                  </a:lnTo>
                  <a:lnTo>
                    <a:pt x="35452" y="21589"/>
                  </a:lnTo>
                  <a:lnTo>
                    <a:pt x="36729" y="20410"/>
                  </a:lnTo>
                  <a:close/>
                </a:path>
                <a:path w="2651125" h="955039">
                  <a:moveTo>
                    <a:pt x="2615593" y="20410"/>
                  </a:moveTo>
                  <a:lnTo>
                    <a:pt x="2614960" y="20410"/>
                  </a:lnTo>
                  <a:lnTo>
                    <a:pt x="2616078" y="21590"/>
                  </a:lnTo>
                  <a:lnTo>
                    <a:pt x="2615593" y="20410"/>
                  </a:lnTo>
                  <a:close/>
                </a:path>
                <a:path w="2651125" h="955039">
                  <a:moveTo>
                    <a:pt x="2615614" y="20410"/>
                  </a:moveTo>
                  <a:lnTo>
                    <a:pt x="2616017" y="21590"/>
                  </a:lnTo>
                  <a:lnTo>
                    <a:pt x="2616318" y="21590"/>
                  </a:lnTo>
                  <a:lnTo>
                    <a:pt x="2615614" y="20410"/>
                  </a:lnTo>
                  <a:close/>
                </a:path>
                <a:path w="2651125" h="955039">
                  <a:moveTo>
                    <a:pt x="2639952" y="19050"/>
                  </a:moveTo>
                  <a:lnTo>
                    <a:pt x="2611119" y="19050"/>
                  </a:lnTo>
                  <a:lnTo>
                    <a:pt x="2614198" y="20410"/>
                  </a:lnTo>
                  <a:lnTo>
                    <a:pt x="2640215" y="20410"/>
                  </a:lnTo>
                  <a:lnTo>
                    <a:pt x="2639952" y="19050"/>
                  </a:lnTo>
                  <a:close/>
                </a:path>
              </a:pathLst>
            </a:custGeom>
            <a:solidFill>
              <a:srgbClr val="E4BD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327628" y="2508204"/>
              <a:ext cx="531495" cy="918210"/>
            </a:xfrm>
            <a:custGeom>
              <a:avLst/>
              <a:gdLst/>
              <a:ahLst/>
              <a:cxnLst/>
              <a:rect l="l" t="t" r="r" b="b"/>
              <a:pathLst>
                <a:path w="531495" h="918210">
                  <a:moveTo>
                    <a:pt x="531484" y="0"/>
                  </a:moveTo>
                  <a:lnTo>
                    <a:pt x="27162" y="0"/>
                  </a:lnTo>
                  <a:lnTo>
                    <a:pt x="0" y="26994"/>
                  </a:lnTo>
                  <a:lnTo>
                    <a:pt x="0" y="890964"/>
                  </a:lnTo>
                  <a:lnTo>
                    <a:pt x="27162" y="917957"/>
                  </a:lnTo>
                  <a:lnTo>
                    <a:pt x="531484" y="917957"/>
                  </a:lnTo>
                  <a:lnTo>
                    <a:pt x="531484" y="0"/>
                  </a:lnTo>
                  <a:close/>
                </a:path>
              </a:pathLst>
            </a:custGeom>
            <a:solidFill>
              <a:srgbClr val="FFD7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520184" y="2825432"/>
            <a:ext cx="14668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50" b="1">
                <a:solidFill>
                  <a:srgbClr val="403B4E"/>
                </a:solidFill>
                <a:latin typeface="Cambria"/>
                <a:cs typeface="Cambria"/>
              </a:rPr>
              <a:t>2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40300" y="2622867"/>
            <a:ext cx="1751964" cy="664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85" b="1">
                <a:solidFill>
                  <a:srgbClr val="403B4E"/>
                </a:solidFill>
                <a:latin typeface="Cambria"/>
                <a:cs typeface="Cambria"/>
              </a:rPr>
              <a:t>Efficient</a:t>
            </a:r>
            <a:r>
              <a:rPr dirty="0" sz="1250" spc="6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250" spc="80" b="1">
                <a:solidFill>
                  <a:srgbClr val="403B4E"/>
                </a:solidFill>
                <a:latin typeface="Cambria"/>
                <a:cs typeface="Cambria"/>
              </a:rPr>
              <a:t>Training</a:t>
            </a:r>
            <a:endParaRPr sz="1250">
              <a:latin typeface="Cambria"/>
              <a:cs typeface="Cambria"/>
            </a:endParaRPr>
          </a:p>
          <a:p>
            <a:pPr marL="12700" marR="5080">
              <a:lnSpc>
                <a:spcPct val="118600"/>
              </a:lnSpc>
              <a:spcBef>
                <a:spcPts val="800"/>
              </a:spcBef>
            </a:pP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Parallelised</a:t>
            </a:r>
            <a:r>
              <a:rPr dirty="0" sz="950" spc="2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tree</a:t>
            </a:r>
            <a:r>
              <a:rPr dirty="0" sz="950" spc="2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45">
                <a:solidFill>
                  <a:srgbClr val="403B4E"/>
                </a:solidFill>
                <a:latin typeface="Arial MT"/>
                <a:cs typeface="Arial MT"/>
              </a:rPr>
              <a:t>construction </a:t>
            </a: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enables</a:t>
            </a:r>
            <a:r>
              <a:rPr dirty="0" sz="950" spc="1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55">
                <a:solidFill>
                  <a:srgbClr val="403B4E"/>
                </a:solidFill>
                <a:latin typeface="Arial MT"/>
                <a:cs typeface="Arial MT"/>
              </a:rPr>
              <a:t>rapid</a:t>
            </a:r>
            <a:r>
              <a:rPr dirty="0" sz="950" spc="1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403B4E"/>
                </a:solidFill>
                <a:latin typeface="Arial MT"/>
                <a:cs typeface="Arial MT"/>
              </a:rPr>
              <a:t>convergence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308647" y="3547316"/>
            <a:ext cx="2651125" cy="1164590"/>
            <a:chOff x="4308647" y="3547316"/>
            <a:chExt cx="2651125" cy="1164590"/>
          </a:xfrm>
        </p:grpSpPr>
        <p:sp>
          <p:nvSpPr>
            <p:cNvPr id="16" name="object 16"/>
            <p:cNvSpPr/>
            <p:nvPr/>
          </p:nvSpPr>
          <p:spPr>
            <a:xfrm>
              <a:off x="4308647" y="3547316"/>
              <a:ext cx="2651125" cy="1164590"/>
            </a:xfrm>
            <a:custGeom>
              <a:avLst/>
              <a:gdLst/>
              <a:ahLst/>
              <a:cxnLst/>
              <a:rect l="l" t="t" r="r" b="b"/>
              <a:pathLst>
                <a:path w="2651125" h="1164589">
                  <a:moveTo>
                    <a:pt x="13547" y="13979"/>
                  </a:moveTo>
                  <a:lnTo>
                    <a:pt x="9924" y="19049"/>
                  </a:lnTo>
                  <a:lnTo>
                    <a:pt x="3626" y="27939"/>
                  </a:lnTo>
                  <a:lnTo>
                    <a:pt x="0" y="45719"/>
                  </a:lnTo>
                  <a:lnTo>
                    <a:pt x="0" y="1118870"/>
                  </a:lnTo>
                  <a:lnTo>
                    <a:pt x="46144" y="1164590"/>
                  </a:lnTo>
                  <a:lnTo>
                    <a:pt x="2604966" y="1164590"/>
                  </a:lnTo>
                  <a:lnTo>
                    <a:pt x="2637530" y="1151890"/>
                  </a:lnTo>
                  <a:lnTo>
                    <a:pt x="2639739" y="1146932"/>
                  </a:lnTo>
                  <a:lnTo>
                    <a:pt x="45114" y="1146932"/>
                  </a:lnTo>
                  <a:lnTo>
                    <a:pt x="42949" y="1145540"/>
                  </a:lnTo>
                  <a:lnTo>
                    <a:pt x="38064" y="1145540"/>
                  </a:lnTo>
                  <a:lnTo>
                    <a:pt x="37191" y="1144270"/>
                  </a:lnTo>
                  <a:lnTo>
                    <a:pt x="34876" y="1144270"/>
                  </a:lnTo>
                  <a:lnTo>
                    <a:pt x="34115" y="1143000"/>
                  </a:lnTo>
                  <a:lnTo>
                    <a:pt x="32229" y="1143000"/>
                  </a:lnTo>
                  <a:lnTo>
                    <a:pt x="30145" y="1141730"/>
                  </a:lnTo>
                  <a:lnTo>
                    <a:pt x="30475" y="1141730"/>
                  </a:lnTo>
                  <a:lnTo>
                    <a:pt x="28745" y="1139190"/>
                  </a:lnTo>
                  <a:lnTo>
                    <a:pt x="28195" y="1139190"/>
                  </a:lnTo>
                  <a:lnTo>
                    <a:pt x="25627" y="1136659"/>
                  </a:lnTo>
                  <a:lnTo>
                    <a:pt x="26106" y="1136659"/>
                  </a:lnTo>
                  <a:lnTo>
                    <a:pt x="24367" y="1135380"/>
                  </a:lnTo>
                  <a:lnTo>
                    <a:pt x="23187" y="1134110"/>
                  </a:lnTo>
                  <a:lnTo>
                    <a:pt x="22854" y="1132840"/>
                  </a:lnTo>
                  <a:lnTo>
                    <a:pt x="22155" y="1132840"/>
                  </a:lnTo>
                  <a:lnTo>
                    <a:pt x="21757" y="1131570"/>
                  </a:lnTo>
                  <a:lnTo>
                    <a:pt x="21603" y="1130300"/>
                  </a:lnTo>
                  <a:lnTo>
                    <a:pt x="21079" y="1130300"/>
                  </a:lnTo>
                  <a:lnTo>
                    <a:pt x="20696" y="1129030"/>
                  </a:lnTo>
                  <a:lnTo>
                    <a:pt x="20563" y="1127760"/>
                  </a:lnTo>
                  <a:lnTo>
                    <a:pt x="20164" y="1127760"/>
                  </a:lnTo>
                  <a:lnTo>
                    <a:pt x="19527" y="1125220"/>
                  </a:lnTo>
                  <a:lnTo>
                    <a:pt x="19460" y="41928"/>
                  </a:lnTo>
                  <a:lnTo>
                    <a:pt x="19254" y="41928"/>
                  </a:lnTo>
                  <a:lnTo>
                    <a:pt x="19460" y="40952"/>
                  </a:lnTo>
                  <a:lnTo>
                    <a:pt x="19547" y="40153"/>
                  </a:lnTo>
                  <a:lnTo>
                    <a:pt x="19687" y="39369"/>
                  </a:lnTo>
                  <a:lnTo>
                    <a:pt x="19981" y="39369"/>
                  </a:lnTo>
                  <a:lnTo>
                    <a:pt x="20022" y="38099"/>
                  </a:lnTo>
                  <a:lnTo>
                    <a:pt x="20397" y="36829"/>
                  </a:lnTo>
                  <a:lnTo>
                    <a:pt x="20629" y="36829"/>
                  </a:lnTo>
                  <a:lnTo>
                    <a:pt x="21308" y="35559"/>
                  </a:lnTo>
                  <a:lnTo>
                    <a:pt x="21419" y="34289"/>
                  </a:lnTo>
                  <a:lnTo>
                    <a:pt x="21677" y="34289"/>
                  </a:lnTo>
                  <a:lnTo>
                    <a:pt x="22638" y="31749"/>
                  </a:lnTo>
                  <a:lnTo>
                    <a:pt x="23153" y="31749"/>
                  </a:lnTo>
                  <a:lnTo>
                    <a:pt x="23494" y="30479"/>
                  </a:lnTo>
                  <a:lnTo>
                    <a:pt x="24018" y="30479"/>
                  </a:lnTo>
                  <a:lnTo>
                    <a:pt x="24615" y="29209"/>
                  </a:lnTo>
                  <a:lnTo>
                    <a:pt x="25727" y="27939"/>
                  </a:lnTo>
                  <a:lnTo>
                    <a:pt x="26348" y="27939"/>
                  </a:lnTo>
                  <a:lnTo>
                    <a:pt x="13547" y="13979"/>
                  </a:lnTo>
                  <a:close/>
                </a:path>
                <a:path w="2651125" h="1164589">
                  <a:moveTo>
                    <a:pt x="43401" y="1145540"/>
                  </a:moveTo>
                  <a:lnTo>
                    <a:pt x="42949" y="1145540"/>
                  </a:lnTo>
                  <a:lnTo>
                    <a:pt x="45114" y="1146932"/>
                  </a:lnTo>
                  <a:lnTo>
                    <a:pt x="44852" y="1146932"/>
                  </a:lnTo>
                  <a:lnTo>
                    <a:pt x="43401" y="1145540"/>
                  </a:lnTo>
                  <a:close/>
                </a:path>
                <a:path w="2651125" h="1164589">
                  <a:moveTo>
                    <a:pt x="43401" y="1145540"/>
                  </a:moveTo>
                  <a:lnTo>
                    <a:pt x="44852" y="1146932"/>
                  </a:lnTo>
                  <a:lnTo>
                    <a:pt x="47573" y="1146932"/>
                  </a:lnTo>
                  <a:lnTo>
                    <a:pt x="43401" y="1145540"/>
                  </a:lnTo>
                  <a:close/>
                </a:path>
                <a:path w="2651125" h="1164589">
                  <a:moveTo>
                    <a:pt x="2607742" y="1145540"/>
                  </a:moveTo>
                  <a:lnTo>
                    <a:pt x="2603589" y="1146932"/>
                  </a:lnTo>
                  <a:lnTo>
                    <a:pt x="2606286" y="1146932"/>
                  </a:lnTo>
                  <a:lnTo>
                    <a:pt x="2607742" y="1145540"/>
                  </a:lnTo>
                  <a:close/>
                </a:path>
                <a:path w="2651125" h="1164589">
                  <a:moveTo>
                    <a:pt x="2639878" y="1145540"/>
                  </a:moveTo>
                  <a:lnTo>
                    <a:pt x="2610453" y="1145540"/>
                  </a:lnTo>
                  <a:lnTo>
                    <a:pt x="2606024" y="1146932"/>
                  </a:lnTo>
                  <a:lnTo>
                    <a:pt x="2639785" y="1146932"/>
                  </a:lnTo>
                  <a:lnTo>
                    <a:pt x="2639878" y="1145540"/>
                  </a:lnTo>
                  <a:close/>
                </a:path>
                <a:path w="2651125" h="1164589">
                  <a:moveTo>
                    <a:pt x="37191" y="1144270"/>
                  </a:moveTo>
                  <a:lnTo>
                    <a:pt x="38072" y="1145540"/>
                  </a:lnTo>
                  <a:lnTo>
                    <a:pt x="38866" y="1145540"/>
                  </a:lnTo>
                  <a:lnTo>
                    <a:pt x="37191" y="1144270"/>
                  </a:lnTo>
                  <a:close/>
                </a:path>
                <a:path w="2651125" h="1164589">
                  <a:moveTo>
                    <a:pt x="37432" y="1144270"/>
                  </a:moveTo>
                  <a:lnTo>
                    <a:pt x="37191" y="1144270"/>
                  </a:lnTo>
                  <a:lnTo>
                    <a:pt x="38866" y="1145540"/>
                  </a:lnTo>
                  <a:lnTo>
                    <a:pt x="38072" y="1145540"/>
                  </a:lnTo>
                  <a:lnTo>
                    <a:pt x="37432" y="1144270"/>
                  </a:lnTo>
                  <a:close/>
                </a:path>
                <a:path w="2651125" h="1164589">
                  <a:moveTo>
                    <a:pt x="2640997" y="1143000"/>
                  </a:moveTo>
                  <a:lnTo>
                    <a:pt x="2617052" y="1143000"/>
                  </a:lnTo>
                  <a:lnTo>
                    <a:pt x="2615583" y="1144270"/>
                  </a:lnTo>
                  <a:lnTo>
                    <a:pt x="2613104" y="1145540"/>
                  </a:lnTo>
                  <a:lnTo>
                    <a:pt x="2640211" y="1145540"/>
                  </a:lnTo>
                  <a:lnTo>
                    <a:pt x="2640425" y="1144270"/>
                  </a:lnTo>
                  <a:lnTo>
                    <a:pt x="2640843" y="1144270"/>
                  </a:lnTo>
                  <a:lnTo>
                    <a:pt x="2640997" y="1143000"/>
                  </a:lnTo>
                  <a:close/>
                </a:path>
                <a:path w="2651125" h="1164589">
                  <a:moveTo>
                    <a:pt x="31358" y="1141730"/>
                  </a:moveTo>
                  <a:lnTo>
                    <a:pt x="30145" y="1141730"/>
                  </a:lnTo>
                  <a:lnTo>
                    <a:pt x="32261" y="1143000"/>
                  </a:lnTo>
                  <a:lnTo>
                    <a:pt x="31358" y="1141730"/>
                  </a:lnTo>
                  <a:close/>
                </a:path>
                <a:path w="2651125" h="1164589">
                  <a:moveTo>
                    <a:pt x="31358" y="1141730"/>
                  </a:moveTo>
                  <a:lnTo>
                    <a:pt x="32229" y="1143000"/>
                  </a:lnTo>
                  <a:lnTo>
                    <a:pt x="32597" y="1143000"/>
                  </a:lnTo>
                  <a:lnTo>
                    <a:pt x="31358" y="1141730"/>
                  </a:lnTo>
                  <a:close/>
                </a:path>
                <a:path w="2651125" h="1164589">
                  <a:moveTo>
                    <a:pt x="2619810" y="1141730"/>
                  </a:moveTo>
                  <a:lnTo>
                    <a:pt x="2617813" y="1143000"/>
                  </a:lnTo>
                  <a:lnTo>
                    <a:pt x="2618908" y="1143000"/>
                  </a:lnTo>
                  <a:lnTo>
                    <a:pt x="2619810" y="1141730"/>
                  </a:lnTo>
                  <a:close/>
                </a:path>
                <a:path w="2651125" h="1164589">
                  <a:moveTo>
                    <a:pt x="2642538" y="1139190"/>
                  </a:moveTo>
                  <a:lnTo>
                    <a:pt x="2622423" y="1139190"/>
                  </a:lnTo>
                  <a:lnTo>
                    <a:pt x="2619810" y="1141730"/>
                  </a:lnTo>
                  <a:lnTo>
                    <a:pt x="2618908" y="1143000"/>
                  </a:lnTo>
                  <a:lnTo>
                    <a:pt x="2620995" y="1141730"/>
                  </a:lnTo>
                  <a:lnTo>
                    <a:pt x="2641945" y="1141730"/>
                  </a:lnTo>
                  <a:lnTo>
                    <a:pt x="2642538" y="1139190"/>
                  </a:lnTo>
                  <a:close/>
                </a:path>
                <a:path w="2651125" h="1164589">
                  <a:moveTo>
                    <a:pt x="2641945" y="1141730"/>
                  </a:moveTo>
                  <a:lnTo>
                    <a:pt x="2620995" y="1141730"/>
                  </a:lnTo>
                  <a:lnTo>
                    <a:pt x="2618908" y="1143000"/>
                  </a:lnTo>
                  <a:lnTo>
                    <a:pt x="2641267" y="1143000"/>
                  </a:lnTo>
                  <a:lnTo>
                    <a:pt x="2641945" y="1141730"/>
                  </a:lnTo>
                  <a:close/>
                </a:path>
                <a:path w="2651125" h="1164589">
                  <a:moveTo>
                    <a:pt x="27203" y="1137920"/>
                  </a:moveTo>
                  <a:lnTo>
                    <a:pt x="28195" y="1139190"/>
                  </a:lnTo>
                  <a:lnTo>
                    <a:pt x="28745" y="1139190"/>
                  </a:lnTo>
                  <a:lnTo>
                    <a:pt x="27203" y="1137920"/>
                  </a:lnTo>
                  <a:close/>
                </a:path>
                <a:path w="2651125" h="1164589">
                  <a:moveTo>
                    <a:pt x="26101" y="1136659"/>
                  </a:moveTo>
                  <a:lnTo>
                    <a:pt x="25628" y="1136659"/>
                  </a:lnTo>
                  <a:lnTo>
                    <a:pt x="27031" y="1137920"/>
                  </a:lnTo>
                  <a:lnTo>
                    <a:pt x="26101" y="1136659"/>
                  </a:lnTo>
                  <a:close/>
                </a:path>
                <a:path w="2651125" h="1164589">
                  <a:moveTo>
                    <a:pt x="2625541" y="1136659"/>
                  </a:moveTo>
                  <a:lnTo>
                    <a:pt x="2624104" y="1137920"/>
                  </a:lnTo>
                  <a:lnTo>
                    <a:pt x="2624243" y="1137920"/>
                  </a:lnTo>
                  <a:lnTo>
                    <a:pt x="2625541" y="1136659"/>
                  </a:lnTo>
                  <a:close/>
                </a:path>
                <a:path w="2651125" h="1164589">
                  <a:moveTo>
                    <a:pt x="2627771" y="1134110"/>
                  </a:moveTo>
                  <a:lnTo>
                    <a:pt x="2625317" y="1136659"/>
                  </a:lnTo>
                  <a:lnTo>
                    <a:pt x="2625542" y="1136659"/>
                  </a:lnTo>
                  <a:lnTo>
                    <a:pt x="2624243" y="1137920"/>
                  </a:lnTo>
                  <a:lnTo>
                    <a:pt x="2643067" y="1137920"/>
                  </a:lnTo>
                  <a:lnTo>
                    <a:pt x="2643607" y="1136659"/>
                  </a:lnTo>
                  <a:lnTo>
                    <a:pt x="2644423" y="1135380"/>
                  </a:lnTo>
                  <a:lnTo>
                    <a:pt x="2626985" y="1135380"/>
                  </a:lnTo>
                  <a:lnTo>
                    <a:pt x="2627771" y="1134110"/>
                  </a:lnTo>
                  <a:close/>
                </a:path>
                <a:path w="2651125" h="1164589">
                  <a:moveTo>
                    <a:pt x="2627768" y="1134110"/>
                  </a:moveTo>
                  <a:lnTo>
                    <a:pt x="2626985" y="1135380"/>
                  </a:lnTo>
                  <a:lnTo>
                    <a:pt x="2627122" y="1135380"/>
                  </a:lnTo>
                  <a:lnTo>
                    <a:pt x="2627768" y="1134110"/>
                  </a:lnTo>
                  <a:close/>
                </a:path>
                <a:path w="2651125" h="1164589">
                  <a:moveTo>
                    <a:pt x="2628551" y="1132840"/>
                  </a:moveTo>
                  <a:lnTo>
                    <a:pt x="2627768" y="1134110"/>
                  </a:lnTo>
                  <a:lnTo>
                    <a:pt x="2627122" y="1135380"/>
                  </a:lnTo>
                  <a:lnTo>
                    <a:pt x="2627983" y="1134110"/>
                  </a:lnTo>
                  <a:lnTo>
                    <a:pt x="2628149" y="1134110"/>
                  </a:lnTo>
                  <a:lnTo>
                    <a:pt x="2628551" y="1132840"/>
                  </a:lnTo>
                  <a:close/>
                </a:path>
                <a:path w="2651125" h="1164589">
                  <a:moveTo>
                    <a:pt x="2646289" y="1130300"/>
                  </a:moveTo>
                  <a:lnTo>
                    <a:pt x="2629600" y="1130300"/>
                  </a:lnTo>
                  <a:lnTo>
                    <a:pt x="2628983" y="1131570"/>
                  </a:lnTo>
                  <a:lnTo>
                    <a:pt x="2629263" y="1131570"/>
                  </a:lnTo>
                  <a:lnTo>
                    <a:pt x="2628779" y="1132840"/>
                  </a:lnTo>
                  <a:lnTo>
                    <a:pt x="2627983" y="1134110"/>
                  </a:lnTo>
                  <a:lnTo>
                    <a:pt x="2627103" y="1135380"/>
                  </a:lnTo>
                  <a:lnTo>
                    <a:pt x="2628142" y="1134110"/>
                  </a:lnTo>
                  <a:lnTo>
                    <a:pt x="2644894" y="1134110"/>
                  </a:lnTo>
                  <a:lnTo>
                    <a:pt x="2645364" y="1132840"/>
                  </a:lnTo>
                  <a:lnTo>
                    <a:pt x="2646004" y="1131570"/>
                  </a:lnTo>
                  <a:lnTo>
                    <a:pt x="2646289" y="1130300"/>
                  </a:lnTo>
                  <a:close/>
                </a:path>
                <a:path w="2651125" h="1164589">
                  <a:moveTo>
                    <a:pt x="2644894" y="1134110"/>
                  </a:moveTo>
                  <a:lnTo>
                    <a:pt x="2628142" y="1134110"/>
                  </a:lnTo>
                  <a:lnTo>
                    <a:pt x="2627103" y="1135380"/>
                  </a:lnTo>
                  <a:lnTo>
                    <a:pt x="2644423" y="1135380"/>
                  </a:lnTo>
                  <a:lnTo>
                    <a:pt x="2644894" y="1134110"/>
                  </a:lnTo>
                  <a:close/>
                </a:path>
                <a:path w="2651125" h="1164589">
                  <a:moveTo>
                    <a:pt x="23021" y="1132840"/>
                  </a:moveTo>
                  <a:lnTo>
                    <a:pt x="22854" y="1132840"/>
                  </a:lnTo>
                  <a:lnTo>
                    <a:pt x="23092" y="1134110"/>
                  </a:lnTo>
                  <a:lnTo>
                    <a:pt x="23021" y="1132840"/>
                  </a:lnTo>
                  <a:close/>
                </a:path>
                <a:path w="2651125" h="1164589">
                  <a:moveTo>
                    <a:pt x="22010" y="1131570"/>
                  </a:moveTo>
                  <a:lnTo>
                    <a:pt x="21757" y="1131570"/>
                  </a:lnTo>
                  <a:lnTo>
                    <a:pt x="22197" y="1132840"/>
                  </a:lnTo>
                  <a:lnTo>
                    <a:pt x="22010" y="1131570"/>
                  </a:lnTo>
                  <a:close/>
                </a:path>
                <a:path w="2651125" h="1164589">
                  <a:moveTo>
                    <a:pt x="22111" y="1131570"/>
                  </a:moveTo>
                  <a:lnTo>
                    <a:pt x="21935" y="1131570"/>
                  </a:lnTo>
                  <a:lnTo>
                    <a:pt x="22256" y="1132840"/>
                  </a:lnTo>
                  <a:lnTo>
                    <a:pt x="22705" y="1132840"/>
                  </a:lnTo>
                  <a:lnTo>
                    <a:pt x="22111" y="1131570"/>
                  </a:lnTo>
                  <a:close/>
                </a:path>
                <a:path w="2651125" h="1164589">
                  <a:moveTo>
                    <a:pt x="2647356" y="1127760"/>
                  </a:moveTo>
                  <a:lnTo>
                    <a:pt x="2630613" y="1127760"/>
                  </a:lnTo>
                  <a:lnTo>
                    <a:pt x="2629836" y="1130300"/>
                  </a:lnTo>
                  <a:lnTo>
                    <a:pt x="2630033" y="1130300"/>
                  </a:lnTo>
                  <a:lnTo>
                    <a:pt x="2630444" y="1129030"/>
                  </a:lnTo>
                  <a:lnTo>
                    <a:pt x="2647068" y="1129030"/>
                  </a:lnTo>
                  <a:lnTo>
                    <a:pt x="2647356" y="1127760"/>
                  </a:lnTo>
                  <a:close/>
                </a:path>
                <a:path w="2651125" h="1164589">
                  <a:moveTo>
                    <a:pt x="2647068" y="1129030"/>
                  </a:moveTo>
                  <a:lnTo>
                    <a:pt x="2630444" y="1129030"/>
                  </a:lnTo>
                  <a:lnTo>
                    <a:pt x="2630033" y="1130300"/>
                  </a:lnTo>
                  <a:lnTo>
                    <a:pt x="2646562" y="1130300"/>
                  </a:lnTo>
                  <a:lnTo>
                    <a:pt x="2647068" y="1129030"/>
                  </a:lnTo>
                  <a:close/>
                </a:path>
                <a:path w="2651125" h="1164589">
                  <a:moveTo>
                    <a:pt x="2648574" y="40154"/>
                  </a:moveTo>
                  <a:lnTo>
                    <a:pt x="2631794" y="40154"/>
                  </a:lnTo>
                  <a:lnTo>
                    <a:pt x="2631794" y="1123950"/>
                  </a:lnTo>
                  <a:lnTo>
                    <a:pt x="2631609" y="1124781"/>
                  </a:lnTo>
                  <a:lnTo>
                    <a:pt x="2631511" y="1125220"/>
                  </a:lnTo>
                  <a:lnTo>
                    <a:pt x="2631297" y="1125220"/>
                  </a:lnTo>
                  <a:lnTo>
                    <a:pt x="2630839" y="1127760"/>
                  </a:lnTo>
                  <a:lnTo>
                    <a:pt x="2647710" y="1127760"/>
                  </a:lnTo>
                  <a:lnTo>
                    <a:pt x="2649200" y="1123950"/>
                  </a:lnTo>
                  <a:lnTo>
                    <a:pt x="2649550" y="1122680"/>
                  </a:lnTo>
                  <a:lnTo>
                    <a:pt x="2649938" y="1122680"/>
                  </a:lnTo>
                  <a:lnTo>
                    <a:pt x="2651113" y="1118870"/>
                  </a:lnTo>
                  <a:lnTo>
                    <a:pt x="2651112" y="45720"/>
                  </a:lnTo>
                  <a:lnTo>
                    <a:pt x="2649575" y="41928"/>
                  </a:lnTo>
                  <a:lnTo>
                    <a:pt x="2649224" y="41928"/>
                  </a:lnTo>
                  <a:lnTo>
                    <a:pt x="2648574" y="40154"/>
                  </a:lnTo>
                  <a:close/>
                </a:path>
                <a:path w="2651125" h="1164589">
                  <a:moveTo>
                    <a:pt x="2631609" y="40640"/>
                  </a:moveTo>
                  <a:lnTo>
                    <a:pt x="2631518" y="40952"/>
                  </a:lnTo>
                  <a:lnTo>
                    <a:pt x="2631702" y="41928"/>
                  </a:lnTo>
                  <a:lnTo>
                    <a:pt x="2631826" y="42587"/>
                  </a:lnTo>
                  <a:lnTo>
                    <a:pt x="2631855" y="41928"/>
                  </a:lnTo>
                  <a:lnTo>
                    <a:pt x="2631674" y="40952"/>
                  </a:lnTo>
                  <a:lnTo>
                    <a:pt x="2631609" y="40640"/>
                  </a:lnTo>
                  <a:close/>
                </a:path>
                <a:path w="2651125" h="1164589">
                  <a:moveTo>
                    <a:pt x="19460" y="40952"/>
                  </a:moveTo>
                  <a:lnTo>
                    <a:pt x="19254" y="41928"/>
                  </a:lnTo>
                  <a:lnTo>
                    <a:pt x="19460" y="41928"/>
                  </a:lnTo>
                  <a:lnTo>
                    <a:pt x="19460" y="40952"/>
                  </a:lnTo>
                  <a:close/>
                </a:path>
                <a:path w="2651125" h="1164589">
                  <a:moveTo>
                    <a:pt x="2630038" y="35560"/>
                  </a:moveTo>
                  <a:lnTo>
                    <a:pt x="2629817" y="35560"/>
                  </a:lnTo>
                  <a:lnTo>
                    <a:pt x="2630612" y="36830"/>
                  </a:lnTo>
                  <a:lnTo>
                    <a:pt x="2630950" y="38100"/>
                  </a:lnTo>
                  <a:lnTo>
                    <a:pt x="2631236" y="39370"/>
                  </a:lnTo>
                  <a:lnTo>
                    <a:pt x="2631372" y="39370"/>
                  </a:lnTo>
                  <a:lnTo>
                    <a:pt x="2631518" y="40154"/>
                  </a:lnTo>
                  <a:lnTo>
                    <a:pt x="2631635" y="40640"/>
                  </a:lnTo>
                  <a:lnTo>
                    <a:pt x="2631655" y="40952"/>
                  </a:lnTo>
                  <a:lnTo>
                    <a:pt x="2631796" y="41928"/>
                  </a:lnTo>
                  <a:lnTo>
                    <a:pt x="2631795" y="40952"/>
                  </a:lnTo>
                  <a:lnTo>
                    <a:pt x="2631635" y="40640"/>
                  </a:lnTo>
                  <a:lnTo>
                    <a:pt x="2631795" y="40640"/>
                  </a:lnTo>
                  <a:lnTo>
                    <a:pt x="2631794" y="40154"/>
                  </a:lnTo>
                  <a:lnTo>
                    <a:pt x="2648574" y="40154"/>
                  </a:lnTo>
                  <a:lnTo>
                    <a:pt x="2647357" y="36830"/>
                  </a:lnTo>
                  <a:lnTo>
                    <a:pt x="2630444" y="36830"/>
                  </a:lnTo>
                  <a:lnTo>
                    <a:pt x="2630038" y="35560"/>
                  </a:lnTo>
                  <a:close/>
                </a:path>
                <a:path w="2651125" h="1164589">
                  <a:moveTo>
                    <a:pt x="19637" y="40153"/>
                  </a:moveTo>
                  <a:lnTo>
                    <a:pt x="19460" y="40639"/>
                  </a:lnTo>
                  <a:lnTo>
                    <a:pt x="19606" y="40639"/>
                  </a:lnTo>
                  <a:lnTo>
                    <a:pt x="19637" y="40153"/>
                  </a:lnTo>
                  <a:close/>
                </a:path>
                <a:path w="2651125" h="1164589">
                  <a:moveTo>
                    <a:pt x="19828" y="39369"/>
                  </a:moveTo>
                  <a:lnTo>
                    <a:pt x="19687" y="39369"/>
                  </a:lnTo>
                  <a:lnTo>
                    <a:pt x="19679" y="40153"/>
                  </a:lnTo>
                  <a:lnTo>
                    <a:pt x="19828" y="39369"/>
                  </a:lnTo>
                  <a:close/>
                </a:path>
                <a:path w="2651125" h="1164589">
                  <a:moveTo>
                    <a:pt x="2642388" y="25077"/>
                  </a:moveTo>
                  <a:lnTo>
                    <a:pt x="2622794" y="25077"/>
                  </a:lnTo>
                  <a:lnTo>
                    <a:pt x="2624432" y="26778"/>
                  </a:lnTo>
                  <a:lnTo>
                    <a:pt x="2624651" y="27066"/>
                  </a:lnTo>
                  <a:lnTo>
                    <a:pt x="2625550" y="27940"/>
                  </a:lnTo>
                  <a:lnTo>
                    <a:pt x="2624652" y="27940"/>
                  </a:lnTo>
                  <a:lnTo>
                    <a:pt x="2627568" y="30480"/>
                  </a:lnTo>
                  <a:lnTo>
                    <a:pt x="2628099" y="31750"/>
                  </a:lnTo>
                  <a:lnTo>
                    <a:pt x="2628301" y="31750"/>
                  </a:lnTo>
                  <a:lnTo>
                    <a:pt x="2628794" y="33020"/>
                  </a:lnTo>
                  <a:lnTo>
                    <a:pt x="2628991" y="33020"/>
                  </a:lnTo>
                  <a:lnTo>
                    <a:pt x="2629178" y="34290"/>
                  </a:lnTo>
                  <a:lnTo>
                    <a:pt x="2629600" y="34290"/>
                  </a:lnTo>
                  <a:lnTo>
                    <a:pt x="2629997" y="35560"/>
                  </a:lnTo>
                  <a:lnTo>
                    <a:pt x="2630444" y="36830"/>
                  </a:lnTo>
                  <a:lnTo>
                    <a:pt x="2647076" y="36830"/>
                  </a:lnTo>
                  <a:lnTo>
                    <a:pt x="2646304" y="34290"/>
                  </a:lnTo>
                  <a:lnTo>
                    <a:pt x="2645392" y="31750"/>
                  </a:lnTo>
                  <a:lnTo>
                    <a:pt x="2644444" y="30480"/>
                  </a:lnTo>
                  <a:lnTo>
                    <a:pt x="2643637" y="27940"/>
                  </a:lnTo>
                  <a:lnTo>
                    <a:pt x="2625550" y="27940"/>
                  </a:lnTo>
                  <a:lnTo>
                    <a:pt x="2624428" y="27066"/>
                  </a:lnTo>
                  <a:lnTo>
                    <a:pt x="2643263" y="27066"/>
                  </a:lnTo>
                  <a:lnTo>
                    <a:pt x="2642622" y="25571"/>
                  </a:lnTo>
                  <a:lnTo>
                    <a:pt x="2642388" y="25077"/>
                  </a:lnTo>
                  <a:close/>
                </a:path>
                <a:path w="2651125" h="1164589">
                  <a:moveTo>
                    <a:pt x="22643" y="31749"/>
                  </a:moveTo>
                  <a:lnTo>
                    <a:pt x="22086" y="33019"/>
                  </a:lnTo>
                  <a:lnTo>
                    <a:pt x="22389" y="33019"/>
                  </a:lnTo>
                  <a:lnTo>
                    <a:pt x="22643" y="31749"/>
                  </a:lnTo>
                  <a:close/>
                </a:path>
                <a:path w="2651125" h="1164589">
                  <a:moveTo>
                    <a:pt x="2627163" y="30480"/>
                  </a:moveTo>
                  <a:lnTo>
                    <a:pt x="2626985" y="30480"/>
                  </a:lnTo>
                  <a:lnTo>
                    <a:pt x="2628518" y="31750"/>
                  </a:lnTo>
                  <a:lnTo>
                    <a:pt x="2627856" y="31750"/>
                  </a:lnTo>
                  <a:lnTo>
                    <a:pt x="2627163" y="30480"/>
                  </a:lnTo>
                  <a:close/>
                </a:path>
                <a:path w="2651125" h="1164589">
                  <a:moveTo>
                    <a:pt x="25864" y="27939"/>
                  </a:moveTo>
                  <a:lnTo>
                    <a:pt x="25727" y="27939"/>
                  </a:lnTo>
                  <a:lnTo>
                    <a:pt x="25114" y="29209"/>
                  </a:lnTo>
                  <a:lnTo>
                    <a:pt x="25864" y="27939"/>
                  </a:lnTo>
                  <a:close/>
                </a:path>
                <a:path w="2651125" h="1164589">
                  <a:moveTo>
                    <a:pt x="13530" y="13979"/>
                  </a:moveTo>
                  <a:lnTo>
                    <a:pt x="26348" y="27939"/>
                  </a:lnTo>
                  <a:lnTo>
                    <a:pt x="26607" y="27066"/>
                  </a:lnTo>
                  <a:lnTo>
                    <a:pt x="26727" y="26778"/>
                  </a:lnTo>
                  <a:lnTo>
                    <a:pt x="27723" y="26778"/>
                  </a:lnTo>
                  <a:lnTo>
                    <a:pt x="13530" y="13979"/>
                  </a:lnTo>
                  <a:close/>
                </a:path>
                <a:path w="2651125" h="1164589">
                  <a:moveTo>
                    <a:pt x="27012" y="26778"/>
                  </a:moveTo>
                  <a:lnTo>
                    <a:pt x="26727" y="26778"/>
                  </a:lnTo>
                  <a:lnTo>
                    <a:pt x="26246" y="27939"/>
                  </a:lnTo>
                  <a:lnTo>
                    <a:pt x="26847" y="27066"/>
                  </a:lnTo>
                  <a:lnTo>
                    <a:pt x="27012" y="26778"/>
                  </a:lnTo>
                  <a:close/>
                </a:path>
                <a:path w="2651125" h="1164589">
                  <a:moveTo>
                    <a:pt x="2624354" y="26778"/>
                  </a:moveTo>
                  <a:lnTo>
                    <a:pt x="2624428" y="27066"/>
                  </a:lnTo>
                  <a:lnTo>
                    <a:pt x="2625550" y="27940"/>
                  </a:lnTo>
                  <a:lnTo>
                    <a:pt x="2624709" y="27066"/>
                  </a:lnTo>
                  <a:lnTo>
                    <a:pt x="2624354" y="26778"/>
                  </a:lnTo>
                  <a:close/>
                </a:path>
                <a:path w="2651125" h="1164589">
                  <a:moveTo>
                    <a:pt x="2623662" y="26105"/>
                  </a:moveTo>
                  <a:lnTo>
                    <a:pt x="2624058" y="26778"/>
                  </a:lnTo>
                  <a:lnTo>
                    <a:pt x="2624428" y="27066"/>
                  </a:lnTo>
                  <a:lnTo>
                    <a:pt x="2624354" y="26778"/>
                  </a:lnTo>
                  <a:lnTo>
                    <a:pt x="2623662" y="26105"/>
                  </a:lnTo>
                  <a:close/>
                </a:path>
                <a:path w="2651125" h="1164589">
                  <a:moveTo>
                    <a:pt x="2604966" y="0"/>
                  </a:moveTo>
                  <a:lnTo>
                    <a:pt x="46143" y="0"/>
                  </a:lnTo>
                  <a:lnTo>
                    <a:pt x="28182" y="3809"/>
                  </a:lnTo>
                  <a:lnTo>
                    <a:pt x="13530" y="13979"/>
                  </a:lnTo>
                  <a:lnTo>
                    <a:pt x="27723" y="26778"/>
                  </a:lnTo>
                  <a:lnTo>
                    <a:pt x="28358" y="25571"/>
                  </a:lnTo>
                  <a:lnTo>
                    <a:pt x="28446" y="25402"/>
                  </a:lnTo>
                  <a:lnTo>
                    <a:pt x="29718" y="24129"/>
                  </a:lnTo>
                  <a:lnTo>
                    <a:pt x="30270" y="24129"/>
                  </a:lnTo>
                  <a:lnTo>
                    <a:pt x="31245" y="22859"/>
                  </a:lnTo>
                  <a:lnTo>
                    <a:pt x="32383" y="22859"/>
                  </a:lnTo>
                  <a:lnTo>
                    <a:pt x="33288" y="21589"/>
                  </a:lnTo>
                  <a:lnTo>
                    <a:pt x="35000" y="21589"/>
                  </a:lnTo>
                  <a:lnTo>
                    <a:pt x="36128" y="20319"/>
                  </a:lnTo>
                  <a:lnTo>
                    <a:pt x="39251" y="20319"/>
                  </a:lnTo>
                  <a:lnTo>
                    <a:pt x="40258" y="19049"/>
                  </a:lnTo>
                  <a:lnTo>
                    <a:pt x="2639811" y="19050"/>
                  </a:lnTo>
                  <a:lnTo>
                    <a:pt x="2637543" y="13979"/>
                  </a:lnTo>
                  <a:lnTo>
                    <a:pt x="2630710" y="7620"/>
                  </a:lnTo>
                  <a:lnTo>
                    <a:pt x="2622912" y="3810"/>
                  </a:lnTo>
                  <a:lnTo>
                    <a:pt x="2614254" y="1270"/>
                  </a:lnTo>
                  <a:lnTo>
                    <a:pt x="2604966" y="0"/>
                  </a:lnTo>
                  <a:close/>
                </a:path>
                <a:path w="2651125" h="1164589">
                  <a:moveTo>
                    <a:pt x="2623297" y="26105"/>
                  </a:moveTo>
                  <a:lnTo>
                    <a:pt x="2623531" y="26778"/>
                  </a:lnTo>
                  <a:lnTo>
                    <a:pt x="2624038" y="26778"/>
                  </a:lnTo>
                  <a:lnTo>
                    <a:pt x="2623297" y="26105"/>
                  </a:lnTo>
                  <a:close/>
                </a:path>
                <a:path w="2651125" h="1164589">
                  <a:moveTo>
                    <a:pt x="2641426" y="22860"/>
                  </a:moveTo>
                  <a:lnTo>
                    <a:pt x="2619978" y="22860"/>
                  </a:lnTo>
                  <a:lnTo>
                    <a:pt x="2620371" y="23447"/>
                  </a:lnTo>
                  <a:lnTo>
                    <a:pt x="2623297" y="26105"/>
                  </a:lnTo>
                  <a:lnTo>
                    <a:pt x="2623112" y="25571"/>
                  </a:lnTo>
                  <a:lnTo>
                    <a:pt x="2622794" y="25077"/>
                  </a:lnTo>
                  <a:lnTo>
                    <a:pt x="2642388" y="25077"/>
                  </a:lnTo>
                  <a:lnTo>
                    <a:pt x="2641917" y="24130"/>
                  </a:lnTo>
                  <a:lnTo>
                    <a:pt x="2641426" y="22860"/>
                  </a:lnTo>
                  <a:close/>
                </a:path>
                <a:path w="2651125" h="1164589">
                  <a:moveTo>
                    <a:pt x="2623107" y="25402"/>
                  </a:moveTo>
                  <a:lnTo>
                    <a:pt x="2623112" y="25571"/>
                  </a:lnTo>
                  <a:lnTo>
                    <a:pt x="2623662" y="26105"/>
                  </a:lnTo>
                  <a:lnTo>
                    <a:pt x="2623269" y="25571"/>
                  </a:lnTo>
                  <a:lnTo>
                    <a:pt x="2623106" y="25402"/>
                  </a:lnTo>
                  <a:close/>
                </a:path>
                <a:path w="2651125" h="1164589">
                  <a:moveTo>
                    <a:pt x="29913" y="24129"/>
                  </a:moveTo>
                  <a:lnTo>
                    <a:pt x="29718" y="24129"/>
                  </a:lnTo>
                  <a:lnTo>
                    <a:pt x="29059" y="25077"/>
                  </a:lnTo>
                  <a:lnTo>
                    <a:pt x="29913" y="24129"/>
                  </a:lnTo>
                  <a:close/>
                </a:path>
                <a:path w="2651125" h="1164589">
                  <a:moveTo>
                    <a:pt x="30889" y="23447"/>
                  </a:moveTo>
                  <a:lnTo>
                    <a:pt x="30285" y="24129"/>
                  </a:lnTo>
                  <a:lnTo>
                    <a:pt x="30476" y="24129"/>
                  </a:lnTo>
                  <a:lnTo>
                    <a:pt x="30889" y="23447"/>
                  </a:lnTo>
                  <a:close/>
                </a:path>
                <a:path w="2651125" h="1164589">
                  <a:moveTo>
                    <a:pt x="2619723" y="22860"/>
                  </a:moveTo>
                  <a:lnTo>
                    <a:pt x="2618957" y="22860"/>
                  </a:lnTo>
                  <a:lnTo>
                    <a:pt x="2620826" y="24130"/>
                  </a:lnTo>
                  <a:lnTo>
                    <a:pt x="2620371" y="23447"/>
                  </a:lnTo>
                  <a:lnTo>
                    <a:pt x="2619723" y="22860"/>
                  </a:lnTo>
                  <a:close/>
                </a:path>
                <a:path w="2651125" h="1164589">
                  <a:moveTo>
                    <a:pt x="2640513" y="20320"/>
                  </a:moveTo>
                  <a:lnTo>
                    <a:pt x="2615279" y="20320"/>
                  </a:lnTo>
                  <a:lnTo>
                    <a:pt x="2616524" y="21590"/>
                  </a:lnTo>
                  <a:lnTo>
                    <a:pt x="2617865" y="21590"/>
                  </a:lnTo>
                  <a:lnTo>
                    <a:pt x="2619723" y="22860"/>
                  </a:lnTo>
                  <a:lnTo>
                    <a:pt x="2620371" y="23447"/>
                  </a:lnTo>
                  <a:lnTo>
                    <a:pt x="2619978" y="22860"/>
                  </a:lnTo>
                  <a:lnTo>
                    <a:pt x="2641426" y="22860"/>
                  </a:lnTo>
                  <a:lnTo>
                    <a:pt x="2640636" y="20813"/>
                  </a:lnTo>
                  <a:lnTo>
                    <a:pt x="2640513" y="20320"/>
                  </a:lnTo>
                  <a:close/>
                </a:path>
                <a:path w="2651125" h="1164589">
                  <a:moveTo>
                    <a:pt x="33731" y="21589"/>
                  </a:moveTo>
                  <a:lnTo>
                    <a:pt x="33214" y="21589"/>
                  </a:lnTo>
                  <a:lnTo>
                    <a:pt x="32383" y="22859"/>
                  </a:lnTo>
                  <a:lnTo>
                    <a:pt x="32700" y="22859"/>
                  </a:lnTo>
                  <a:lnTo>
                    <a:pt x="33731" y="21589"/>
                  </a:lnTo>
                  <a:close/>
                </a:path>
                <a:path w="2651125" h="1164589">
                  <a:moveTo>
                    <a:pt x="2617611" y="21590"/>
                  </a:moveTo>
                  <a:lnTo>
                    <a:pt x="2618819" y="22860"/>
                  </a:lnTo>
                  <a:lnTo>
                    <a:pt x="2619022" y="22860"/>
                  </a:lnTo>
                  <a:lnTo>
                    <a:pt x="2617611" y="21590"/>
                  </a:lnTo>
                  <a:close/>
                </a:path>
                <a:path w="2651125" h="1164589">
                  <a:moveTo>
                    <a:pt x="36718" y="20319"/>
                  </a:moveTo>
                  <a:lnTo>
                    <a:pt x="36128" y="20319"/>
                  </a:lnTo>
                  <a:lnTo>
                    <a:pt x="35633" y="21589"/>
                  </a:lnTo>
                  <a:lnTo>
                    <a:pt x="36718" y="20319"/>
                  </a:lnTo>
                  <a:close/>
                </a:path>
                <a:path w="2651125" h="1164589">
                  <a:moveTo>
                    <a:pt x="2640092" y="19050"/>
                  </a:moveTo>
                  <a:lnTo>
                    <a:pt x="2610206" y="19050"/>
                  </a:lnTo>
                  <a:lnTo>
                    <a:pt x="2613110" y="20320"/>
                  </a:lnTo>
                  <a:lnTo>
                    <a:pt x="2615560" y="21590"/>
                  </a:lnTo>
                  <a:lnTo>
                    <a:pt x="2614668" y="20320"/>
                  </a:lnTo>
                  <a:lnTo>
                    <a:pt x="2640197" y="20320"/>
                  </a:lnTo>
                  <a:lnTo>
                    <a:pt x="2640092" y="19050"/>
                  </a:lnTo>
                  <a:close/>
                </a:path>
                <a:path w="2651125" h="1164589">
                  <a:moveTo>
                    <a:pt x="2615388" y="20813"/>
                  </a:moveTo>
                  <a:lnTo>
                    <a:pt x="2615560" y="21590"/>
                  </a:lnTo>
                  <a:lnTo>
                    <a:pt x="2616524" y="21590"/>
                  </a:lnTo>
                  <a:lnTo>
                    <a:pt x="2615388" y="20813"/>
                  </a:lnTo>
                  <a:close/>
                </a:path>
                <a:path w="2651125" h="1164589">
                  <a:moveTo>
                    <a:pt x="2615279" y="20320"/>
                  </a:moveTo>
                  <a:lnTo>
                    <a:pt x="2615388" y="20813"/>
                  </a:lnTo>
                  <a:lnTo>
                    <a:pt x="2616524" y="21590"/>
                  </a:lnTo>
                  <a:lnTo>
                    <a:pt x="2615279" y="20320"/>
                  </a:lnTo>
                  <a:close/>
                </a:path>
                <a:path w="2651125" h="1164589">
                  <a:moveTo>
                    <a:pt x="2615279" y="20320"/>
                  </a:moveTo>
                  <a:lnTo>
                    <a:pt x="2614668" y="20320"/>
                  </a:lnTo>
                  <a:lnTo>
                    <a:pt x="2615388" y="20813"/>
                  </a:lnTo>
                  <a:lnTo>
                    <a:pt x="2615279" y="20320"/>
                  </a:lnTo>
                  <a:close/>
                </a:path>
              </a:pathLst>
            </a:custGeom>
            <a:solidFill>
              <a:srgbClr val="E4BD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327628" y="3565598"/>
              <a:ext cx="531495" cy="1127760"/>
            </a:xfrm>
            <a:custGeom>
              <a:avLst/>
              <a:gdLst/>
              <a:ahLst/>
              <a:cxnLst/>
              <a:rect l="l" t="t" r="r" b="b"/>
              <a:pathLst>
                <a:path w="531495" h="1127760">
                  <a:moveTo>
                    <a:pt x="531484" y="0"/>
                  </a:moveTo>
                  <a:lnTo>
                    <a:pt x="27162" y="0"/>
                  </a:lnTo>
                  <a:lnTo>
                    <a:pt x="0" y="27041"/>
                  </a:lnTo>
                  <a:lnTo>
                    <a:pt x="0" y="1100372"/>
                  </a:lnTo>
                  <a:lnTo>
                    <a:pt x="27162" y="1127412"/>
                  </a:lnTo>
                  <a:lnTo>
                    <a:pt x="531484" y="1127412"/>
                  </a:lnTo>
                  <a:lnTo>
                    <a:pt x="531484" y="0"/>
                  </a:lnTo>
                  <a:close/>
                </a:path>
              </a:pathLst>
            </a:custGeom>
            <a:solidFill>
              <a:srgbClr val="FFD7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523994" y="3984561"/>
            <a:ext cx="13906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50" b="1">
                <a:solidFill>
                  <a:srgbClr val="403B4E"/>
                </a:solidFill>
                <a:latin typeface="Cambria"/>
                <a:cs typeface="Cambria"/>
              </a:rPr>
              <a:t>3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40300" y="3663759"/>
            <a:ext cx="1663700" cy="8870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426084">
              <a:lnSpc>
                <a:spcPct val="110100"/>
              </a:lnSpc>
              <a:spcBef>
                <a:spcPts val="95"/>
              </a:spcBef>
            </a:pPr>
            <a:r>
              <a:rPr dirty="0" sz="1250" spc="120" b="1">
                <a:solidFill>
                  <a:srgbClr val="403B4E"/>
                </a:solidFill>
                <a:latin typeface="Cambria"/>
                <a:cs typeface="Cambria"/>
              </a:rPr>
              <a:t>Built-</a:t>
            </a:r>
            <a:r>
              <a:rPr dirty="0" sz="1250" spc="60" b="1">
                <a:solidFill>
                  <a:srgbClr val="403B4E"/>
                </a:solidFill>
                <a:latin typeface="Cambria"/>
                <a:cs typeface="Cambria"/>
              </a:rPr>
              <a:t>in Regularisation</a:t>
            </a:r>
            <a:endParaRPr sz="12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950" spc="30">
                <a:solidFill>
                  <a:srgbClr val="403B4E"/>
                </a:solidFill>
                <a:latin typeface="Arial MT"/>
                <a:cs typeface="Arial MT"/>
              </a:rPr>
              <a:t>L1</a:t>
            </a:r>
            <a:r>
              <a:rPr dirty="0" sz="95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65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950" spc="-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30">
                <a:solidFill>
                  <a:srgbClr val="403B4E"/>
                </a:solidFill>
                <a:latin typeface="Arial MT"/>
                <a:cs typeface="Arial MT"/>
              </a:rPr>
              <a:t>L2</a:t>
            </a:r>
            <a:r>
              <a:rPr dirty="0" sz="950" spc="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30">
                <a:solidFill>
                  <a:srgbClr val="403B4E"/>
                </a:solidFill>
                <a:latin typeface="Arial MT"/>
                <a:cs typeface="Arial MT"/>
              </a:rPr>
              <a:t>penalties</a:t>
            </a:r>
            <a:r>
              <a:rPr dirty="0" sz="950" spc="-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55">
                <a:solidFill>
                  <a:srgbClr val="403B4E"/>
                </a:solidFill>
                <a:latin typeface="Arial MT"/>
                <a:cs typeface="Arial MT"/>
              </a:rPr>
              <a:t>prevent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950" spc="50">
                <a:solidFill>
                  <a:srgbClr val="403B4E"/>
                </a:solidFill>
                <a:latin typeface="Arial MT"/>
                <a:cs typeface="Arial MT"/>
              </a:rPr>
              <a:t>overfitting</a:t>
            </a:r>
            <a:r>
              <a:rPr dirty="0" sz="95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70">
                <a:solidFill>
                  <a:srgbClr val="403B4E"/>
                </a:solidFill>
                <a:latin typeface="Arial MT"/>
                <a:cs typeface="Arial MT"/>
              </a:rPr>
              <a:t>on</a:t>
            </a:r>
            <a:r>
              <a:rPr dirty="0" sz="950" spc="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50">
                <a:solidFill>
                  <a:srgbClr val="403B4E"/>
                </a:solidFill>
                <a:latin typeface="Arial MT"/>
                <a:cs typeface="Arial MT"/>
              </a:rPr>
              <a:t>training</a:t>
            </a:r>
            <a:r>
              <a:rPr dirty="0" sz="95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403B4E"/>
                </a:solidFill>
                <a:latin typeface="Arial MT"/>
                <a:cs typeface="Arial MT"/>
              </a:rPr>
              <a:t>data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308646" y="4813530"/>
            <a:ext cx="2651125" cy="1155700"/>
            <a:chOff x="4308646" y="4813530"/>
            <a:chExt cx="2651125" cy="1155700"/>
          </a:xfrm>
        </p:grpSpPr>
        <p:sp>
          <p:nvSpPr>
            <p:cNvPr id="21" name="object 21"/>
            <p:cNvSpPr/>
            <p:nvPr/>
          </p:nvSpPr>
          <p:spPr>
            <a:xfrm>
              <a:off x="4308646" y="4813530"/>
              <a:ext cx="2651125" cy="1155700"/>
            </a:xfrm>
            <a:custGeom>
              <a:avLst/>
              <a:gdLst/>
              <a:ahLst/>
              <a:cxnLst/>
              <a:rect l="l" t="t" r="r" b="b"/>
              <a:pathLst>
                <a:path w="2651125" h="1155700">
                  <a:moveTo>
                    <a:pt x="13546" y="13979"/>
                  </a:moveTo>
                  <a:lnTo>
                    <a:pt x="9924" y="19049"/>
                  </a:lnTo>
                  <a:lnTo>
                    <a:pt x="3626" y="27939"/>
                  </a:lnTo>
                  <a:lnTo>
                    <a:pt x="0" y="45719"/>
                  </a:lnTo>
                  <a:lnTo>
                    <a:pt x="0" y="1111249"/>
                  </a:lnTo>
                  <a:lnTo>
                    <a:pt x="46144" y="1155699"/>
                  </a:lnTo>
                  <a:lnTo>
                    <a:pt x="2604966" y="1155699"/>
                  </a:lnTo>
                  <a:lnTo>
                    <a:pt x="2637530" y="1142999"/>
                  </a:lnTo>
                  <a:lnTo>
                    <a:pt x="2639791" y="1137924"/>
                  </a:lnTo>
                  <a:lnTo>
                    <a:pt x="43400" y="1137924"/>
                  </a:lnTo>
                  <a:lnTo>
                    <a:pt x="42250" y="1136649"/>
                  </a:lnTo>
                  <a:lnTo>
                    <a:pt x="37432" y="1136649"/>
                  </a:lnTo>
                  <a:lnTo>
                    <a:pt x="36822" y="1135379"/>
                  </a:lnTo>
                  <a:lnTo>
                    <a:pt x="33942" y="1135379"/>
                  </a:lnTo>
                  <a:lnTo>
                    <a:pt x="32774" y="1134109"/>
                  </a:lnTo>
                  <a:lnTo>
                    <a:pt x="32229" y="1134109"/>
                  </a:lnTo>
                  <a:lnTo>
                    <a:pt x="30145" y="1132839"/>
                  </a:lnTo>
                  <a:lnTo>
                    <a:pt x="30475" y="1132839"/>
                  </a:lnTo>
                  <a:lnTo>
                    <a:pt x="28745" y="1131569"/>
                  </a:lnTo>
                  <a:lnTo>
                    <a:pt x="28195" y="1131569"/>
                  </a:lnTo>
                  <a:lnTo>
                    <a:pt x="25618" y="1129029"/>
                  </a:lnTo>
                  <a:lnTo>
                    <a:pt x="26094" y="1129029"/>
                  </a:lnTo>
                  <a:lnTo>
                    <a:pt x="24367" y="1126489"/>
                  </a:lnTo>
                  <a:lnTo>
                    <a:pt x="23187" y="1125219"/>
                  </a:lnTo>
                  <a:lnTo>
                    <a:pt x="23021" y="1125219"/>
                  </a:lnTo>
                  <a:lnTo>
                    <a:pt x="22254" y="1123949"/>
                  </a:lnTo>
                  <a:lnTo>
                    <a:pt x="21757" y="1122679"/>
                  </a:lnTo>
                  <a:lnTo>
                    <a:pt x="21603" y="1122679"/>
                  </a:lnTo>
                  <a:lnTo>
                    <a:pt x="21079" y="1121409"/>
                  </a:lnTo>
                  <a:lnTo>
                    <a:pt x="20696" y="1120139"/>
                  </a:lnTo>
                  <a:lnTo>
                    <a:pt x="20477" y="1120139"/>
                  </a:lnTo>
                  <a:lnTo>
                    <a:pt x="20259" y="1118869"/>
                  </a:lnTo>
                  <a:lnTo>
                    <a:pt x="19846" y="1117599"/>
                  </a:lnTo>
                  <a:lnTo>
                    <a:pt x="19527" y="1116329"/>
                  </a:lnTo>
                  <a:lnTo>
                    <a:pt x="19435" y="1115059"/>
                  </a:lnTo>
                  <a:lnTo>
                    <a:pt x="19214" y="1115059"/>
                  </a:lnTo>
                  <a:lnTo>
                    <a:pt x="19115" y="1112519"/>
                  </a:lnTo>
                  <a:lnTo>
                    <a:pt x="19527" y="1112519"/>
                  </a:lnTo>
                  <a:lnTo>
                    <a:pt x="19460" y="41928"/>
                  </a:lnTo>
                  <a:lnTo>
                    <a:pt x="19254" y="41928"/>
                  </a:lnTo>
                  <a:lnTo>
                    <a:pt x="19460" y="40952"/>
                  </a:lnTo>
                  <a:lnTo>
                    <a:pt x="19547" y="40153"/>
                  </a:lnTo>
                  <a:lnTo>
                    <a:pt x="19687" y="39369"/>
                  </a:lnTo>
                  <a:lnTo>
                    <a:pt x="20022" y="39369"/>
                  </a:lnTo>
                  <a:lnTo>
                    <a:pt x="20397" y="38099"/>
                  </a:lnTo>
                  <a:lnTo>
                    <a:pt x="20629" y="36829"/>
                  </a:lnTo>
                  <a:lnTo>
                    <a:pt x="20783" y="36829"/>
                  </a:lnTo>
                  <a:lnTo>
                    <a:pt x="21193" y="35559"/>
                  </a:lnTo>
                  <a:lnTo>
                    <a:pt x="21419" y="35559"/>
                  </a:lnTo>
                  <a:lnTo>
                    <a:pt x="21636" y="34289"/>
                  </a:lnTo>
                  <a:lnTo>
                    <a:pt x="22153" y="33019"/>
                  </a:lnTo>
                  <a:lnTo>
                    <a:pt x="22847" y="33019"/>
                  </a:lnTo>
                  <a:lnTo>
                    <a:pt x="23153" y="31749"/>
                  </a:lnTo>
                  <a:lnTo>
                    <a:pt x="23494" y="31749"/>
                  </a:lnTo>
                  <a:lnTo>
                    <a:pt x="24018" y="30479"/>
                  </a:lnTo>
                  <a:lnTo>
                    <a:pt x="24503" y="30479"/>
                  </a:lnTo>
                  <a:lnTo>
                    <a:pt x="25727" y="27939"/>
                  </a:lnTo>
                  <a:lnTo>
                    <a:pt x="26348" y="27939"/>
                  </a:lnTo>
                  <a:lnTo>
                    <a:pt x="13546" y="13979"/>
                  </a:lnTo>
                  <a:close/>
                </a:path>
                <a:path w="2651125" h="1155700">
                  <a:moveTo>
                    <a:pt x="2639951" y="1136649"/>
                  </a:moveTo>
                  <a:lnTo>
                    <a:pt x="2610453" y="1136649"/>
                  </a:lnTo>
                  <a:lnTo>
                    <a:pt x="2606398" y="1137924"/>
                  </a:lnTo>
                  <a:lnTo>
                    <a:pt x="2639791" y="1137924"/>
                  </a:lnTo>
                  <a:lnTo>
                    <a:pt x="2639891" y="1137702"/>
                  </a:lnTo>
                  <a:lnTo>
                    <a:pt x="2639951" y="1136649"/>
                  </a:lnTo>
                  <a:close/>
                </a:path>
                <a:path w="2651125" h="1155700">
                  <a:moveTo>
                    <a:pt x="2640516" y="1135379"/>
                  </a:moveTo>
                  <a:lnTo>
                    <a:pt x="2615583" y="1135379"/>
                  </a:lnTo>
                  <a:lnTo>
                    <a:pt x="2613104" y="1136649"/>
                  </a:lnTo>
                  <a:lnTo>
                    <a:pt x="2640425" y="1136649"/>
                  </a:lnTo>
                  <a:lnTo>
                    <a:pt x="2640516" y="1135379"/>
                  </a:lnTo>
                  <a:close/>
                </a:path>
                <a:path w="2651125" h="1155700">
                  <a:moveTo>
                    <a:pt x="32774" y="1134109"/>
                  </a:moveTo>
                  <a:lnTo>
                    <a:pt x="33942" y="1135379"/>
                  </a:lnTo>
                  <a:lnTo>
                    <a:pt x="34115" y="1135379"/>
                  </a:lnTo>
                  <a:lnTo>
                    <a:pt x="32774" y="1134109"/>
                  </a:lnTo>
                  <a:close/>
                </a:path>
                <a:path w="2651125" h="1155700">
                  <a:moveTo>
                    <a:pt x="33328" y="1134109"/>
                  </a:moveTo>
                  <a:lnTo>
                    <a:pt x="32774" y="1134109"/>
                  </a:lnTo>
                  <a:lnTo>
                    <a:pt x="34115" y="1135379"/>
                  </a:lnTo>
                  <a:lnTo>
                    <a:pt x="33942" y="1135379"/>
                  </a:lnTo>
                  <a:lnTo>
                    <a:pt x="33328" y="1134109"/>
                  </a:lnTo>
                  <a:close/>
                </a:path>
                <a:path w="2651125" h="1155700">
                  <a:moveTo>
                    <a:pt x="31358" y="1132839"/>
                  </a:moveTo>
                  <a:lnTo>
                    <a:pt x="30145" y="1132839"/>
                  </a:lnTo>
                  <a:lnTo>
                    <a:pt x="32261" y="1134109"/>
                  </a:lnTo>
                  <a:lnTo>
                    <a:pt x="31358" y="1132839"/>
                  </a:lnTo>
                  <a:close/>
                </a:path>
                <a:path w="2651125" h="1155700">
                  <a:moveTo>
                    <a:pt x="31358" y="1132839"/>
                  </a:moveTo>
                  <a:lnTo>
                    <a:pt x="32229" y="1134109"/>
                  </a:lnTo>
                  <a:lnTo>
                    <a:pt x="32597" y="1134109"/>
                  </a:lnTo>
                  <a:lnTo>
                    <a:pt x="31358" y="1132839"/>
                  </a:lnTo>
                  <a:close/>
                </a:path>
                <a:path w="2651125" h="1155700">
                  <a:moveTo>
                    <a:pt x="2619810" y="1132839"/>
                  </a:moveTo>
                  <a:lnTo>
                    <a:pt x="2617813" y="1134109"/>
                  </a:lnTo>
                  <a:lnTo>
                    <a:pt x="2618908" y="1134109"/>
                  </a:lnTo>
                  <a:lnTo>
                    <a:pt x="2619810" y="1132839"/>
                  </a:lnTo>
                  <a:close/>
                </a:path>
                <a:path w="2651125" h="1155700">
                  <a:moveTo>
                    <a:pt x="2642538" y="1131569"/>
                  </a:moveTo>
                  <a:lnTo>
                    <a:pt x="2622423" y="1131569"/>
                  </a:lnTo>
                  <a:lnTo>
                    <a:pt x="2619810" y="1132839"/>
                  </a:lnTo>
                  <a:lnTo>
                    <a:pt x="2618908" y="1134109"/>
                  </a:lnTo>
                  <a:lnTo>
                    <a:pt x="2620995" y="1132839"/>
                  </a:lnTo>
                  <a:lnTo>
                    <a:pt x="2641945" y="1132839"/>
                  </a:lnTo>
                  <a:lnTo>
                    <a:pt x="2642538" y="1131569"/>
                  </a:lnTo>
                  <a:close/>
                </a:path>
                <a:path w="2651125" h="1155700">
                  <a:moveTo>
                    <a:pt x="2641945" y="1132839"/>
                  </a:moveTo>
                  <a:lnTo>
                    <a:pt x="2620995" y="1132839"/>
                  </a:lnTo>
                  <a:lnTo>
                    <a:pt x="2618908" y="1134109"/>
                  </a:lnTo>
                  <a:lnTo>
                    <a:pt x="2641267" y="1134109"/>
                  </a:lnTo>
                  <a:lnTo>
                    <a:pt x="2641945" y="1132839"/>
                  </a:lnTo>
                  <a:close/>
                </a:path>
                <a:path w="2651125" h="1155700">
                  <a:moveTo>
                    <a:pt x="27288" y="1130369"/>
                  </a:moveTo>
                  <a:lnTo>
                    <a:pt x="27555" y="1130750"/>
                  </a:lnTo>
                  <a:lnTo>
                    <a:pt x="28195" y="1131569"/>
                  </a:lnTo>
                  <a:lnTo>
                    <a:pt x="28745" y="1131569"/>
                  </a:lnTo>
                  <a:lnTo>
                    <a:pt x="27288" y="1130369"/>
                  </a:lnTo>
                  <a:close/>
                </a:path>
                <a:path w="2651125" h="1155700">
                  <a:moveTo>
                    <a:pt x="2624040" y="1130369"/>
                  </a:moveTo>
                  <a:lnTo>
                    <a:pt x="2623614" y="1130750"/>
                  </a:lnTo>
                  <a:lnTo>
                    <a:pt x="2622936" y="1131569"/>
                  </a:lnTo>
                  <a:lnTo>
                    <a:pt x="2623780" y="1130750"/>
                  </a:lnTo>
                  <a:lnTo>
                    <a:pt x="2624040" y="1130369"/>
                  </a:lnTo>
                  <a:close/>
                </a:path>
                <a:path w="2651125" h="1155700">
                  <a:moveTo>
                    <a:pt x="25618" y="1129029"/>
                  </a:moveTo>
                  <a:lnTo>
                    <a:pt x="26977" y="1130369"/>
                  </a:lnTo>
                  <a:lnTo>
                    <a:pt x="26837" y="1130036"/>
                  </a:lnTo>
                  <a:lnTo>
                    <a:pt x="25618" y="1129029"/>
                  </a:lnTo>
                  <a:close/>
                </a:path>
                <a:path w="2651125" h="1155700">
                  <a:moveTo>
                    <a:pt x="2643611" y="1129029"/>
                  </a:moveTo>
                  <a:lnTo>
                    <a:pt x="2625551" y="1129029"/>
                  </a:lnTo>
                  <a:lnTo>
                    <a:pt x="2624172" y="1130369"/>
                  </a:lnTo>
                  <a:lnTo>
                    <a:pt x="2643037" y="1130369"/>
                  </a:lnTo>
                  <a:lnTo>
                    <a:pt x="2643611" y="1129029"/>
                  </a:lnTo>
                  <a:close/>
                </a:path>
                <a:path w="2651125" h="1155700">
                  <a:moveTo>
                    <a:pt x="26094" y="1129029"/>
                  </a:moveTo>
                  <a:lnTo>
                    <a:pt x="25618" y="1129029"/>
                  </a:lnTo>
                  <a:lnTo>
                    <a:pt x="26738" y="1130036"/>
                  </a:lnTo>
                  <a:lnTo>
                    <a:pt x="26094" y="1129029"/>
                  </a:lnTo>
                  <a:close/>
                </a:path>
                <a:path w="2651125" h="1155700">
                  <a:moveTo>
                    <a:pt x="2627768" y="1125219"/>
                  </a:moveTo>
                  <a:lnTo>
                    <a:pt x="2624404" y="1130036"/>
                  </a:lnTo>
                  <a:lnTo>
                    <a:pt x="2625551" y="1129029"/>
                  </a:lnTo>
                  <a:lnTo>
                    <a:pt x="2643611" y="1129029"/>
                  </a:lnTo>
                  <a:lnTo>
                    <a:pt x="2644423" y="1126489"/>
                  </a:lnTo>
                  <a:lnTo>
                    <a:pt x="2627122" y="1126489"/>
                  </a:lnTo>
                  <a:lnTo>
                    <a:pt x="2627768" y="1125219"/>
                  </a:lnTo>
                  <a:close/>
                </a:path>
                <a:path w="2651125" h="1155700">
                  <a:moveTo>
                    <a:pt x="2628551" y="1123949"/>
                  </a:moveTo>
                  <a:lnTo>
                    <a:pt x="2627768" y="1125219"/>
                  </a:lnTo>
                  <a:lnTo>
                    <a:pt x="2627122" y="1126489"/>
                  </a:lnTo>
                  <a:lnTo>
                    <a:pt x="2627983" y="1125219"/>
                  </a:lnTo>
                  <a:lnTo>
                    <a:pt x="2628149" y="1125219"/>
                  </a:lnTo>
                  <a:lnTo>
                    <a:pt x="2628551" y="1123949"/>
                  </a:lnTo>
                  <a:close/>
                </a:path>
                <a:path w="2651125" h="1155700">
                  <a:moveTo>
                    <a:pt x="2646004" y="1122679"/>
                  </a:moveTo>
                  <a:lnTo>
                    <a:pt x="2629263" y="1122679"/>
                  </a:lnTo>
                  <a:lnTo>
                    <a:pt x="2628779" y="1123949"/>
                  </a:lnTo>
                  <a:lnTo>
                    <a:pt x="2627983" y="1125219"/>
                  </a:lnTo>
                  <a:lnTo>
                    <a:pt x="2627103" y="1126489"/>
                  </a:lnTo>
                  <a:lnTo>
                    <a:pt x="2628142" y="1125219"/>
                  </a:lnTo>
                  <a:lnTo>
                    <a:pt x="2644894" y="1125219"/>
                  </a:lnTo>
                  <a:lnTo>
                    <a:pt x="2645364" y="1123949"/>
                  </a:lnTo>
                  <a:lnTo>
                    <a:pt x="2646004" y="1122679"/>
                  </a:lnTo>
                  <a:close/>
                </a:path>
                <a:path w="2651125" h="1155700">
                  <a:moveTo>
                    <a:pt x="2644894" y="1125219"/>
                  </a:moveTo>
                  <a:lnTo>
                    <a:pt x="2628142" y="1125219"/>
                  </a:lnTo>
                  <a:lnTo>
                    <a:pt x="2627103" y="1126489"/>
                  </a:lnTo>
                  <a:lnTo>
                    <a:pt x="2644423" y="1126489"/>
                  </a:lnTo>
                  <a:lnTo>
                    <a:pt x="2644894" y="1125219"/>
                  </a:lnTo>
                  <a:close/>
                </a:path>
                <a:path w="2651125" h="1155700">
                  <a:moveTo>
                    <a:pt x="22111" y="1122679"/>
                  </a:moveTo>
                  <a:lnTo>
                    <a:pt x="21935" y="1122679"/>
                  </a:lnTo>
                  <a:lnTo>
                    <a:pt x="22256" y="1123949"/>
                  </a:lnTo>
                  <a:lnTo>
                    <a:pt x="22455" y="1123949"/>
                  </a:lnTo>
                  <a:lnTo>
                    <a:pt x="22997" y="1125219"/>
                  </a:lnTo>
                  <a:lnTo>
                    <a:pt x="22854" y="1125219"/>
                  </a:lnTo>
                  <a:lnTo>
                    <a:pt x="22679" y="1123949"/>
                  </a:lnTo>
                  <a:lnTo>
                    <a:pt x="22111" y="1122679"/>
                  </a:lnTo>
                  <a:close/>
                </a:path>
                <a:path w="2651125" h="1155700">
                  <a:moveTo>
                    <a:pt x="22705" y="1123949"/>
                  </a:moveTo>
                  <a:lnTo>
                    <a:pt x="22854" y="1125219"/>
                  </a:lnTo>
                  <a:lnTo>
                    <a:pt x="22997" y="1125219"/>
                  </a:lnTo>
                  <a:lnTo>
                    <a:pt x="22705" y="1123949"/>
                  </a:lnTo>
                  <a:close/>
                </a:path>
                <a:path w="2651125" h="1155700">
                  <a:moveTo>
                    <a:pt x="22010" y="1122679"/>
                  </a:moveTo>
                  <a:lnTo>
                    <a:pt x="21757" y="1122679"/>
                  </a:lnTo>
                  <a:lnTo>
                    <a:pt x="22197" y="1123949"/>
                  </a:lnTo>
                  <a:lnTo>
                    <a:pt x="22010" y="1122679"/>
                  </a:lnTo>
                  <a:close/>
                </a:path>
                <a:path w="2651125" h="1155700">
                  <a:moveTo>
                    <a:pt x="2647068" y="1120139"/>
                  </a:moveTo>
                  <a:lnTo>
                    <a:pt x="2630613" y="1120139"/>
                  </a:lnTo>
                  <a:lnTo>
                    <a:pt x="2629836" y="1121409"/>
                  </a:lnTo>
                  <a:lnTo>
                    <a:pt x="2646562" y="1121409"/>
                  </a:lnTo>
                  <a:lnTo>
                    <a:pt x="2647068" y="1120139"/>
                  </a:lnTo>
                  <a:close/>
                </a:path>
                <a:path w="2651125" h="1155700">
                  <a:moveTo>
                    <a:pt x="2631799" y="1115332"/>
                  </a:moveTo>
                  <a:lnTo>
                    <a:pt x="2631456" y="1116329"/>
                  </a:lnTo>
                  <a:lnTo>
                    <a:pt x="2631119" y="1117599"/>
                  </a:lnTo>
                  <a:lnTo>
                    <a:pt x="2630839" y="1118869"/>
                  </a:lnTo>
                  <a:lnTo>
                    <a:pt x="2647710" y="1118869"/>
                  </a:lnTo>
                  <a:lnTo>
                    <a:pt x="2648703" y="1116329"/>
                  </a:lnTo>
                  <a:lnTo>
                    <a:pt x="2631793" y="1116329"/>
                  </a:lnTo>
                  <a:lnTo>
                    <a:pt x="2631799" y="1115332"/>
                  </a:lnTo>
                  <a:close/>
                </a:path>
                <a:path w="2651125" h="1155700">
                  <a:moveTo>
                    <a:pt x="2649200" y="1115059"/>
                  </a:moveTo>
                  <a:lnTo>
                    <a:pt x="2631878" y="1115059"/>
                  </a:lnTo>
                  <a:lnTo>
                    <a:pt x="2631797" y="1116329"/>
                  </a:lnTo>
                  <a:lnTo>
                    <a:pt x="2648703" y="1116329"/>
                  </a:lnTo>
                  <a:lnTo>
                    <a:pt x="2649093" y="1115332"/>
                  </a:lnTo>
                  <a:lnTo>
                    <a:pt x="2649200" y="1115059"/>
                  </a:lnTo>
                  <a:close/>
                </a:path>
                <a:path w="2651125" h="1155700">
                  <a:moveTo>
                    <a:pt x="19527" y="1112519"/>
                  </a:moveTo>
                  <a:lnTo>
                    <a:pt x="19115" y="1112519"/>
                  </a:lnTo>
                  <a:lnTo>
                    <a:pt x="19214" y="1115059"/>
                  </a:lnTo>
                  <a:lnTo>
                    <a:pt x="19527" y="1115059"/>
                  </a:lnTo>
                  <a:lnTo>
                    <a:pt x="19527" y="1112519"/>
                  </a:lnTo>
                  <a:close/>
                </a:path>
                <a:path w="2651125" h="1155700">
                  <a:moveTo>
                    <a:pt x="2648574" y="40153"/>
                  </a:moveTo>
                  <a:lnTo>
                    <a:pt x="2631794" y="40153"/>
                  </a:lnTo>
                  <a:lnTo>
                    <a:pt x="2631879" y="1113789"/>
                  </a:lnTo>
                  <a:lnTo>
                    <a:pt x="2649938" y="1113789"/>
                  </a:lnTo>
                  <a:lnTo>
                    <a:pt x="2651113" y="1111249"/>
                  </a:lnTo>
                  <a:lnTo>
                    <a:pt x="2651112" y="45719"/>
                  </a:lnTo>
                  <a:lnTo>
                    <a:pt x="2649575" y="41928"/>
                  </a:lnTo>
                  <a:lnTo>
                    <a:pt x="2649224" y="41928"/>
                  </a:lnTo>
                  <a:lnTo>
                    <a:pt x="2648574" y="40153"/>
                  </a:lnTo>
                  <a:close/>
                </a:path>
                <a:path w="2651125" h="1155700">
                  <a:moveTo>
                    <a:pt x="2631609" y="40639"/>
                  </a:moveTo>
                  <a:lnTo>
                    <a:pt x="2631518" y="40952"/>
                  </a:lnTo>
                  <a:lnTo>
                    <a:pt x="2631702" y="41928"/>
                  </a:lnTo>
                  <a:lnTo>
                    <a:pt x="2631826" y="42587"/>
                  </a:lnTo>
                  <a:lnTo>
                    <a:pt x="2631878" y="41928"/>
                  </a:lnTo>
                  <a:lnTo>
                    <a:pt x="2631674" y="40952"/>
                  </a:lnTo>
                  <a:lnTo>
                    <a:pt x="2631609" y="40639"/>
                  </a:lnTo>
                  <a:close/>
                </a:path>
                <a:path w="2651125" h="1155700">
                  <a:moveTo>
                    <a:pt x="19460" y="40952"/>
                  </a:moveTo>
                  <a:lnTo>
                    <a:pt x="19254" y="41928"/>
                  </a:lnTo>
                  <a:lnTo>
                    <a:pt x="19460" y="41928"/>
                  </a:lnTo>
                  <a:lnTo>
                    <a:pt x="19460" y="40952"/>
                  </a:lnTo>
                  <a:close/>
                </a:path>
                <a:path w="2651125" h="1155700">
                  <a:moveTo>
                    <a:pt x="2647357" y="36829"/>
                  </a:moveTo>
                  <a:lnTo>
                    <a:pt x="2630612" y="36829"/>
                  </a:lnTo>
                  <a:lnTo>
                    <a:pt x="2630950" y="38099"/>
                  </a:lnTo>
                  <a:lnTo>
                    <a:pt x="2631236" y="39369"/>
                  </a:lnTo>
                  <a:lnTo>
                    <a:pt x="2631372" y="39369"/>
                  </a:lnTo>
                  <a:lnTo>
                    <a:pt x="2631518" y="40153"/>
                  </a:lnTo>
                  <a:lnTo>
                    <a:pt x="2631635" y="40639"/>
                  </a:lnTo>
                  <a:lnTo>
                    <a:pt x="2631655" y="40952"/>
                  </a:lnTo>
                  <a:lnTo>
                    <a:pt x="2631796" y="41928"/>
                  </a:lnTo>
                  <a:lnTo>
                    <a:pt x="2631795" y="40952"/>
                  </a:lnTo>
                  <a:lnTo>
                    <a:pt x="2631635" y="40639"/>
                  </a:lnTo>
                  <a:lnTo>
                    <a:pt x="2631795" y="40639"/>
                  </a:lnTo>
                  <a:lnTo>
                    <a:pt x="2631794" y="40153"/>
                  </a:lnTo>
                  <a:lnTo>
                    <a:pt x="2648574" y="40153"/>
                  </a:lnTo>
                  <a:lnTo>
                    <a:pt x="2647357" y="36829"/>
                  </a:lnTo>
                  <a:close/>
                </a:path>
                <a:path w="2651125" h="1155700">
                  <a:moveTo>
                    <a:pt x="19637" y="40153"/>
                  </a:moveTo>
                  <a:lnTo>
                    <a:pt x="19460" y="40639"/>
                  </a:lnTo>
                  <a:lnTo>
                    <a:pt x="19606" y="40639"/>
                  </a:lnTo>
                  <a:lnTo>
                    <a:pt x="19637" y="40153"/>
                  </a:lnTo>
                  <a:close/>
                </a:path>
                <a:path w="2651125" h="1155700">
                  <a:moveTo>
                    <a:pt x="19828" y="39369"/>
                  </a:moveTo>
                  <a:lnTo>
                    <a:pt x="19687" y="39369"/>
                  </a:lnTo>
                  <a:lnTo>
                    <a:pt x="19679" y="40153"/>
                  </a:lnTo>
                  <a:lnTo>
                    <a:pt x="19828" y="39369"/>
                  </a:lnTo>
                  <a:close/>
                </a:path>
                <a:path w="2651125" h="1155700">
                  <a:moveTo>
                    <a:pt x="2630038" y="35559"/>
                  </a:moveTo>
                  <a:lnTo>
                    <a:pt x="2629817" y="35559"/>
                  </a:lnTo>
                  <a:lnTo>
                    <a:pt x="2630663" y="38099"/>
                  </a:lnTo>
                  <a:lnTo>
                    <a:pt x="2630612" y="36829"/>
                  </a:lnTo>
                  <a:lnTo>
                    <a:pt x="2630444" y="36829"/>
                  </a:lnTo>
                  <a:lnTo>
                    <a:pt x="2630038" y="35559"/>
                  </a:lnTo>
                  <a:close/>
                </a:path>
                <a:path w="2651125" h="1155700">
                  <a:moveTo>
                    <a:pt x="21419" y="35559"/>
                  </a:moveTo>
                  <a:lnTo>
                    <a:pt x="21193" y="35559"/>
                  </a:lnTo>
                  <a:lnTo>
                    <a:pt x="20783" y="36829"/>
                  </a:lnTo>
                  <a:lnTo>
                    <a:pt x="20629" y="36829"/>
                  </a:lnTo>
                  <a:lnTo>
                    <a:pt x="21419" y="35559"/>
                  </a:lnTo>
                  <a:close/>
                </a:path>
                <a:path w="2651125" h="1155700">
                  <a:moveTo>
                    <a:pt x="2646304" y="34289"/>
                  </a:moveTo>
                  <a:lnTo>
                    <a:pt x="2629600" y="34289"/>
                  </a:lnTo>
                  <a:lnTo>
                    <a:pt x="2629997" y="35559"/>
                  </a:lnTo>
                  <a:lnTo>
                    <a:pt x="2630444" y="36829"/>
                  </a:lnTo>
                  <a:lnTo>
                    <a:pt x="2647076" y="36829"/>
                  </a:lnTo>
                  <a:lnTo>
                    <a:pt x="2646304" y="34289"/>
                  </a:lnTo>
                  <a:close/>
                </a:path>
                <a:path w="2651125" h="1155700">
                  <a:moveTo>
                    <a:pt x="2627163" y="30479"/>
                  </a:moveTo>
                  <a:lnTo>
                    <a:pt x="2626985" y="30479"/>
                  </a:lnTo>
                  <a:lnTo>
                    <a:pt x="2627727" y="31749"/>
                  </a:lnTo>
                  <a:lnTo>
                    <a:pt x="2628588" y="33019"/>
                  </a:lnTo>
                  <a:lnTo>
                    <a:pt x="2628991" y="33019"/>
                  </a:lnTo>
                  <a:lnTo>
                    <a:pt x="2629178" y="34289"/>
                  </a:lnTo>
                  <a:lnTo>
                    <a:pt x="2629684" y="35559"/>
                  </a:lnTo>
                  <a:lnTo>
                    <a:pt x="2629600" y="34289"/>
                  </a:lnTo>
                  <a:lnTo>
                    <a:pt x="2646304" y="34289"/>
                  </a:lnTo>
                  <a:lnTo>
                    <a:pt x="2645392" y="33019"/>
                  </a:lnTo>
                  <a:lnTo>
                    <a:pt x="2644908" y="31749"/>
                  </a:lnTo>
                  <a:lnTo>
                    <a:pt x="2627568" y="31749"/>
                  </a:lnTo>
                  <a:lnTo>
                    <a:pt x="2627163" y="30479"/>
                  </a:lnTo>
                  <a:close/>
                </a:path>
                <a:path w="2651125" h="1155700">
                  <a:moveTo>
                    <a:pt x="2627751" y="31749"/>
                  </a:moveTo>
                  <a:lnTo>
                    <a:pt x="2628301" y="33019"/>
                  </a:lnTo>
                  <a:lnTo>
                    <a:pt x="2628518" y="33019"/>
                  </a:lnTo>
                  <a:lnTo>
                    <a:pt x="2627751" y="31749"/>
                  </a:lnTo>
                  <a:close/>
                </a:path>
                <a:path w="2651125" h="1155700">
                  <a:moveTo>
                    <a:pt x="2642388" y="25077"/>
                  </a:moveTo>
                  <a:lnTo>
                    <a:pt x="2622794" y="25077"/>
                  </a:lnTo>
                  <a:lnTo>
                    <a:pt x="2624013" y="26343"/>
                  </a:lnTo>
                  <a:lnTo>
                    <a:pt x="2624243" y="26669"/>
                  </a:lnTo>
                  <a:lnTo>
                    <a:pt x="2625550" y="27939"/>
                  </a:lnTo>
                  <a:lnTo>
                    <a:pt x="2624652" y="27939"/>
                  </a:lnTo>
                  <a:lnTo>
                    <a:pt x="2627568" y="31749"/>
                  </a:lnTo>
                  <a:lnTo>
                    <a:pt x="2626985" y="30479"/>
                  </a:lnTo>
                  <a:lnTo>
                    <a:pt x="2644444" y="30479"/>
                  </a:lnTo>
                  <a:lnTo>
                    <a:pt x="2643637" y="27939"/>
                  </a:lnTo>
                  <a:lnTo>
                    <a:pt x="2642622" y="25571"/>
                  </a:lnTo>
                  <a:lnTo>
                    <a:pt x="2642388" y="25077"/>
                  </a:lnTo>
                  <a:close/>
                </a:path>
                <a:path w="2651125" h="1155700">
                  <a:moveTo>
                    <a:pt x="2627163" y="30479"/>
                  </a:moveTo>
                  <a:lnTo>
                    <a:pt x="2627568" y="31749"/>
                  </a:lnTo>
                  <a:lnTo>
                    <a:pt x="2627856" y="31749"/>
                  </a:lnTo>
                  <a:lnTo>
                    <a:pt x="2627163" y="30479"/>
                  </a:lnTo>
                  <a:close/>
                </a:path>
                <a:path w="2651125" h="1155700">
                  <a:moveTo>
                    <a:pt x="2644444" y="30479"/>
                  </a:moveTo>
                  <a:lnTo>
                    <a:pt x="2627163" y="30479"/>
                  </a:lnTo>
                  <a:lnTo>
                    <a:pt x="2627856" y="31749"/>
                  </a:lnTo>
                  <a:lnTo>
                    <a:pt x="2644908" y="31749"/>
                  </a:lnTo>
                  <a:lnTo>
                    <a:pt x="2644444" y="30479"/>
                  </a:lnTo>
                  <a:close/>
                </a:path>
                <a:path w="2651125" h="1155700">
                  <a:moveTo>
                    <a:pt x="25864" y="27939"/>
                  </a:moveTo>
                  <a:lnTo>
                    <a:pt x="25727" y="27939"/>
                  </a:lnTo>
                  <a:lnTo>
                    <a:pt x="25171" y="29209"/>
                  </a:lnTo>
                  <a:lnTo>
                    <a:pt x="25864" y="27939"/>
                  </a:lnTo>
                  <a:close/>
                </a:path>
                <a:path w="2651125" h="1155700">
                  <a:moveTo>
                    <a:pt x="13530" y="13979"/>
                  </a:moveTo>
                  <a:lnTo>
                    <a:pt x="26348" y="27939"/>
                  </a:lnTo>
                  <a:lnTo>
                    <a:pt x="27074" y="26669"/>
                  </a:lnTo>
                  <a:lnTo>
                    <a:pt x="27603" y="26669"/>
                  </a:lnTo>
                  <a:lnTo>
                    <a:pt x="13530" y="13979"/>
                  </a:lnTo>
                  <a:close/>
                </a:path>
                <a:path w="2651125" h="1155700">
                  <a:moveTo>
                    <a:pt x="2623112" y="25571"/>
                  </a:moveTo>
                  <a:lnTo>
                    <a:pt x="2623710" y="26343"/>
                  </a:lnTo>
                  <a:lnTo>
                    <a:pt x="2623919" y="26669"/>
                  </a:lnTo>
                  <a:lnTo>
                    <a:pt x="2625550" y="27939"/>
                  </a:lnTo>
                  <a:lnTo>
                    <a:pt x="2624327" y="26669"/>
                  </a:lnTo>
                  <a:lnTo>
                    <a:pt x="2623907" y="26343"/>
                  </a:lnTo>
                  <a:lnTo>
                    <a:pt x="2623112" y="25571"/>
                  </a:lnTo>
                  <a:close/>
                </a:path>
                <a:path w="2651125" h="1155700">
                  <a:moveTo>
                    <a:pt x="2604966" y="0"/>
                  </a:moveTo>
                  <a:lnTo>
                    <a:pt x="46143" y="0"/>
                  </a:lnTo>
                  <a:lnTo>
                    <a:pt x="28182" y="3809"/>
                  </a:lnTo>
                  <a:lnTo>
                    <a:pt x="13530" y="13979"/>
                  </a:lnTo>
                  <a:lnTo>
                    <a:pt x="27603" y="26669"/>
                  </a:lnTo>
                  <a:lnTo>
                    <a:pt x="27779" y="26669"/>
                  </a:lnTo>
                  <a:lnTo>
                    <a:pt x="28358" y="25571"/>
                  </a:lnTo>
                  <a:lnTo>
                    <a:pt x="28446" y="25402"/>
                  </a:lnTo>
                  <a:lnTo>
                    <a:pt x="29569" y="24278"/>
                  </a:lnTo>
                  <a:lnTo>
                    <a:pt x="31084" y="24278"/>
                  </a:lnTo>
                  <a:lnTo>
                    <a:pt x="31829" y="22859"/>
                  </a:lnTo>
                  <a:lnTo>
                    <a:pt x="33214" y="22859"/>
                  </a:lnTo>
                  <a:lnTo>
                    <a:pt x="34273" y="21589"/>
                  </a:lnTo>
                  <a:lnTo>
                    <a:pt x="36718" y="21589"/>
                  </a:lnTo>
                  <a:lnTo>
                    <a:pt x="37533" y="20319"/>
                  </a:lnTo>
                  <a:lnTo>
                    <a:pt x="39794" y="20319"/>
                  </a:lnTo>
                  <a:lnTo>
                    <a:pt x="41286" y="19555"/>
                  </a:lnTo>
                  <a:lnTo>
                    <a:pt x="41458" y="19329"/>
                  </a:lnTo>
                  <a:lnTo>
                    <a:pt x="41601" y="19049"/>
                  </a:lnTo>
                  <a:lnTo>
                    <a:pt x="2639811" y="19049"/>
                  </a:lnTo>
                  <a:lnTo>
                    <a:pt x="2637543" y="13979"/>
                  </a:lnTo>
                  <a:lnTo>
                    <a:pt x="2630710" y="8889"/>
                  </a:lnTo>
                  <a:lnTo>
                    <a:pt x="2622912" y="3809"/>
                  </a:lnTo>
                  <a:lnTo>
                    <a:pt x="2614254" y="1269"/>
                  </a:lnTo>
                  <a:lnTo>
                    <a:pt x="2604966" y="0"/>
                  </a:lnTo>
                  <a:close/>
                </a:path>
                <a:path w="2651125" h="1155700">
                  <a:moveTo>
                    <a:pt x="2623380" y="26343"/>
                  </a:moveTo>
                  <a:lnTo>
                    <a:pt x="2623494" y="26669"/>
                  </a:lnTo>
                  <a:lnTo>
                    <a:pt x="2623919" y="26669"/>
                  </a:lnTo>
                  <a:lnTo>
                    <a:pt x="2623380" y="26343"/>
                  </a:lnTo>
                  <a:close/>
                </a:path>
                <a:path w="2651125" h="1155700">
                  <a:moveTo>
                    <a:pt x="2640934" y="21589"/>
                  </a:moveTo>
                  <a:lnTo>
                    <a:pt x="2617030" y="21589"/>
                  </a:lnTo>
                  <a:lnTo>
                    <a:pt x="2617550" y="22859"/>
                  </a:lnTo>
                  <a:lnTo>
                    <a:pt x="2619333" y="22859"/>
                  </a:lnTo>
                  <a:lnTo>
                    <a:pt x="2619466" y="23205"/>
                  </a:lnTo>
                  <a:lnTo>
                    <a:pt x="2621045" y="24278"/>
                  </a:lnTo>
                  <a:lnTo>
                    <a:pt x="2619969" y="24278"/>
                  </a:lnTo>
                  <a:lnTo>
                    <a:pt x="2623380" y="26343"/>
                  </a:lnTo>
                  <a:lnTo>
                    <a:pt x="2623112" y="25571"/>
                  </a:lnTo>
                  <a:lnTo>
                    <a:pt x="2622794" y="25077"/>
                  </a:lnTo>
                  <a:lnTo>
                    <a:pt x="2642388" y="25077"/>
                  </a:lnTo>
                  <a:lnTo>
                    <a:pt x="2641991" y="24278"/>
                  </a:lnTo>
                  <a:lnTo>
                    <a:pt x="2640934" y="21589"/>
                  </a:lnTo>
                  <a:close/>
                </a:path>
                <a:path w="2651125" h="1155700">
                  <a:moveTo>
                    <a:pt x="2623107" y="25402"/>
                  </a:moveTo>
                  <a:lnTo>
                    <a:pt x="2623112" y="25571"/>
                  </a:lnTo>
                  <a:lnTo>
                    <a:pt x="2623907" y="26343"/>
                  </a:lnTo>
                  <a:lnTo>
                    <a:pt x="2623269" y="25571"/>
                  </a:lnTo>
                  <a:lnTo>
                    <a:pt x="2623106" y="25402"/>
                  </a:lnTo>
                  <a:close/>
                </a:path>
                <a:path w="2651125" h="1155700">
                  <a:moveTo>
                    <a:pt x="29787" y="24278"/>
                  </a:moveTo>
                  <a:lnTo>
                    <a:pt x="29615" y="24278"/>
                  </a:lnTo>
                  <a:lnTo>
                    <a:pt x="29059" y="25077"/>
                  </a:lnTo>
                  <a:lnTo>
                    <a:pt x="29787" y="24278"/>
                  </a:lnTo>
                  <a:close/>
                </a:path>
                <a:path w="2651125" h="1155700">
                  <a:moveTo>
                    <a:pt x="31829" y="22859"/>
                  </a:moveTo>
                  <a:lnTo>
                    <a:pt x="31176" y="24278"/>
                  </a:lnTo>
                  <a:lnTo>
                    <a:pt x="31324" y="24278"/>
                  </a:lnTo>
                  <a:lnTo>
                    <a:pt x="31824" y="23205"/>
                  </a:lnTo>
                  <a:lnTo>
                    <a:pt x="31829" y="22859"/>
                  </a:lnTo>
                  <a:close/>
                </a:path>
                <a:path w="2651125" h="1155700">
                  <a:moveTo>
                    <a:pt x="2619022" y="22859"/>
                  </a:moveTo>
                  <a:lnTo>
                    <a:pt x="2617865" y="22859"/>
                  </a:lnTo>
                  <a:lnTo>
                    <a:pt x="2619947" y="24278"/>
                  </a:lnTo>
                  <a:lnTo>
                    <a:pt x="2619022" y="22859"/>
                  </a:lnTo>
                  <a:close/>
                </a:path>
                <a:path w="2651125" h="1155700">
                  <a:moveTo>
                    <a:pt x="31986" y="22859"/>
                  </a:moveTo>
                  <a:lnTo>
                    <a:pt x="31829" y="22859"/>
                  </a:lnTo>
                  <a:lnTo>
                    <a:pt x="31721" y="23205"/>
                  </a:lnTo>
                  <a:lnTo>
                    <a:pt x="31986" y="22859"/>
                  </a:lnTo>
                  <a:close/>
                </a:path>
                <a:path w="2651125" h="1155700">
                  <a:moveTo>
                    <a:pt x="2619333" y="22859"/>
                  </a:moveTo>
                  <a:lnTo>
                    <a:pt x="2618957" y="22859"/>
                  </a:lnTo>
                  <a:lnTo>
                    <a:pt x="2619466" y="23205"/>
                  </a:lnTo>
                  <a:lnTo>
                    <a:pt x="2619333" y="22859"/>
                  </a:lnTo>
                  <a:close/>
                </a:path>
                <a:path w="2651125" h="1155700">
                  <a:moveTo>
                    <a:pt x="34273" y="21589"/>
                  </a:moveTo>
                  <a:lnTo>
                    <a:pt x="33214" y="22859"/>
                  </a:lnTo>
                  <a:lnTo>
                    <a:pt x="33622" y="22859"/>
                  </a:lnTo>
                  <a:lnTo>
                    <a:pt x="34273" y="21589"/>
                  </a:lnTo>
                  <a:close/>
                </a:path>
                <a:path w="2651125" h="1155700">
                  <a:moveTo>
                    <a:pt x="34439" y="21589"/>
                  </a:moveTo>
                  <a:lnTo>
                    <a:pt x="34273" y="21589"/>
                  </a:lnTo>
                  <a:lnTo>
                    <a:pt x="33731" y="22859"/>
                  </a:lnTo>
                  <a:lnTo>
                    <a:pt x="34439" y="21589"/>
                  </a:lnTo>
                  <a:close/>
                </a:path>
                <a:path w="2651125" h="1155700">
                  <a:moveTo>
                    <a:pt x="2640408" y="20319"/>
                  </a:moveTo>
                  <a:lnTo>
                    <a:pt x="2613110" y="20319"/>
                  </a:lnTo>
                  <a:lnTo>
                    <a:pt x="2615560" y="21589"/>
                  </a:lnTo>
                  <a:lnTo>
                    <a:pt x="2617550" y="22859"/>
                  </a:lnTo>
                  <a:lnTo>
                    <a:pt x="2617030" y="21589"/>
                  </a:lnTo>
                  <a:lnTo>
                    <a:pt x="2640513" y="21589"/>
                  </a:lnTo>
                  <a:lnTo>
                    <a:pt x="2640408" y="20319"/>
                  </a:lnTo>
                  <a:close/>
                </a:path>
                <a:path w="2651125" h="1155700">
                  <a:moveTo>
                    <a:pt x="41342" y="19555"/>
                  </a:moveTo>
                  <a:lnTo>
                    <a:pt x="39794" y="20319"/>
                  </a:lnTo>
                  <a:lnTo>
                    <a:pt x="40949" y="20319"/>
                  </a:lnTo>
                  <a:lnTo>
                    <a:pt x="41342" y="19555"/>
                  </a:lnTo>
                  <a:close/>
                </a:path>
                <a:path w="2651125" h="1155700">
                  <a:moveTo>
                    <a:pt x="41800" y="19329"/>
                  </a:moveTo>
                  <a:lnTo>
                    <a:pt x="41342" y="19555"/>
                  </a:lnTo>
                  <a:lnTo>
                    <a:pt x="40949" y="20319"/>
                  </a:lnTo>
                  <a:lnTo>
                    <a:pt x="41800" y="19329"/>
                  </a:lnTo>
                  <a:close/>
                </a:path>
                <a:path w="2651125" h="1155700">
                  <a:moveTo>
                    <a:pt x="2609522" y="19049"/>
                  </a:moveTo>
                  <a:lnTo>
                    <a:pt x="2606822" y="19049"/>
                  </a:lnTo>
                  <a:lnTo>
                    <a:pt x="2610206" y="20319"/>
                  </a:lnTo>
                  <a:lnTo>
                    <a:pt x="2609522" y="19049"/>
                  </a:lnTo>
                  <a:close/>
                </a:path>
                <a:path w="2651125" h="1155700">
                  <a:moveTo>
                    <a:pt x="2609522" y="19049"/>
                  </a:moveTo>
                  <a:lnTo>
                    <a:pt x="2610206" y="20319"/>
                  </a:lnTo>
                  <a:lnTo>
                    <a:pt x="2611378" y="20319"/>
                  </a:lnTo>
                  <a:lnTo>
                    <a:pt x="2609522" y="19049"/>
                  </a:lnTo>
                  <a:close/>
                </a:path>
                <a:path w="2651125" h="1155700">
                  <a:moveTo>
                    <a:pt x="2639952" y="19049"/>
                  </a:moveTo>
                  <a:lnTo>
                    <a:pt x="2609522" y="19049"/>
                  </a:lnTo>
                  <a:lnTo>
                    <a:pt x="2611378" y="20319"/>
                  </a:lnTo>
                  <a:lnTo>
                    <a:pt x="2640092" y="20319"/>
                  </a:lnTo>
                  <a:lnTo>
                    <a:pt x="2639983" y="19329"/>
                  </a:lnTo>
                  <a:lnTo>
                    <a:pt x="2639952" y="19049"/>
                  </a:lnTo>
                  <a:close/>
                </a:path>
                <a:path w="2651125" h="1155700">
                  <a:moveTo>
                    <a:pt x="42040" y="19049"/>
                  </a:moveTo>
                  <a:lnTo>
                    <a:pt x="41601" y="19049"/>
                  </a:lnTo>
                  <a:lnTo>
                    <a:pt x="41458" y="19329"/>
                  </a:lnTo>
                  <a:lnTo>
                    <a:pt x="41342" y="19555"/>
                  </a:lnTo>
                  <a:lnTo>
                    <a:pt x="41727" y="19329"/>
                  </a:lnTo>
                  <a:lnTo>
                    <a:pt x="42040" y="19049"/>
                  </a:lnTo>
                  <a:close/>
                </a:path>
              </a:pathLst>
            </a:custGeom>
            <a:solidFill>
              <a:srgbClr val="E4BD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327628" y="4832227"/>
              <a:ext cx="531495" cy="1118870"/>
            </a:xfrm>
            <a:custGeom>
              <a:avLst/>
              <a:gdLst/>
              <a:ahLst/>
              <a:cxnLst/>
              <a:rect l="l" t="t" r="r" b="b"/>
              <a:pathLst>
                <a:path w="531495" h="1118870">
                  <a:moveTo>
                    <a:pt x="531484" y="0"/>
                  </a:moveTo>
                  <a:lnTo>
                    <a:pt x="27162" y="0"/>
                  </a:lnTo>
                  <a:lnTo>
                    <a:pt x="16589" y="2105"/>
                  </a:lnTo>
                  <a:lnTo>
                    <a:pt x="7955" y="7850"/>
                  </a:lnTo>
                  <a:lnTo>
                    <a:pt x="2134" y="16376"/>
                  </a:lnTo>
                  <a:lnTo>
                    <a:pt x="0" y="26822"/>
                  </a:lnTo>
                  <a:lnTo>
                    <a:pt x="0" y="1091440"/>
                  </a:lnTo>
                  <a:lnTo>
                    <a:pt x="2134" y="1101880"/>
                  </a:lnTo>
                  <a:lnTo>
                    <a:pt x="7955" y="1110405"/>
                  </a:lnTo>
                  <a:lnTo>
                    <a:pt x="16589" y="1116152"/>
                  </a:lnTo>
                  <a:lnTo>
                    <a:pt x="27162" y="1118260"/>
                  </a:lnTo>
                  <a:lnTo>
                    <a:pt x="531484" y="1118260"/>
                  </a:lnTo>
                  <a:lnTo>
                    <a:pt x="531484" y="0"/>
                  </a:lnTo>
                  <a:close/>
                </a:path>
              </a:pathLst>
            </a:custGeom>
            <a:solidFill>
              <a:srgbClr val="FFD7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514596" y="5247322"/>
            <a:ext cx="15811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75" b="1">
                <a:solidFill>
                  <a:srgbClr val="403B4E"/>
                </a:solidFill>
                <a:latin typeface="Cambria"/>
                <a:cs typeface="Cambria"/>
              </a:rPr>
              <a:t>4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40300" y="4926266"/>
            <a:ext cx="1764030" cy="887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60350">
              <a:lnSpc>
                <a:spcPct val="110200"/>
              </a:lnSpc>
              <a:spcBef>
                <a:spcPts val="95"/>
              </a:spcBef>
            </a:pPr>
            <a:r>
              <a:rPr dirty="0" sz="1250" spc="100" b="1">
                <a:solidFill>
                  <a:srgbClr val="403B4E"/>
                </a:solidFill>
                <a:latin typeface="Cambria"/>
                <a:cs typeface="Cambria"/>
              </a:rPr>
              <a:t>Handling</a:t>
            </a:r>
            <a:r>
              <a:rPr dirty="0" sz="1250" spc="85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250" spc="105" b="1">
                <a:solidFill>
                  <a:srgbClr val="403B4E"/>
                </a:solidFill>
                <a:latin typeface="Cambria"/>
                <a:cs typeface="Cambria"/>
              </a:rPr>
              <a:t>Missing </a:t>
            </a:r>
            <a:r>
              <a:rPr dirty="0" sz="1250" spc="45" b="1">
                <a:solidFill>
                  <a:srgbClr val="403B4E"/>
                </a:solidFill>
                <a:latin typeface="Cambria"/>
                <a:cs typeface="Cambria"/>
              </a:rPr>
              <a:t>Data</a:t>
            </a:r>
            <a:endParaRPr sz="12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Natively</a:t>
            </a:r>
            <a:r>
              <a:rPr dirty="0" sz="950" spc="2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learns</a:t>
            </a:r>
            <a:r>
              <a:rPr dirty="0" sz="950" spc="2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45">
                <a:solidFill>
                  <a:srgbClr val="403B4E"/>
                </a:solidFill>
                <a:latin typeface="Arial MT"/>
                <a:cs typeface="Arial MT"/>
              </a:rPr>
              <a:t>default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950" spc="50">
                <a:solidFill>
                  <a:srgbClr val="403B4E"/>
                </a:solidFill>
                <a:latin typeface="Arial MT"/>
                <a:cs typeface="Arial MT"/>
              </a:rPr>
              <a:t>directions</a:t>
            </a:r>
            <a:r>
              <a:rPr dirty="0" sz="950" spc="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60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dirty="0" sz="950" spc="9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403B4E"/>
                </a:solidFill>
                <a:latin typeface="Arial MT"/>
                <a:cs typeface="Arial MT"/>
              </a:rPr>
              <a:t>sparse</a:t>
            </a:r>
            <a:r>
              <a:rPr dirty="0" sz="950" spc="9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40">
                <a:solidFill>
                  <a:srgbClr val="403B4E"/>
                </a:solidFill>
                <a:latin typeface="Arial MT"/>
                <a:cs typeface="Arial MT"/>
              </a:rPr>
              <a:t>features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49000" y="653415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1143000" y="0"/>
                </a:moveTo>
                <a:lnTo>
                  <a:pt x="0" y="0"/>
                </a:lnTo>
                <a:lnTo>
                  <a:pt x="0" y="323850"/>
                </a:lnTo>
                <a:lnTo>
                  <a:pt x="1143000" y="323850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559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220"/>
              <a:t>Implementation</a:t>
            </a:r>
            <a:r>
              <a:rPr dirty="0" spc="105"/>
              <a:t> </a:t>
            </a:r>
            <a:r>
              <a:rPr dirty="0" spc="185"/>
              <a:t>Workflow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57225" y="3276600"/>
            <a:ext cx="10877550" cy="752475"/>
            <a:chOff x="657225" y="3276600"/>
            <a:chExt cx="10877550" cy="752475"/>
          </a:xfrm>
        </p:grpSpPr>
        <p:sp>
          <p:nvSpPr>
            <p:cNvPr id="5" name="object 5"/>
            <p:cNvSpPr/>
            <p:nvPr/>
          </p:nvSpPr>
          <p:spPr>
            <a:xfrm>
              <a:off x="657225" y="3276599"/>
              <a:ext cx="10877550" cy="400050"/>
            </a:xfrm>
            <a:custGeom>
              <a:avLst/>
              <a:gdLst/>
              <a:ahLst/>
              <a:cxnLst/>
              <a:rect l="l" t="t" r="r" b="b"/>
              <a:pathLst>
                <a:path w="10877550" h="400050">
                  <a:moveTo>
                    <a:pt x="10877550" y="377825"/>
                  </a:moveTo>
                  <a:lnTo>
                    <a:pt x="10871200" y="371475"/>
                  </a:lnTo>
                  <a:lnTo>
                    <a:pt x="1279525" y="371475"/>
                  </a:lnTo>
                  <a:lnTo>
                    <a:pt x="1285875" y="365125"/>
                  </a:lnTo>
                  <a:lnTo>
                    <a:pt x="1285875" y="6350"/>
                  </a:lnTo>
                  <a:lnTo>
                    <a:pt x="1279525" y="0"/>
                  </a:lnTo>
                  <a:lnTo>
                    <a:pt x="1263650" y="0"/>
                  </a:lnTo>
                  <a:lnTo>
                    <a:pt x="1257300" y="6350"/>
                  </a:lnTo>
                  <a:lnTo>
                    <a:pt x="1257300" y="14224"/>
                  </a:lnTo>
                  <a:lnTo>
                    <a:pt x="1257300" y="365125"/>
                  </a:lnTo>
                  <a:lnTo>
                    <a:pt x="1263650" y="371475"/>
                  </a:lnTo>
                  <a:lnTo>
                    <a:pt x="6400" y="371475"/>
                  </a:lnTo>
                  <a:lnTo>
                    <a:pt x="0" y="377825"/>
                  </a:lnTo>
                  <a:lnTo>
                    <a:pt x="0" y="385699"/>
                  </a:lnTo>
                  <a:lnTo>
                    <a:pt x="0" y="393700"/>
                  </a:lnTo>
                  <a:lnTo>
                    <a:pt x="6400" y="400050"/>
                  </a:lnTo>
                  <a:lnTo>
                    <a:pt x="10871200" y="400050"/>
                  </a:lnTo>
                  <a:lnTo>
                    <a:pt x="10877550" y="393700"/>
                  </a:lnTo>
                  <a:lnTo>
                    <a:pt x="10877550" y="377825"/>
                  </a:lnTo>
                  <a:close/>
                </a:path>
              </a:pathLst>
            </a:custGeom>
            <a:solidFill>
              <a:srgbClr val="E4BD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581400"/>
              <a:ext cx="142875" cy="1428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305175" y="3648075"/>
              <a:ext cx="28575" cy="381000"/>
            </a:xfrm>
            <a:custGeom>
              <a:avLst/>
              <a:gdLst/>
              <a:ahLst/>
              <a:cxnLst/>
              <a:rect l="l" t="t" r="r" b="b"/>
              <a:pathLst>
                <a:path w="28575" h="381000">
                  <a:moveTo>
                    <a:pt x="22225" y="0"/>
                  </a:moveTo>
                  <a:lnTo>
                    <a:pt x="6350" y="0"/>
                  </a:lnTo>
                  <a:lnTo>
                    <a:pt x="0" y="6350"/>
                  </a:lnTo>
                  <a:lnTo>
                    <a:pt x="0" y="14224"/>
                  </a:lnTo>
                  <a:lnTo>
                    <a:pt x="0" y="374650"/>
                  </a:lnTo>
                  <a:lnTo>
                    <a:pt x="6350" y="381000"/>
                  </a:lnTo>
                  <a:lnTo>
                    <a:pt x="22225" y="381000"/>
                  </a:lnTo>
                  <a:lnTo>
                    <a:pt x="28575" y="374650"/>
                  </a:lnTo>
                  <a:lnTo>
                    <a:pt x="28575" y="6350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E4BD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8025" y="3581400"/>
              <a:ext cx="142875" cy="1428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695825" y="3276600"/>
              <a:ext cx="28575" cy="371475"/>
            </a:xfrm>
            <a:custGeom>
              <a:avLst/>
              <a:gdLst/>
              <a:ahLst/>
              <a:cxnLst/>
              <a:rect l="l" t="t" r="r" b="b"/>
              <a:pathLst>
                <a:path w="28575" h="371475">
                  <a:moveTo>
                    <a:pt x="22225" y="0"/>
                  </a:moveTo>
                  <a:lnTo>
                    <a:pt x="6350" y="0"/>
                  </a:lnTo>
                  <a:lnTo>
                    <a:pt x="0" y="6350"/>
                  </a:lnTo>
                  <a:lnTo>
                    <a:pt x="0" y="14224"/>
                  </a:lnTo>
                  <a:lnTo>
                    <a:pt x="0" y="365125"/>
                  </a:lnTo>
                  <a:lnTo>
                    <a:pt x="6350" y="371475"/>
                  </a:lnTo>
                  <a:lnTo>
                    <a:pt x="22225" y="371475"/>
                  </a:lnTo>
                  <a:lnTo>
                    <a:pt x="28575" y="365125"/>
                  </a:lnTo>
                  <a:lnTo>
                    <a:pt x="28575" y="6350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E4BD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8675" y="3581400"/>
              <a:ext cx="142875" cy="14287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086475" y="3648075"/>
              <a:ext cx="19050" cy="381000"/>
            </a:xfrm>
            <a:custGeom>
              <a:avLst/>
              <a:gdLst/>
              <a:ahLst/>
              <a:cxnLst/>
              <a:rect l="l" t="t" r="r" b="b"/>
              <a:pathLst>
                <a:path w="19050" h="381000">
                  <a:moveTo>
                    <a:pt x="14732" y="0"/>
                  </a:moveTo>
                  <a:lnTo>
                    <a:pt x="4317" y="0"/>
                  </a:lnTo>
                  <a:lnTo>
                    <a:pt x="0" y="4318"/>
                  </a:lnTo>
                  <a:lnTo>
                    <a:pt x="0" y="9525"/>
                  </a:lnTo>
                  <a:lnTo>
                    <a:pt x="0" y="376681"/>
                  </a:lnTo>
                  <a:lnTo>
                    <a:pt x="4317" y="381000"/>
                  </a:lnTo>
                  <a:lnTo>
                    <a:pt x="14732" y="381000"/>
                  </a:lnTo>
                  <a:lnTo>
                    <a:pt x="19050" y="376681"/>
                  </a:lnTo>
                  <a:lnTo>
                    <a:pt x="19050" y="4318"/>
                  </a:lnTo>
                  <a:lnTo>
                    <a:pt x="14732" y="0"/>
                  </a:lnTo>
                  <a:close/>
                </a:path>
              </a:pathLst>
            </a:custGeom>
            <a:solidFill>
              <a:srgbClr val="E4BD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29325" y="3581400"/>
              <a:ext cx="133350" cy="1428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67600" y="3276600"/>
              <a:ext cx="28575" cy="371475"/>
            </a:xfrm>
            <a:custGeom>
              <a:avLst/>
              <a:gdLst/>
              <a:ahLst/>
              <a:cxnLst/>
              <a:rect l="l" t="t" r="r" b="b"/>
              <a:pathLst>
                <a:path w="28575" h="371475">
                  <a:moveTo>
                    <a:pt x="22225" y="0"/>
                  </a:moveTo>
                  <a:lnTo>
                    <a:pt x="6350" y="0"/>
                  </a:lnTo>
                  <a:lnTo>
                    <a:pt x="0" y="6350"/>
                  </a:lnTo>
                  <a:lnTo>
                    <a:pt x="0" y="14224"/>
                  </a:lnTo>
                  <a:lnTo>
                    <a:pt x="0" y="365125"/>
                  </a:lnTo>
                  <a:lnTo>
                    <a:pt x="6350" y="371475"/>
                  </a:lnTo>
                  <a:lnTo>
                    <a:pt x="22225" y="371475"/>
                  </a:lnTo>
                  <a:lnTo>
                    <a:pt x="28575" y="365125"/>
                  </a:lnTo>
                  <a:lnTo>
                    <a:pt x="28575" y="6350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E4BD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10450" y="3581400"/>
              <a:ext cx="142875" cy="14287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858250" y="3648075"/>
              <a:ext cx="28575" cy="381000"/>
            </a:xfrm>
            <a:custGeom>
              <a:avLst/>
              <a:gdLst/>
              <a:ahLst/>
              <a:cxnLst/>
              <a:rect l="l" t="t" r="r" b="b"/>
              <a:pathLst>
                <a:path w="28575" h="381000">
                  <a:moveTo>
                    <a:pt x="22225" y="0"/>
                  </a:moveTo>
                  <a:lnTo>
                    <a:pt x="6350" y="0"/>
                  </a:lnTo>
                  <a:lnTo>
                    <a:pt x="0" y="6350"/>
                  </a:lnTo>
                  <a:lnTo>
                    <a:pt x="0" y="14224"/>
                  </a:lnTo>
                  <a:lnTo>
                    <a:pt x="0" y="374650"/>
                  </a:lnTo>
                  <a:lnTo>
                    <a:pt x="6350" y="381000"/>
                  </a:lnTo>
                  <a:lnTo>
                    <a:pt x="22225" y="381000"/>
                  </a:lnTo>
                  <a:lnTo>
                    <a:pt x="28575" y="374650"/>
                  </a:lnTo>
                  <a:lnTo>
                    <a:pt x="28575" y="6350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E4BD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01100" y="3581400"/>
              <a:ext cx="142875" cy="14287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248900" y="3276600"/>
              <a:ext cx="28575" cy="371475"/>
            </a:xfrm>
            <a:custGeom>
              <a:avLst/>
              <a:gdLst/>
              <a:ahLst/>
              <a:cxnLst/>
              <a:rect l="l" t="t" r="r" b="b"/>
              <a:pathLst>
                <a:path w="28575" h="371475">
                  <a:moveTo>
                    <a:pt x="22225" y="0"/>
                  </a:moveTo>
                  <a:lnTo>
                    <a:pt x="6350" y="0"/>
                  </a:lnTo>
                  <a:lnTo>
                    <a:pt x="0" y="6350"/>
                  </a:lnTo>
                  <a:lnTo>
                    <a:pt x="0" y="14224"/>
                  </a:lnTo>
                  <a:lnTo>
                    <a:pt x="0" y="365125"/>
                  </a:lnTo>
                  <a:lnTo>
                    <a:pt x="6350" y="371475"/>
                  </a:lnTo>
                  <a:lnTo>
                    <a:pt x="22225" y="371475"/>
                  </a:lnTo>
                  <a:lnTo>
                    <a:pt x="28575" y="365125"/>
                  </a:lnTo>
                  <a:lnTo>
                    <a:pt x="28575" y="6350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E4BD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1750" y="3581400"/>
              <a:ext cx="142875" cy="14287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857250" y="1747202"/>
            <a:ext cx="2154555" cy="10052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25"/>
              </a:spcBef>
            </a:pPr>
            <a:r>
              <a:rPr dirty="0" sz="1850" spc="90" b="1">
                <a:solidFill>
                  <a:srgbClr val="403B4E"/>
                </a:solidFill>
                <a:latin typeface="Cambria"/>
                <a:cs typeface="Cambria"/>
              </a:rPr>
              <a:t>Load</a:t>
            </a:r>
            <a:r>
              <a:rPr dirty="0" sz="1850" spc="6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850" spc="55" b="1">
                <a:solidFill>
                  <a:srgbClr val="403B4E"/>
                </a:solidFill>
                <a:latin typeface="Cambria"/>
                <a:cs typeface="Cambria"/>
              </a:rPr>
              <a:t>Dataset</a:t>
            </a:r>
            <a:endParaRPr sz="18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455"/>
              </a:spcBef>
            </a:pPr>
            <a:r>
              <a:rPr dirty="0" sz="1400" spc="105">
                <a:solidFill>
                  <a:srgbClr val="403B4E"/>
                </a:solidFill>
                <a:latin typeface="Arial MT"/>
                <a:cs typeface="Arial MT"/>
              </a:rPr>
              <a:t>Import</a:t>
            </a:r>
            <a:r>
              <a:rPr dirty="0" sz="14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Big</a:t>
            </a:r>
            <a:r>
              <a:rPr dirty="0" sz="140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95">
                <a:solidFill>
                  <a:srgbClr val="403B4E"/>
                </a:solidFill>
                <a:latin typeface="Arial MT"/>
                <a:cs typeface="Arial MT"/>
              </a:rPr>
              <a:t>Mart</a:t>
            </a:r>
            <a:r>
              <a:rPr dirty="0" sz="140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-135">
                <a:solidFill>
                  <a:srgbClr val="403B4E"/>
                </a:solidFill>
                <a:latin typeface="Arial MT"/>
                <a:cs typeface="Arial MT"/>
              </a:rPr>
              <a:t>CSV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403B4E"/>
                </a:solidFill>
                <a:latin typeface="Arial MT"/>
                <a:cs typeface="Arial MT"/>
              </a:rPr>
              <a:t>files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dirty="0" sz="1400" spc="95">
                <a:solidFill>
                  <a:srgbClr val="403B4E"/>
                </a:solidFill>
                <a:latin typeface="Arial MT"/>
                <a:cs typeface="Arial MT"/>
              </a:rPr>
              <a:t>into</a:t>
            </a:r>
            <a:r>
              <a:rPr dirty="0" sz="1400" spc="-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403B4E"/>
                </a:solidFill>
                <a:latin typeface="Arial MT"/>
                <a:cs typeface="Arial MT"/>
              </a:rPr>
              <a:t>Pandas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41930" y="4193222"/>
            <a:ext cx="2164715" cy="10052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850" spc="75" b="1">
                <a:solidFill>
                  <a:srgbClr val="403B4E"/>
                </a:solidFill>
                <a:latin typeface="Cambria"/>
                <a:cs typeface="Cambria"/>
              </a:rPr>
              <a:t>Explore</a:t>
            </a:r>
            <a:r>
              <a:rPr dirty="0" sz="1850" spc="6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850" spc="55" b="1">
                <a:solidFill>
                  <a:srgbClr val="403B4E"/>
                </a:solidFill>
                <a:latin typeface="Cambria"/>
                <a:cs typeface="Cambria"/>
              </a:rPr>
              <a:t>Data</a:t>
            </a:r>
            <a:endParaRPr sz="18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455"/>
              </a:spcBef>
            </a:pP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Uncover</a:t>
            </a:r>
            <a:r>
              <a:rPr dirty="0" sz="1400" spc="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distributions,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correlations,</a:t>
            </a:r>
            <a:r>
              <a:rPr dirty="0" sz="1400" spc="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40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outliers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43884" y="1747202"/>
            <a:ext cx="2125345" cy="130048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algn="ctr" marL="139065" marR="121285">
              <a:lnSpc>
                <a:spcPct val="104800"/>
              </a:lnSpc>
              <a:spcBef>
                <a:spcPts val="20"/>
              </a:spcBef>
            </a:pPr>
            <a:r>
              <a:rPr dirty="0" sz="1850" spc="85" b="1">
                <a:solidFill>
                  <a:srgbClr val="403B4E"/>
                </a:solidFill>
                <a:latin typeface="Cambria"/>
                <a:cs typeface="Cambria"/>
              </a:rPr>
              <a:t>Handle</a:t>
            </a:r>
            <a:r>
              <a:rPr dirty="0" sz="1850" spc="75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850" spc="120" b="1">
                <a:solidFill>
                  <a:srgbClr val="403B4E"/>
                </a:solidFill>
                <a:latin typeface="Cambria"/>
                <a:cs typeface="Cambria"/>
              </a:rPr>
              <a:t>Missing </a:t>
            </a:r>
            <a:r>
              <a:rPr dirty="0" sz="1850" spc="60" b="1">
                <a:solidFill>
                  <a:srgbClr val="403B4E"/>
                </a:solidFill>
                <a:latin typeface="Cambria"/>
                <a:cs typeface="Cambria"/>
              </a:rPr>
              <a:t>Values</a:t>
            </a:r>
            <a:endParaRPr sz="1850">
              <a:latin typeface="Cambria"/>
              <a:cs typeface="Cambria"/>
            </a:endParaRPr>
          </a:p>
          <a:p>
            <a:pPr algn="ctr" marL="12700" marR="5080">
              <a:lnSpc>
                <a:spcPct val="138500"/>
              </a:lnSpc>
              <a:spcBef>
                <a:spcPts val="805"/>
              </a:spcBef>
            </a:pPr>
            <a:r>
              <a:rPr dirty="0" sz="1400" spc="90">
                <a:solidFill>
                  <a:srgbClr val="403B4E"/>
                </a:solidFill>
                <a:latin typeface="Arial MT"/>
                <a:cs typeface="Arial MT"/>
              </a:rPr>
              <a:t>Impute</a:t>
            </a:r>
            <a:r>
              <a:rPr dirty="0" sz="1400" spc="19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Item_Weight</a:t>
            </a:r>
            <a:r>
              <a:rPr dirty="0" sz="1400" spc="18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35">
                <a:solidFill>
                  <a:srgbClr val="403B4E"/>
                </a:solidFill>
                <a:latin typeface="Arial MT"/>
                <a:cs typeface="Arial MT"/>
              </a:rPr>
              <a:t>and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Outlet_Size</a:t>
            </a:r>
            <a:r>
              <a:rPr dirty="0" sz="1400" spc="19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403B4E"/>
                </a:solidFill>
                <a:latin typeface="Arial MT"/>
                <a:cs typeface="Arial MT"/>
              </a:rPr>
              <a:t>gaps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40071" y="4193222"/>
            <a:ext cx="1922780" cy="10052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125"/>
              </a:spcBef>
            </a:pPr>
            <a:r>
              <a:rPr dirty="0" sz="1850" spc="55" b="1">
                <a:solidFill>
                  <a:srgbClr val="403B4E"/>
                </a:solidFill>
                <a:latin typeface="Cambria"/>
                <a:cs typeface="Cambria"/>
              </a:rPr>
              <a:t>Label</a:t>
            </a:r>
            <a:r>
              <a:rPr dirty="0" sz="1850" spc="75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850" spc="100" b="1">
                <a:solidFill>
                  <a:srgbClr val="403B4E"/>
                </a:solidFill>
                <a:latin typeface="Cambria"/>
                <a:cs typeface="Cambria"/>
              </a:rPr>
              <a:t>Encoding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Convert</a:t>
            </a: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all</a:t>
            </a:r>
            <a:r>
              <a:rPr dirty="0" sz="1400" spc="-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35">
                <a:solidFill>
                  <a:srgbClr val="403B4E"/>
                </a:solidFill>
                <a:latin typeface="Arial MT"/>
                <a:cs typeface="Arial MT"/>
              </a:rPr>
              <a:t>categorical</a:t>
            </a:r>
            <a:endParaRPr sz="1400">
              <a:latin typeface="Arial MT"/>
              <a:cs typeface="Arial MT"/>
            </a:endParaRPr>
          </a:p>
          <a:p>
            <a:pPr marL="105410">
              <a:lnSpc>
                <a:spcPct val="100000"/>
              </a:lnSpc>
              <a:spcBef>
                <a:spcPts val="650"/>
              </a:spcBef>
            </a:pP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columns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to</a:t>
            </a:r>
            <a:r>
              <a:rPr dirty="0" sz="14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numeric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79794" y="1747202"/>
            <a:ext cx="2009775" cy="10052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14604">
              <a:lnSpc>
                <a:spcPct val="100000"/>
              </a:lnSpc>
              <a:spcBef>
                <a:spcPts val="125"/>
              </a:spcBef>
            </a:pPr>
            <a:r>
              <a:rPr dirty="0" sz="1850" spc="80" b="1">
                <a:solidFill>
                  <a:srgbClr val="403B4E"/>
                </a:solidFill>
                <a:latin typeface="Cambria"/>
                <a:cs typeface="Cambria"/>
              </a:rPr>
              <a:t>Train</a:t>
            </a:r>
            <a:r>
              <a:rPr dirty="0" sz="1850" spc="-3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850" spc="114" b="1">
                <a:solidFill>
                  <a:srgbClr val="403B4E"/>
                </a:solidFill>
                <a:latin typeface="Cambria"/>
                <a:cs typeface="Cambria"/>
              </a:rPr>
              <a:t>XGBoost</a:t>
            </a:r>
            <a:endParaRPr sz="18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455"/>
              </a:spcBef>
            </a:pP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Fit</a:t>
            </a:r>
            <a:r>
              <a:rPr dirty="0" sz="140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r>
              <a:rPr dirty="0" sz="140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45">
                <a:solidFill>
                  <a:srgbClr val="403B4E"/>
                </a:solidFill>
                <a:latin typeface="Arial MT"/>
                <a:cs typeface="Arial MT"/>
              </a:rPr>
              <a:t>regressor</a:t>
            </a:r>
            <a:r>
              <a:rPr dirty="0" sz="14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105">
                <a:solidFill>
                  <a:srgbClr val="403B4E"/>
                </a:solidFill>
                <a:latin typeface="Arial MT"/>
                <a:cs typeface="Arial MT"/>
              </a:rPr>
              <a:t>on</a:t>
            </a:r>
            <a:r>
              <a:rPr dirty="0" sz="140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35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endParaRPr sz="1400">
              <a:latin typeface="Arial MT"/>
              <a:cs typeface="Arial MT"/>
            </a:endParaRPr>
          </a:p>
          <a:p>
            <a:pPr algn="ctr" marL="8890">
              <a:lnSpc>
                <a:spcPct val="100000"/>
              </a:lnSpc>
              <a:spcBef>
                <a:spcPts val="645"/>
              </a:spcBef>
            </a:pP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training</a:t>
            </a:r>
            <a:r>
              <a:rPr dirty="0" sz="140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40">
                <a:solidFill>
                  <a:srgbClr val="403B4E"/>
                </a:solidFill>
                <a:latin typeface="Arial MT"/>
                <a:cs typeface="Arial MT"/>
              </a:rPr>
              <a:t>split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54644" y="4193222"/>
            <a:ext cx="1838960" cy="130111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ctr" marL="247015" marR="228600" indent="635">
              <a:lnSpc>
                <a:spcPct val="105000"/>
              </a:lnSpc>
              <a:spcBef>
                <a:spcPts val="15"/>
              </a:spcBef>
            </a:pPr>
            <a:r>
              <a:rPr dirty="0" sz="1850" spc="55" b="1">
                <a:solidFill>
                  <a:srgbClr val="403B4E"/>
                </a:solidFill>
                <a:latin typeface="Cambria"/>
                <a:cs typeface="Cambria"/>
              </a:rPr>
              <a:t>Generate </a:t>
            </a:r>
            <a:r>
              <a:rPr dirty="0" sz="1850" spc="60" b="1">
                <a:solidFill>
                  <a:srgbClr val="403B4E"/>
                </a:solidFill>
                <a:latin typeface="Cambria"/>
                <a:cs typeface="Cambria"/>
              </a:rPr>
              <a:t>Predictions</a:t>
            </a:r>
            <a:endParaRPr sz="18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450"/>
              </a:spcBef>
            </a:pP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Forecast</a:t>
            </a:r>
            <a:r>
              <a:rPr dirty="0" sz="1400" spc="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sales</a:t>
            </a:r>
            <a:r>
              <a:rPr dirty="0" sz="1400" spc="8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95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dirty="0" sz="1400" spc="10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35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endParaRPr sz="1400">
              <a:latin typeface="Arial MT"/>
              <a:cs typeface="Arial MT"/>
            </a:endParaRPr>
          </a:p>
          <a:p>
            <a:pPr algn="ctr" marL="9525">
              <a:lnSpc>
                <a:spcPct val="100000"/>
              </a:lnSpc>
              <a:spcBef>
                <a:spcPts val="650"/>
              </a:spcBef>
            </a:pP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test</a:t>
            </a:r>
            <a:r>
              <a:rPr dirty="0" sz="1400" spc="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45">
                <a:solidFill>
                  <a:srgbClr val="403B4E"/>
                </a:solidFill>
                <a:latin typeface="Arial MT"/>
                <a:cs typeface="Arial MT"/>
              </a:rPr>
              <a:t>dataset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87891" y="1747202"/>
            <a:ext cx="1958975" cy="10052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850" spc="70" b="1">
                <a:solidFill>
                  <a:srgbClr val="403B4E"/>
                </a:solidFill>
                <a:latin typeface="Cambria"/>
                <a:cs typeface="Cambria"/>
              </a:rPr>
              <a:t>Evaluate</a:t>
            </a:r>
            <a:r>
              <a:rPr dirty="0" sz="185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850" spc="60" b="1">
                <a:solidFill>
                  <a:srgbClr val="403B4E"/>
                </a:solidFill>
                <a:latin typeface="Cambria"/>
                <a:cs typeface="Cambria"/>
              </a:rPr>
              <a:t>Results</a:t>
            </a:r>
            <a:endParaRPr sz="18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455"/>
              </a:spcBef>
            </a:pP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Measure</a:t>
            </a:r>
            <a:r>
              <a:rPr dirty="0" sz="1400" spc="-5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performance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dirty="0" sz="1400" spc="95">
                <a:solidFill>
                  <a:srgbClr val="403B4E"/>
                </a:solidFill>
                <a:latin typeface="Arial MT"/>
                <a:cs typeface="Arial MT"/>
              </a:rPr>
              <a:t>with</a:t>
            </a:r>
            <a:r>
              <a:rPr dirty="0" sz="1400" spc="-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-45">
                <a:solidFill>
                  <a:srgbClr val="403B4E"/>
                </a:solidFill>
                <a:latin typeface="Arial MT"/>
                <a:cs typeface="Arial MT"/>
              </a:rPr>
              <a:t>R²</a:t>
            </a:r>
            <a:r>
              <a:rPr dirty="0" sz="1400" spc="-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85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400" spc="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403B4E"/>
                </a:solidFill>
                <a:latin typeface="Arial MT"/>
                <a:cs typeface="Arial MT"/>
              </a:rPr>
              <a:t>RMSE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9287" y="5781040"/>
            <a:ext cx="1038415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Each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stage</a:t>
            </a:r>
            <a:r>
              <a:rPr dirty="0" sz="140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was</a:t>
            </a:r>
            <a:r>
              <a:rPr dirty="0" sz="1400" spc="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executed</a:t>
            </a:r>
            <a:r>
              <a:rPr dirty="0" sz="140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45">
                <a:solidFill>
                  <a:srgbClr val="403B4E"/>
                </a:solidFill>
                <a:latin typeface="Arial MT"/>
                <a:cs typeface="Arial MT"/>
              </a:rPr>
              <a:t>iteratively</a:t>
            </a:r>
            <a:r>
              <a:rPr dirty="0" sz="1400" spc="80">
                <a:solidFill>
                  <a:srgbClr val="403B4E"/>
                </a:solidFill>
                <a:latin typeface="Arial MT"/>
                <a:cs typeface="Arial MT"/>
              </a:rPr>
              <a:t> in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Google</a:t>
            </a:r>
            <a:r>
              <a:rPr dirty="0" sz="1400" spc="-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Colab,</a:t>
            </a:r>
            <a:r>
              <a:rPr dirty="0" sz="1400" spc="-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95">
                <a:solidFill>
                  <a:srgbClr val="403B4E"/>
                </a:solidFill>
                <a:latin typeface="Arial MT"/>
                <a:cs typeface="Arial MT"/>
              </a:rPr>
              <a:t>with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visual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validation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80">
                <a:solidFill>
                  <a:srgbClr val="403B4E"/>
                </a:solidFill>
                <a:latin typeface="Arial MT"/>
                <a:cs typeface="Arial MT"/>
              </a:rPr>
              <a:t>at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every</a:t>
            </a:r>
            <a:r>
              <a:rPr dirty="0" sz="1400" spc="8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checkpoint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110">
                <a:solidFill>
                  <a:srgbClr val="403B4E"/>
                </a:solidFill>
                <a:latin typeface="Arial MT"/>
                <a:cs typeface="Arial MT"/>
              </a:rPr>
              <a:t>to</a:t>
            </a:r>
            <a:r>
              <a:rPr dirty="0" sz="1400" spc="9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ensure</a:t>
            </a:r>
            <a:r>
              <a:rPr dirty="0" sz="140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pipeline</a:t>
            </a:r>
            <a:r>
              <a:rPr dirty="0" sz="1400" spc="-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integrity.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71999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229225" y="1057275"/>
            <a:ext cx="1905000" cy="352425"/>
          </a:xfrm>
          <a:custGeom>
            <a:avLst/>
            <a:gdLst/>
            <a:ahLst/>
            <a:cxnLst/>
            <a:rect l="l" t="t" r="r" b="b"/>
            <a:pathLst>
              <a:path w="1905000" h="352425">
                <a:moveTo>
                  <a:pt x="1842007" y="0"/>
                </a:moveTo>
                <a:lnTo>
                  <a:pt x="62991" y="0"/>
                </a:lnTo>
                <a:lnTo>
                  <a:pt x="38469" y="4949"/>
                </a:lnTo>
                <a:lnTo>
                  <a:pt x="18446" y="18446"/>
                </a:lnTo>
                <a:lnTo>
                  <a:pt x="4949" y="38469"/>
                </a:lnTo>
                <a:lnTo>
                  <a:pt x="0" y="62991"/>
                </a:lnTo>
                <a:lnTo>
                  <a:pt x="0" y="289433"/>
                </a:lnTo>
                <a:lnTo>
                  <a:pt x="4949" y="313955"/>
                </a:lnTo>
                <a:lnTo>
                  <a:pt x="18446" y="333978"/>
                </a:lnTo>
                <a:lnTo>
                  <a:pt x="38469" y="347475"/>
                </a:lnTo>
                <a:lnTo>
                  <a:pt x="62991" y="352425"/>
                </a:lnTo>
                <a:lnTo>
                  <a:pt x="1842007" y="352425"/>
                </a:lnTo>
                <a:lnTo>
                  <a:pt x="1866530" y="347475"/>
                </a:lnTo>
                <a:lnTo>
                  <a:pt x="1886553" y="333978"/>
                </a:lnTo>
                <a:lnTo>
                  <a:pt x="1900050" y="313955"/>
                </a:lnTo>
                <a:lnTo>
                  <a:pt x="1905000" y="289433"/>
                </a:lnTo>
                <a:lnTo>
                  <a:pt x="1905000" y="62991"/>
                </a:lnTo>
                <a:lnTo>
                  <a:pt x="1900050" y="38469"/>
                </a:lnTo>
                <a:lnTo>
                  <a:pt x="1886553" y="18446"/>
                </a:lnTo>
                <a:lnTo>
                  <a:pt x="1866530" y="4949"/>
                </a:lnTo>
                <a:lnTo>
                  <a:pt x="1842007" y="0"/>
                </a:lnTo>
                <a:close/>
              </a:path>
            </a:pathLst>
          </a:custGeom>
          <a:solidFill>
            <a:srgbClr val="FFD7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38190" y="1126807"/>
            <a:ext cx="359092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013585" algn="l"/>
              </a:tabLst>
            </a:pP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AI</a:t>
            </a:r>
            <a:r>
              <a:rPr dirty="0" sz="1100" spc="-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403B4E"/>
                </a:solidFill>
                <a:latin typeface="Arial MT"/>
                <a:cs typeface="Arial MT"/>
              </a:rPr>
              <a:t>INTERNSHIP</a:t>
            </a:r>
            <a:r>
              <a:rPr dirty="0" sz="1100" spc="-10">
                <a:solidFill>
                  <a:srgbClr val="403B4E"/>
                </a:solidFill>
                <a:latin typeface="Arial MT"/>
                <a:cs typeface="Arial MT"/>
              </a:rPr>
              <a:t> PROJECT</a:t>
            </a:r>
            <a:r>
              <a:rPr dirty="0" sz="1100">
                <a:solidFill>
                  <a:srgbClr val="403B4E"/>
                </a:solidFill>
                <a:latin typeface="Arial MT"/>
                <a:cs typeface="Arial MT"/>
              </a:rPr>
              <a:t>	</a:t>
            </a:r>
            <a:r>
              <a:rPr dirty="0" sz="1100" spc="-10">
                <a:solidFill>
                  <a:srgbClr val="FFAC93"/>
                </a:solidFill>
                <a:latin typeface="Arial MT"/>
                <a:cs typeface="Arial MT"/>
              </a:rPr>
              <a:t>NAVIOTECH</a:t>
            </a:r>
            <a:r>
              <a:rPr dirty="0" sz="1100" spc="-45">
                <a:solidFill>
                  <a:srgbClr val="FFAC93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AC93"/>
                </a:solidFill>
                <a:latin typeface="Arial MT"/>
                <a:cs typeface="Arial MT"/>
              </a:rPr>
              <a:t>SOLUTION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224779" y="1414271"/>
            <a:ext cx="5975985" cy="1207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0"/>
              </a:spcBef>
            </a:pPr>
            <a:r>
              <a:rPr dirty="0" spc="240"/>
              <a:t>Big</a:t>
            </a:r>
            <a:r>
              <a:rPr dirty="0" spc="60"/>
              <a:t> </a:t>
            </a:r>
            <a:r>
              <a:rPr dirty="0" spc="254"/>
              <a:t>Mart</a:t>
            </a:r>
            <a:r>
              <a:rPr dirty="0" spc="95"/>
              <a:t> </a:t>
            </a:r>
            <a:r>
              <a:rPr dirty="0" spc="165"/>
              <a:t>Sales</a:t>
            </a:r>
            <a:r>
              <a:rPr dirty="0" spc="150"/>
              <a:t> </a:t>
            </a:r>
            <a:r>
              <a:rPr dirty="0" spc="145"/>
              <a:t>Prediction </a:t>
            </a:r>
            <a:r>
              <a:rPr dirty="0" spc="265"/>
              <a:t>Using</a:t>
            </a:r>
            <a:r>
              <a:rPr dirty="0" spc="140"/>
              <a:t> </a:t>
            </a:r>
            <a:r>
              <a:rPr dirty="0" spc="245"/>
              <a:t>Machine</a:t>
            </a:r>
            <a:r>
              <a:rPr dirty="0" spc="105"/>
              <a:t> </a:t>
            </a:r>
            <a:r>
              <a:rPr dirty="0" spc="200"/>
              <a:t>Learning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24779" y="2899018"/>
            <a:ext cx="6188075" cy="913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600"/>
              </a:lnSpc>
              <a:spcBef>
                <a:spcPts val="100"/>
              </a:spcBef>
            </a:pP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A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Machine</a:t>
            </a:r>
            <a:r>
              <a:rPr dirty="0" sz="140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45">
                <a:solidFill>
                  <a:srgbClr val="403B4E"/>
                </a:solidFill>
                <a:latin typeface="Arial MT"/>
                <a:cs typeface="Arial MT"/>
              </a:rPr>
              <a:t>Learning-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driven</a:t>
            </a:r>
            <a:r>
              <a:rPr dirty="0" sz="14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approach</a:t>
            </a:r>
            <a:r>
              <a:rPr dirty="0" sz="14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110">
                <a:solidFill>
                  <a:srgbClr val="403B4E"/>
                </a:solidFill>
                <a:latin typeface="Arial MT"/>
                <a:cs typeface="Arial MT"/>
              </a:rPr>
              <a:t>to</a:t>
            </a:r>
            <a:r>
              <a:rPr dirty="0" sz="140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retail</a:t>
            </a:r>
            <a:r>
              <a:rPr dirty="0" sz="1400" spc="-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sales 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forecasting</a:t>
            </a:r>
            <a:r>
              <a:rPr dirty="0" sz="140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using</a:t>
            </a:r>
            <a:r>
              <a:rPr dirty="0" sz="1400" spc="-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the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XGBoost</a:t>
            </a:r>
            <a:r>
              <a:rPr dirty="0" sz="140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Regressor,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presented</a:t>
            </a:r>
            <a:r>
              <a:rPr dirty="0" sz="1400" spc="-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as</a:t>
            </a:r>
            <a:r>
              <a:rPr dirty="0" sz="14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100">
                <a:solidFill>
                  <a:srgbClr val="403B4E"/>
                </a:solidFill>
                <a:latin typeface="Arial MT"/>
                <a:cs typeface="Arial MT"/>
              </a:rPr>
              <a:t>part</a:t>
            </a:r>
            <a:r>
              <a:rPr dirty="0" sz="140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of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85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r>
              <a:rPr dirty="0" sz="1400" spc="-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Artificial</a:t>
            </a:r>
            <a:r>
              <a:rPr dirty="0" sz="1400" spc="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35">
                <a:solidFill>
                  <a:srgbClr val="403B4E"/>
                </a:solidFill>
                <a:latin typeface="Arial MT"/>
                <a:cs typeface="Arial MT"/>
              </a:rPr>
              <a:t>Intelligence 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Internship</a:t>
            </a:r>
            <a:r>
              <a:rPr dirty="0" sz="14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Programme</a:t>
            </a:r>
            <a:r>
              <a:rPr dirty="0" sz="14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80">
                <a:solidFill>
                  <a:srgbClr val="403B4E"/>
                </a:solidFill>
                <a:latin typeface="Arial MT"/>
                <a:cs typeface="Arial MT"/>
              </a:rPr>
              <a:t>at</a:t>
            </a:r>
            <a:r>
              <a:rPr dirty="0" sz="1400" spc="-5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Naviotech</a:t>
            </a:r>
            <a:r>
              <a:rPr dirty="0" sz="140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40">
                <a:solidFill>
                  <a:srgbClr val="403B4E"/>
                </a:solidFill>
                <a:latin typeface="Arial MT"/>
                <a:cs typeface="Arial MT"/>
              </a:rPr>
              <a:t>Solution.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29225" y="4114800"/>
            <a:ext cx="6305550" cy="28575"/>
          </a:xfrm>
          <a:custGeom>
            <a:avLst/>
            <a:gdLst/>
            <a:ahLst/>
            <a:cxnLst/>
            <a:rect l="l" t="t" r="r" b="b"/>
            <a:pathLst>
              <a:path w="6305550" h="28575">
                <a:moveTo>
                  <a:pt x="6299200" y="0"/>
                </a:moveTo>
                <a:lnTo>
                  <a:pt x="6350" y="0"/>
                </a:lnTo>
                <a:lnTo>
                  <a:pt x="0" y="6350"/>
                </a:lnTo>
                <a:lnTo>
                  <a:pt x="0" y="14224"/>
                </a:lnTo>
                <a:lnTo>
                  <a:pt x="0" y="22225"/>
                </a:lnTo>
                <a:lnTo>
                  <a:pt x="6350" y="28575"/>
                </a:lnTo>
                <a:lnTo>
                  <a:pt x="6299200" y="28575"/>
                </a:lnTo>
                <a:lnTo>
                  <a:pt x="6305550" y="22225"/>
                </a:lnTo>
                <a:lnTo>
                  <a:pt x="6305550" y="6350"/>
                </a:lnTo>
                <a:lnTo>
                  <a:pt x="6299200" y="0"/>
                </a:lnTo>
                <a:close/>
              </a:path>
            </a:pathLst>
          </a:custGeom>
          <a:solidFill>
            <a:srgbClr val="403B4E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5230876" y="4402201"/>
            <a:ext cx="1987550" cy="1406525"/>
            <a:chOff x="5230876" y="4402201"/>
            <a:chExt cx="1987550" cy="1406525"/>
          </a:xfrm>
        </p:grpSpPr>
        <p:sp>
          <p:nvSpPr>
            <p:cNvPr id="9" name="object 9"/>
            <p:cNvSpPr/>
            <p:nvPr/>
          </p:nvSpPr>
          <p:spPr>
            <a:xfrm>
              <a:off x="5234051" y="4405376"/>
              <a:ext cx="1981200" cy="1400175"/>
            </a:xfrm>
            <a:custGeom>
              <a:avLst/>
              <a:gdLst/>
              <a:ahLst/>
              <a:cxnLst/>
              <a:rect l="l" t="t" r="r" b="b"/>
              <a:pathLst>
                <a:path w="1981200" h="1400175">
                  <a:moveTo>
                    <a:pt x="1901952" y="0"/>
                  </a:moveTo>
                  <a:lnTo>
                    <a:pt x="79121" y="0"/>
                  </a:lnTo>
                  <a:lnTo>
                    <a:pt x="48327" y="6219"/>
                  </a:lnTo>
                  <a:lnTo>
                    <a:pt x="23177" y="23177"/>
                  </a:lnTo>
                  <a:lnTo>
                    <a:pt x="6219" y="48327"/>
                  </a:lnTo>
                  <a:lnTo>
                    <a:pt x="0" y="79121"/>
                  </a:lnTo>
                  <a:lnTo>
                    <a:pt x="0" y="1320965"/>
                  </a:lnTo>
                  <a:lnTo>
                    <a:pt x="6219" y="1351773"/>
                  </a:lnTo>
                  <a:lnTo>
                    <a:pt x="23177" y="1376930"/>
                  </a:lnTo>
                  <a:lnTo>
                    <a:pt x="48327" y="1393892"/>
                  </a:lnTo>
                  <a:lnTo>
                    <a:pt x="79121" y="1400111"/>
                  </a:lnTo>
                  <a:lnTo>
                    <a:pt x="1901952" y="1400111"/>
                  </a:lnTo>
                  <a:lnTo>
                    <a:pt x="1932765" y="1393892"/>
                  </a:lnTo>
                  <a:lnTo>
                    <a:pt x="1957958" y="1376930"/>
                  </a:lnTo>
                  <a:lnTo>
                    <a:pt x="1974961" y="1351773"/>
                  </a:lnTo>
                  <a:lnTo>
                    <a:pt x="1981200" y="1320965"/>
                  </a:lnTo>
                  <a:lnTo>
                    <a:pt x="1981200" y="79121"/>
                  </a:lnTo>
                  <a:lnTo>
                    <a:pt x="1974961" y="48327"/>
                  </a:lnTo>
                  <a:lnTo>
                    <a:pt x="1957958" y="23177"/>
                  </a:lnTo>
                  <a:lnTo>
                    <a:pt x="1932765" y="6219"/>
                  </a:lnTo>
                  <a:lnTo>
                    <a:pt x="1901952" y="0"/>
                  </a:lnTo>
                  <a:close/>
                </a:path>
              </a:pathLst>
            </a:custGeom>
            <a:solidFill>
              <a:srgbClr val="FFD7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234051" y="4405376"/>
              <a:ext cx="1981200" cy="1400175"/>
            </a:xfrm>
            <a:custGeom>
              <a:avLst/>
              <a:gdLst/>
              <a:ahLst/>
              <a:cxnLst/>
              <a:rect l="l" t="t" r="r" b="b"/>
              <a:pathLst>
                <a:path w="1981200" h="1400175">
                  <a:moveTo>
                    <a:pt x="0" y="79121"/>
                  </a:moveTo>
                  <a:lnTo>
                    <a:pt x="6219" y="48327"/>
                  </a:lnTo>
                  <a:lnTo>
                    <a:pt x="23177" y="23177"/>
                  </a:lnTo>
                  <a:lnTo>
                    <a:pt x="48327" y="6219"/>
                  </a:lnTo>
                  <a:lnTo>
                    <a:pt x="79121" y="0"/>
                  </a:lnTo>
                  <a:lnTo>
                    <a:pt x="1901952" y="0"/>
                  </a:lnTo>
                  <a:lnTo>
                    <a:pt x="1932765" y="6219"/>
                  </a:lnTo>
                  <a:lnTo>
                    <a:pt x="1957958" y="23177"/>
                  </a:lnTo>
                  <a:lnTo>
                    <a:pt x="1974961" y="48327"/>
                  </a:lnTo>
                  <a:lnTo>
                    <a:pt x="1981200" y="79121"/>
                  </a:lnTo>
                  <a:lnTo>
                    <a:pt x="1981200" y="1320965"/>
                  </a:lnTo>
                  <a:lnTo>
                    <a:pt x="1974961" y="1351773"/>
                  </a:lnTo>
                  <a:lnTo>
                    <a:pt x="1957958" y="1376930"/>
                  </a:lnTo>
                  <a:lnTo>
                    <a:pt x="1932765" y="1393892"/>
                  </a:lnTo>
                  <a:lnTo>
                    <a:pt x="1901952" y="1400111"/>
                  </a:lnTo>
                  <a:lnTo>
                    <a:pt x="79121" y="1400111"/>
                  </a:lnTo>
                  <a:lnTo>
                    <a:pt x="48327" y="1393892"/>
                  </a:lnTo>
                  <a:lnTo>
                    <a:pt x="23177" y="1376930"/>
                  </a:lnTo>
                  <a:lnTo>
                    <a:pt x="6219" y="1351773"/>
                  </a:lnTo>
                  <a:lnTo>
                    <a:pt x="0" y="1320965"/>
                  </a:lnTo>
                  <a:lnTo>
                    <a:pt x="0" y="79121"/>
                  </a:lnTo>
                  <a:close/>
                </a:path>
              </a:pathLst>
            </a:custGeom>
            <a:ln w="6350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419978" y="4570666"/>
            <a:ext cx="1169035" cy="10052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45" b="1">
                <a:solidFill>
                  <a:srgbClr val="403B4E"/>
                </a:solidFill>
                <a:latin typeface="Cambria"/>
                <a:cs typeface="Cambria"/>
              </a:rPr>
              <a:t>Presenter</a:t>
            </a:r>
            <a:endParaRPr sz="1850">
              <a:latin typeface="Cambria"/>
              <a:cs typeface="Cambria"/>
            </a:endParaRPr>
          </a:p>
          <a:p>
            <a:pPr marL="12700" marR="62865">
              <a:lnSpc>
                <a:spcPct val="138600"/>
              </a:lnSpc>
              <a:spcBef>
                <a:spcPts val="805"/>
              </a:spcBef>
            </a:pP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Vinay</a:t>
            </a:r>
            <a:r>
              <a:rPr dirty="0" sz="1400" spc="1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Kumar </a:t>
            </a:r>
            <a:r>
              <a:rPr dirty="0" sz="1400" spc="-20">
                <a:solidFill>
                  <a:srgbClr val="403B4E"/>
                </a:solidFill>
                <a:latin typeface="Arial MT"/>
                <a:cs typeface="Arial MT"/>
              </a:rPr>
              <a:t>OGRE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393051" y="4402201"/>
            <a:ext cx="1987550" cy="1406525"/>
            <a:chOff x="7393051" y="4402201"/>
            <a:chExt cx="1987550" cy="1406525"/>
          </a:xfrm>
        </p:grpSpPr>
        <p:sp>
          <p:nvSpPr>
            <p:cNvPr id="13" name="object 13"/>
            <p:cNvSpPr/>
            <p:nvPr/>
          </p:nvSpPr>
          <p:spPr>
            <a:xfrm>
              <a:off x="7396226" y="4405376"/>
              <a:ext cx="1981200" cy="1400175"/>
            </a:xfrm>
            <a:custGeom>
              <a:avLst/>
              <a:gdLst/>
              <a:ahLst/>
              <a:cxnLst/>
              <a:rect l="l" t="t" r="r" b="b"/>
              <a:pathLst>
                <a:path w="1981200" h="1400175">
                  <a:moveTo>
                    <a:pt x="1901952" y="0"/>
                  </a:moveTo>
                  <a:lnTo>
                    <a:pt x="79121" y="0"/>
                  </a:lnTo>
                  <a:lnTo>
                    <a:pt x="48327" y="6219"/>
                  </a:lnTo>
                  <a:lnTo>
                    <a:pt x="23177" y="23177"/>
                  </a:lnTo>
                  <a:lnTo>
                    <a:pt x="6219" y="48327"/>
                  </a:lnTo>
                  <a:lnTo>
                    <a:pt x="0" y="79121"/>
                  </a:lnTo>
                  <a:lnTo>
                    <a:pt x="0" y="1320965"/>
                  </a:lnTo>
                  <a:lnTo>
                    <a:pt x="6219" y="1351773"/>
                  </a:lnTo>
                  <a:lnTo>
                    <a:pt x="23177" y="1376930"/>
                  </a:lnTo>
                  <a:lnTo>
                    <a:pt x="48327" y="1393892"/>
                  </a:lnTo>
                  <a:lnTo>
                    <a:pt x="79121" y="1400111"/>
                  </a:lnTo>
                  <a:lnTo>
                    <a:pt x="1901952" y="1400111"/>
                  </a:lnTo>
                  <a:lnTo>
                    <a:pt x="1932765" y="1393892"/>
                  </a:lnTo>
                  <a:lnTo>
                    <a:pt x="1957958" y="1376930"/>
                  </a:lnTo>
                  <a:lnTo>
                    <a:pt x="1974961" y="1351773"/>
                  </a:lnTo>
                  <a:lnTo>
                    <a:pt x="1981200" y="1320965"/>
                  </a:lnTo>
                  <a:lnTo>
                    <a:pt x="1981200" y="79121"/>
                  </a:lnTo>
                  <a:lnTo>
                    <a:pt x="1974961" y="48327"/>
                  </a:lnTo>
                  <a:lnTo>
                    <a:pt x="1957958" y="23177"/>
                  </a:lnTo>
                  <a:lnTo>
                    <a:pt x="1932765" y="6219"/>
                  </a:lnTo>
                  <a:lnTo>
                    <a:pt x="1901952" y="0"/>
                  </a:lnTo>
                  <a:close/>
                </a:path>
              </a:pathLst>
            </a:custGeom>
            <a:solidFill>
              <a:srgbClr val="FFD7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396226" y="4405376"/>
              <a:ext cx="1981200" cy="1400175"/>
            </a:xfrm>
            <a:custGeom>
              <a:avLst/>
              <a:gdLst/>
              <a:ahLst/>
              <a:cxnLst/>
              <a:rect l="l" t="t" r="r" b="b"/>
              <a:pathLst>
                <a:path w="1981200" h="1400175">
                  <a:moveTo>
                    <a:pt x="0" y="79121"/>
                  </a:moveTo>
                  <a:lnTo>
                    <a:pt x="6219" y="48327"/>
                  </a:lnTo>
                  <a:lnTo>
                    <a:pt x="23177" y="23177"/>
                  </a:lnTo>
                  <a:lnTo>
                    <a:pt x="48327" y="6219"/>
                  </a:lnTo>
                  <a:lnTo>
                    <a:pt x="79121" y="0"/>
                  </a:lnTo>
                  <a:lnTo>
                    <a:pt x="1901952" y="0"/>
                  </a:lnTo>
                  <a:lnTo>
                    <a:pt x="1932765" y="6219"/>
                  </a:lnTo>
                  <a:lnTo>
                    <a:pt x="1957958" y="23177"/>
                  </a:lnTo>
                  <a:lnTo>
                    <a:pt x="1974961" y="48327"/>
                  </a:lnTo>
                  <a:lnTo>
                    <a:pt x="1981200" y="79121"/>
                  </a:lnTo>
                  <a:lnTo>
                    <a:pt x="1981200" y="1320965"/>
                  </a:lnTo>
                  <a:lnTo>
                    <a:pt x="1974961" y="1351773"/>
                  </a:lnTo>
                  <a:lnTo>
                    <a:pt x="1957958" y="1376930"/>
                  </a:lnTo>
                  <a:lnTo>
                    <a:pt x="1932765" y="1393892"/>
                  </a:lnTo>
                  <a:lnTo>
                    <a:pt x="1901952" y="1400111"/>
                  </a:lnTo>
                  <a:lnTo>
                    <a:pt x="79121" y="1400111"/>
                  </a:lnTo>
                  <a:lnTo>
                    <a:pt x="48327" y="1393892"/>
                  </a:lnTo>
                  <a:lnTo>
                    <a:pt x="23177" y="1376930"/>
                  </a:lnTo>
                  <a:lnTo>
                    <a:pt x="6219" y="1351773"/>
                  </a:lnTo>
                  <a:lnTo>
                    <a:pt x="0" y="1320965"/>
                  </a:lnTo>
                  <a:lnTo>
                    <a:pt x="0" y="79121"/>
                  </a:lnTo>
                  <a:close/>
                </a:path>
              </a:pathLst>
            </a:custGeom>
            <a:ln w="6350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583805" y="4570666"/>
            <a:ext cx="1568450" cy="10052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70" b="1">
                <a:solidFill>
                  <a:srgbClr val="403B4E"/>
                </a:solidFill>
                <a:latin typeface="Cambria"/>
                <a:cs typeface="Cambria"/>
              </a:rPr>
              <a:t>Organisation</a:t>
            </a:r>
            <a:endParaRPr sz="1850">
              <a:latin typeface="Cambria"/>
              <a:cs typeface="Cambria"/>
            </a:endParaRPr>
          </a:p>
          <a:p>
            <a:pPr marL="12700" marR="694690">
              <a:lnSpc>
                <a:spcPct val="138600"/>
              </a:lnSpc>
              <a:spcBef>
                <a:spcPts val="805"/>
              </a:spcBef>
            </a:pPr>
            <a:r>
              <a:rPr dirty="0" sz="1400" spc="40">
                <a:solidFill>
                  <a:srgbClr val="403B4E"/>
                </a:solidFill>
                <a:latin typeface="Arial MT"/>
                <a:cs typeface="Arial MT"/>
              </a:rPr>
              <a:t>Naviotech Solution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555226" y="4402201"/>
            <a:ext cx="1987550" cy="1406525"/>
            <a:chOff x="9555226" y="4402201"/>
            <a:chExt cx="1987550" cy="1406525"/>
          </a:xfrm>
        </p:grpSpPr>
        <p:sp>
          <p:nvSpPr>
            <p:cNvPr id="17" name="object 17"/>
            <p:cNvSpPr/>
            <p:nvPr/>
          </p:nvSpPr>
          <p:spPr>
            <a:xfrm>
              <a:off x="9558401" y="4405376"/>
              <a:ext cx="1981200" cy="1400175"/>
            </a:xfrm>
            <a:custGeom>
              <a:avLst/>
              <a:gdLst/>
              <a:ahLst/>
              <a:cxnLst/>
              <a:rect l="l" t="t" r="r" b="b"/>
              <a:pathLst>
                <a:path w="1981200" h="1400175">
                  <a:moveTo>
                    <a:pt x="1901952" y="0"/>
                  </a:moveTo>
                  <a:lnTo>
                    <a:pt x="79121" y="0"/>
                  </a:lnTo>
                  <a:lnTo>
                    <a:pt x="48327" y="6219"/>
                  </a:lnTo>
                  <a:lnTo>
                    <a:pt x="23177" y="23177"/>
                  </a:lnTo>
                  <a:lnTo>
                    <a:pt x="6219" y="48327"/>
                  </a:lnTo>
                  <a:lnTo>
                    <a:pt x="0" y="79121"/>
                  </a:lnTo>
                  <a:lnTo>
                    <a:pt x="0" y="1320965"/>
                  </a:lnTo>
                  <a:lnTo>
                    <a:pt x="6219" y="1351773"/>
                  </a:lnTo>
                  <a:lnTo>
                    <a:pt x="23177" y="1376930"/>
                  </a:lnTo>
                  <a:lnTo>
                    <a:pt x="48327" y="1393892"/>
                  </a:lnTo>
                  <a:lnTo>
                    <a:pt x="79121" y="1400111"/>
                  </a:lnTo>
                  <a:lnTo>
                    <a:pt x="1901952" y="1400111"/>
                  </a:lnTo>
                  <a:lnTo>
                    <a:pt x="1932765" y="1393892"/>
                  </a:lnTo>
                  <a:lnTo>
                    <a:pt x="1957958" y="1376930"/>
                  </a:lnTo>
                  <a:lnTo>
                    <a:pt x="1974961" y="1351773"/>
                  </a:lnTo>
                  <a:lnTo>
                    <a:pt x="1981200" y="1320965"/>
                  </a:lnTo>
                  <a:lnTo>
                    <a:pt x="1981200" y="79121"/>
                  </a:lnTo>
                  <a:lnTo>
                    <a:pt x="1974961" y="48327"/>
                  </a:lnTo>
                  <a:lnTo>
                    <a:pt x="1957958" y="23177"/>
                  </a:lnTo>
                  <a:lnTo>
                    <a:pt x="1932765" y="6219"/>
                  </a:lnTo>
                  <a:lnTo>
                    <a:pt x="1901952" y="0"/>
                  </a:lnTo>
                  <a:close/>
                </a:path>
              </a:pathLst>
            </a:custGeom>
            <a:solidFill>
              <a:srgbClr val="FFD7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558401" y="4405376"/>
              <a:ext cx="1981200" cy="1400175"/>
            </a:xfrm>
            <a:custGeom>
              <a:avLst/>
              <a:gdLst/>
              <a:ahLst/>
              <a:cxnLst/>
              <a:rect l="l" t="t" r="r" b="b"/>
              <a:pathLst>
                <a:path w="1981200" h="1400175">
                  <a:moveTo>
                    <a:pt x="0" y="79121"/>
                  </a:moveTo>
                  <a:lnTo>
                    <a:pt x="6219" y="48327"/>
                  </a:lnTo>
                  <a:lnTo>
                    <a:pt x="23177" y="23177"/>
                  </a:lnTo>
                  <a:lnTo>
                    <a:pt x="48327" y="6219"/>
                  </a:lnTo>
                  <a:lnTo>
                    <a:pt x="79121" y="0"/>
                  </a:lnTo>
                  <a:lnTo>
                    <a:pt x="1901952" y="0"/>
                  </a:lnTo>
                  <a:lnTo>
                    <a:pt x="1932765" y="6219"/>
                  </a:lnTo>
                  <a:lnTo>
                    <a:pt x="1957958" y="23177"/>
                  </a:lnTo>
                  <a:lnTo>
                    <a:pt x="1974961" y="48327"/>
                  </a:lnTo>
                  <a:lnTo>
                    <a:pt x="1981200" y="79121"/>
                  </a:lnTo>
                  <a:lnTo>
                    <a:pt x="1981200" y="1320965"/>
                  </a:lnTo>
                  <a:lnTo>
                    <a:pt x="1974961" y="1351773"/>
                  </a:lnTo>
                  <a:lnTo>
                    <a:pt x="1957958" y="1376930"/>
                  </a:lnTo>
                  <a:lnTo>
                    <a:pt x="1932765" y="1393892"/>
                  </a:lnTo>
                  <a:lnTo>
                    <a:pt x="1901952" y="1400111"/>
                  </a:lnTo>
                  <a:lnTo>
                    <a:pt x="79121" y="1400111"/>
                  </a:lnTo>
                  <a:lnTo>
                    <a:pt x="48327" y="1393892"/>
                  </a:lnTo>
                  <a:lnTo>
                    <a:pt x="23177" y="1376930"/>
                  </a:lnTo>
                  <a:lnTo>
                    <a:pt x="6219" y="1351773"/>
                  </a:lnTo>
                  <a:lnTo>
                    <a:pt x="0" y="1320965"/>
                  </a:lnTo>
                  <a:lnTo>
                    <a:pt x="0" y="79121"/>
                  </a:lnTo>
                  <a:close/>
                </a:path>
              </a:pathLst>
            </a:custGeom>
            <a:ln w="6350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747250" y="4570666"/>
            <a:ext cx="558165" cy="7099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35" b="1">
                <a:solidFill>
                  <a:srgbClr val="403B4E"/>
                </a:solidFill>
                <a:latin typeface="Cambria"/>
                <a:cs typeface="Cambria"/>
              </a:rPr>
              <a:t>Year</a:t>
            </a:r>
            <a:endParaRPr sz="1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dirty="0" sz="1400" spc="-20">
                <a:solidFill>
                  <a:srgbClr val="403B4E"/>
                </a:solidFill>
                <a:latin typeface="Arial MT"/>
                <a:cs typeface="Arial MT"/>
              </a:rPr>
              <a:t>2026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049000" y="653415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1143000" y="0"/>
                </a:moveTo>
                <a:lnTo>
                  <a:pt x="0" y="0"/>
                </a:lnTo>
                <a:lnTo>
                  <a:pt x="0" y="323850"/>
                </a:lnTo>
                <a:lnTo>
                  <a:pt x="1143000" y="323850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49000" y="653415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1143000" y="0"/>
                </a:moveTo>
                <a:lnTo>
                  <a:pt x="0" y="0"/>
                </a:lnTo>
                <a:lnTo>
                  <a:pt x="0" y="323850"/>
                </a:lnTo>
                <a:lnTo>
                  <a:pt x="1143000" y="323850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081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155"/>
              <a:t>Output</a:t>
            </a:r>
            <a:r>
              <a:rPr dirty="0" spc="105"/>
              <a:t> </a:t>
            </a:r>
            <a:r>
              <a:rPr dirty="0" spc="195"/>
              <a:t>Screenshots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9287" y="1622117"/>
            <a:ext cx="10380345" cy="61658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Key</a:t>
            </a:r>
            <a:r>
              <a:rPr dirty="0" sz="14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stages</a:t>
            </a:r>
            <a:r>
              <a:rPr dirty="0" sz="1400" spc="-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105">
                <a:solidFill>
                  <a:srgbClr val="403B4E"/>
                </a:solidFill>
                <a:latin typeface="Arial MT"/>
                <a:cs typeface="Arial MT"/>
              </a:rPr>
              <a:t>of</a:t>
            </a:r>
            <a:r>
              <a:rPr dirty="0" sz="140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r>
              <a:rPr dirty="0" sz="14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85">
                <a:solidFill>
                  <a:srgbClr val="403B4E"/>
                </a:solidFill>
                <a:latin typeface="Arial MT"/>
                <a:cs typeface="Arial MT"/>
              </a:rPr>
              <a:t>model</a:t>
            </a: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pipeline</a:t>
            </a:r>
            <a:r>
              <a:rPr dirty="0" sz="140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captured</a:t>
            </a:r>
            <a:r>
              <a:rPr dirty="0" sz="14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as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dashboard</a:t>
            </a:r>
            <a:r>
              <a:rPr dirty="0" sz="14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outputs,</a:t>
            </a:r>
            <a:r>
              <a:rPr dirty="0" sz="14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illustrating</a:t>
            </a:r>
            <a:r>
              <a:rPr dirty="0" sz="1400" spc="-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75">
                <a:solidFill>
                  <a:srgbClr val="403B4E"/>
                </a:solidFill>
                <a:latin typeface="Arial MT"/>
                <a:cs typeface="Arial MT"/>
              </a:rPr>
              <a:t>data</a:t>
            </a:r>
            <a:r>
              <a:rPr dirty="0" sz="140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45">
                <a:solidFill>
                  <a:srgbClr val="403B4E"/>
                </a:solidFill>
                <a:latin typeface="Arial MT"/>
                <a:cs typeface="Arial MT"/>
              </a:rPr>
              <a:t>ingestion,</a:t>
            </a:r>
            <a:r>
              <a:rPr dirty="0" sz="140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45">
                <a:solidFill>
                  <a:srgbClr val="403B4E"/>
                </a:solidFill>
                <a:latin typeface="Arial MT"/>
                <a:cs typeface="Arial MT"/>
              </a:rPr>
              <a:t>preprocessing,</a:t>
            </a:r>
            <a:r>
              <a:rPr dirty="0" sz="1400" spc="-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encoding,</a:t>
            </a:r>
            <a:r>
              <a:rPr dirty="0" sz="140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3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400" spc="85">
                <a:solidFill>
                  <a:srgbClr val="403B4E"/>
                </a:solidFill>
                <a:latin typeface="Arial MT"/>
                <a:cs typeface="Arial MT"/>
              </a:rPr>
              <a:t>model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training.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5" name="object 5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25" y="2486025"/>
            <a:ext cx="1476375" cy="9144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49287" y="3609403"/>
            <a:ext cx="2085975" cy="247396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154940">
              <a:lnSpc>
                <a:spcPct val="104900"/>
              </a:lnSpc>
              <a:spcBef>
                <a:spcPts val="15"/>
              </a:spcBef>
            </a:pPr>
            <a:r>
              <a:rPr dirty="0" sz="1850" spc="65" b="1">
                <a:solidFill>
                  <a:srgbClr val="403B4E"/>
                </a:solidFill>
                <a:latin typeface="Cambria"/>
                <a:cs typeface="Cambria"/>
              </a:rPr>
              <a:t>Dataset</a:t>
            </a:r>
            <a:r>
              <a:rPr dirty="0" sz="1850" spc="4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850" spc="90" b="1">
                <a:solidFill>
                  <a:srgbClr val="403B4E"/>
                </a:solidFill>
                <a:latin typeface="Cambria"/>
                <a:cs typeface="Cambria"/>
              </a:rPr>
              <a:t>Loading </a:t>
            </a:r>
            <a:r>
              <a:rPr dirty="0" sz="1850" spc="55" b="1">
                <a:solidFill>
                  <a:srgbClr val="403B4E"/>
                </a:solidFill>
                <a:latin typeface="Cambria"/>
                <a:cs typeface="Cambria"/>
              </a:rPr>
              <a:t>Output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7700"/>
              </a:lnSpc>
              <a:spcBef>
                <a:spcPts val="819"/>
              </a:spcBef>
            </a:pP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r>
              <a:rPr dirty="0" sz="1400" spc="-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Big </a:t>
            </a:r>
            <a:r>
              <a:rPr dirty="0" sz="1400" spc="114">
                <a:solidFill>
                  <a:srgbClr val="403B4E"/>
                </a:solidFill>
                <a:latin typeface="Arial MT"/>
                <a:cs typeface="Arial MT"/>
              </a:rPr>
              <a:t>Mart</a:t>
            </a:r>
            <a:r>
              <a:rPr dirty="0" sz="1400" spc="-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dataset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403B4E"/>
                </a:solidFill>
                <a:latin typeface="Arial MT"/>
                <a:cs typeface="Arial MT"/>
              </a:rPr>
              <a:t>is 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loaded</a:t>
            </a:r>
            <a:r>
              <a:rPr dirty="0" sz="1400" spc="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80">
                <a:solidFill>
                  <a:srgbClr val="403B4E"/>
                </a:solidFill>
                <a:latin typeface="Arial MT"/>
                <a:cs typeface="Arial MT"/>
              </a:rPr>
              <a:t>into</a:t>
            </a:r>
            <a:r>
              <a:rPr dirty="0" sz="14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a</a:t>
            </a:r>
            <a:r>
              <a:rPr dirty="0" sz="14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structured </a:t>
            </a: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DataFrame,</a:t>
            </a:r>
            <a:r>
              <a:rPr dirty="0" sz="1400" spc="2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40">
                <a:solidFill>
                  <a:srgbClr val="403B4E"/>
                </a:solidFill>
                <a:latin typeface="Arial MT"/>
                <a:cs typeface="Arial MT"/>
              </a:rPr>
              <a:t>displaying </a:t>
            </a:r>
            <a:r>
              <a:rPr dirty="0" sz="1400" spc="85">
                <a:solidFill>
                  <a:srgbClr val="403B4E"/>
                </a:solidFill>
                <a:latin typeface="Arial MT"/>
                <a:cs typeface="Arial MT"/>
              </a:rPr>
              <a:t>product</a:t>
            </a: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40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80">
                <a:solidFill>
                  <a:srgbClr val="403B4E"/>
                </a:solidFill>
                <a:latin typeface="Arial MT"/>
                <a:cs typeface="Arial MT"/>
              </a:rPr>
              <a:t>outlet-</a:t>
            </a:r>
            <a:r>
              <a:rPr dirty="0" sz="1400" spc="-20">
                <a:solidFill>
                  <a:srgbClr val="403B4E"/>
                </a:solidFill>
                <a:latin typeface="Arial MT"/>
                <a:cs typeface="Arial MT"/>
              </a:rPr>
              <a:t>level 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features</a:t>
            </a:r>
            <a:r>
              <a:rPr dirty="0" sz="1400" spc="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across</a:t>
            </a:r>
            <a:r>
              <a:rPr dirty="0" sz="1400" spc="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403B4E"/>
                </a:solidFill>
                <a:latin typeface="Arial MT"/>
                <a:cs typeface="Arial MT"/>
              </a:rPr>
              <a:t>8,523 </a:t>
            </a:r>
            <a:r>
              <a:rPr dirty="0" sz="1400" spc="40">
                <a:solidFill>
                  <a:srgbClr val="403B4E"/>
                </a:solidFill>
                <a:latin typeface="Arial MT"/>
                <a:cs typeface="Arial MT"/>
              </a:rPr>
              <a:t>records.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7" name="object 7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8525" y="2486025"/>
            <a:ext cx="1476375" cy="9144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427729" y="3609403"/>
            <a:ext cx="2428240" cy="218821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616585">
              <a:lnSpc>
                <a:spcPct val="104900"/>
              </a:lnSpc>
              <a:spcBef>
                <a:spcPts val="15"/>
              </a:spcBef>
            </a:pPr>
            <a:r>
              <a:rPr dirty="0" sz="1850" spc="140" b="1">
                <a:solidFill>
                  <a:srgbClr val="403B4E"/>
                </a:solidFill>
                <a:latin typeface="Cambria"/>
                <a:cs typeface="Cambria"/>
              </a:rPr>
              <a:t>Missing</a:t>
            </a:r>
            <a:r>
              <a:rPr dirty="0" sz="1850" spc="-1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850" spc="60" b="1">
                <a:solidFill>
                  <a:srgbClr val="403B4E"/>
                </a:solidFill>
                <a:latin typeface="Cambria"/>
                <a:cs typeface="Cambria"/>
              </a:rPr>
              <a:t>Values </a:t>
            </a:r>
            <a:r>
              <a:rPr dirty="0" sz="1850" spc="55" b="1">
                <a:solidFill>
                  <a:srgbClr val="403B4E"/>
                </a:solidFill>
                <a:latin typeface="Cambria"/>
                <a:cs typeface="Cambria"/>
              </a:rPr>
              <a:t>Output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8600"/>
              </a:lnSpc>
              <a:spcBef>
                <a:spcPts val="805"/>
              </a:spcBef>
            </a:pP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Null</a:t>
            </a:r>
            <a:r>
              <a:rPr dirty="0" sz="1400" spc="1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value</a:t>
            </a:r>
            <a:r>
              <a:rPr dirty="0" sz="1400" spc="1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analysis</a:t>
            </a:r>
            <a:r>
              <a:rPr dirty="0" sz="1400" spc="1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45">
                <a:solidFill>
                  <a:srgbClr val="403B4E"/>
                </a:solidFill>
                <a:latin typeface="Arial MT"/>
                <a:cs typeface="Arial MT"/>
              </a:rPr>
              <a:t>identifies </a:t>
            </a: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gaps</a:t>
            </a:r>
            <a:r>
              <a:rPr dirty="0" sz="1400" spc="2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in</a:t>
            </a:r>
            <a:r>
              <a:rPr dirty="0" sz="1400" spc="1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Item_Weight</a:t>
            </a:r>
            <a:r>
              <a:rPr dirty="0" sz="1400" spc="15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and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Outlet_Size,</a:t>
            </a:r>
            <a:r>
              <a:rPr dirty="0" sz="1400" spc="10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guiding</a:t>
            </a:r>
            <a:r>
              <a:rPr dirty="0" sz="140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the </a:t>
            </a:r>
            <a:r>
              <a:rPr dirty="0" sz="1400" spc="95">
                <a:solidFill>
                  <a:srgbClr val="403B4E"/>
                </a:solidFill>
                <a:latin typeface="Arial MT"/>
                <a:cs typeface="Arial MT"/>
              </a:rPr>
              <a:t>imputation</a:t>
            </a:r>
            <a:r>
              <a:rPr dirty="0" sz="1400" spc="-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strategy</a:t>
            </a:r>
            <a:r>
              <a:rPr dirty="0" sz="140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95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35">
                <a:solidFill>
                  <a:srgbClr val="403B4E"/>
                </a:solidFill>
                <a:latin typeface="Arial MT"/>
                <a:cs typeface="Arial MT"/>
              </a:rPr>
              <a:t>data </a:t>
            </a:r>
            <a:r>
              <a:rPr dirty="0" sz="1400" spc="40">
                <a:solidFill>
                  <a:srgbClr val="403B4E"/>
                </a:solidFill>
                <a:latin typeface="Arial MT"/>
                <a:cs typeface="Arial MT"/>
              </a:rPr>
              <a:t>integrity.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9" name="object 9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10300" y="2486025"/>
            <a:ext cx="1476375" cy="9144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205854" y="3609403"/>
            <a:ext cx="2549525" cy="218821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709930">
              <a:lnSpc>
                <a:spcPct val="104900"/>
              </a:lnSpc>
              <a:spcBef>
                <a:spcPts val="15"/>
              </a:spcBef>
            </a:pPr>
            <a:r>
              <a:rPr dirty="0" sz="1850" spc="55" b="1">
                <a:solidFill>
                  <a:srgbClr val="403B4E"/>
                </a:solidFill>
                <a:latin typeface="Cambria"/>
                <a:cs typeface="Cambria"/>
              </a:rPr>
              <a:t>Label</a:t>
            </a:r>
            <a:r>
              <a:rPr dirty="0" sz="1850" spc="9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850" spc="100" b="1">
                <a:solidFill>
                  <a:srgbClr val="403B4E"/>
                </a:solidFill>
                <a:latin typeface="Cambria"/>
                <a:cs typeface="Cambria"/>
              </a:rPr>
              <a:t>Encoding </a:t>
            </a:r>
            <a:r>
              <a:rPr dirty="0" sz="1850" spc="60" b="1">
                <a:solidFill>
                  <a:srgbClr val="403B4E"/>
                </a:solidFill>
                <a:latin typeface="Cambria"/>
                <a:cs typeface="Cambria"/>
              </a:rPr>
              <a:t>Output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8600"/>
              </a:lnSpc>
              <a:spcBef>
                <a:spcPts val="805"/>
              </a:spcBef>
            </a:pP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Categorical</a:t>
            </a:r>
            <a:r>
              <a:rPr dirty="0" sz="1400" spc="2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variables</a:t>
            </a:r>
            <a:r>
              <a:rPr dirty="0" sz="1400" spc="2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such</a:t>
            </a:r>
            <a:r>
              <a:rPr dirty="0" sz="1400" spc="2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403B4E"/>
                </a:solidFill>
                <a:latin typeface="Arial MT"/>
                <a:cs typeface="Arial MT"/>
              </a:rPr>
              <a:t>as </a:t>
            </a:r>
            <a:r>
              <a:rPr dirty="0" sz="1400" spc="20">
                <a:solidFill>
                  <a:srgbClr val="403B4E"/>
                </a:solidFill>
                <a:latin typeface="Arial MT"/>
                <a:cs typeface="Arial MT"/>
              </a:rPr>
              <a:t>Item_Fat_Content</a:t>
            </a:r>
            <a:r>
              <a:rPr dirty="0" sz="1400" spc="29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and </a:t>
            </a: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Outlet_Type</a:t>
            </a:r>
            <a:r>
              <a:rPr dirty="0" sz="140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are</a:t>
            </a:r>
            <a:r>
              <a:rPr dirty="0" sz="1400" spc="1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encoded</a:t>
            </a:r>
            <a:r>
              <a:rPr dirty="0" sz="1400" spc="1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into 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numerical</a:t>
            </a:r>
            <a:r>
              <a:rPr dirty="0" sz="1400" spc="9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labels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120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80">
                <a:solidFill>
                  <a:srgbClr val="403B4E"/>
                </a:solidFill>
                <a:latin typeface="Arial MT"/>
                <a:cs typeface="Arial MT"/>
              </a:rPr>
              <a:t>model 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compatibility.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1" name="object 11" descr="preencoded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91600" y="2486025"/>
            <a:ext cx="1476375" cy="9144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984233" y="3609403"/>
            <a:ext cx="2414905" cy="247396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47370">
              <a:lnSpc>
                <a:spcPct val="104900"/>
              </a:lnSpc>
              <a:spcBef>
                <a:spcPts val="15"/>
              </a:spcBef>
            </a:pPr>
            <a:r>
              <a:rPr dirty="0" sz="1850" spc="114" b="1">
                <a:solidFill>
                  <a:srgbClr val="403B4E"/>
                </a:solidFill>
                <a:latin typeface="Cambria"/>
                <a:cs typeface="Cambria"/>
              </a:rPr>
              <a:t>Model</a:t>
            </a:r>
            <a:r>
              <a:rPr dirty="0" sz="1850" spc="5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850" spc="85" b="1">
                <a:solidFill>
                  <a:srgbClr val="403B4E"/>
                </a:solidFill>
                <a:latin typeface="Cambria"/>
                <a:cs typeface="Cambria"/>
              </a:rPr>
              <a:t>Training </a:t>
            </a:r>
            <a:r>
              <a:rPr dirty="0" sz="1850" spc="60" b="1">
                <a:solidFill>
                  <a:srgbClr val="403B4E"/>
                </a:solidFill>
                <a:latin typeface="Cambria"/>
                <a:cs typeface="Cambria"/>
              </a:rPr>
              <a:t>Output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37700"/>
              </a:lnSpc>
              <a:spcBef>
                <a:spcPts val="819"/>
              </a:spcBef>
            </a:pP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r>
              <a:rPr dirty="0" sz="140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XGBoost</a:t>
            </a:r>
            <a:r>
              <a:rPr dirty="0" sz="1400" spc="18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Regressor</a:t>
            </a:r>
            <a:r>
              <a:rPr dirty="0" sz="1400" spc="1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403B4E"/>
                </a:solidFill>
                <a:latin typeface="Arial MT"/>
                <a:cs typeface="Arial MT"/>
              </a:rPr>
              <a:t>is </a:t>
            </a:r>
            <a:r>
              <a:rPr dirty="0" sz="1400" spc="80">
                <a:solidFill>
                  <a:srgbClr val="403B4E"/>
                </a:solidFill>
                <a:latin typeface="Arial MT"/>
                <a:cs typeface="Arial MT"/>
              </a:rPr>
              <a:t>trained</a:t>
            </a:r>
            <a:r>
              <a:rPr dirty="0" sz="1400" spc="-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110">
                <a:solidFill>
                  <a:srgbClr val="403B4E"/>
                </a:solidFill>
                <a:latin typeface="Arial MT"/>
                <a:cs typeface="Arial MT"/>
              </a:rPr>
              <a:t>on</a:t>
            </a: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403B4E"/>
                </a:solidFill>
                <a:latin typeface="Arial MT"/>
                <a:cs typeface="Arial MT"/>
              </a:rPr>
              <a:t>processed </a:t>
            </a:r>
            <a:r>
              <a:rPr dirty="0" sz="1400" spc="45">
                <a:solidFill>
                  <a:srgbClr val="403B4E"/>
                </a:solidFill>
                <a:latin typeface="Arial MT"/>
                <a:cs typeface="Arial MT"/>
              </a:rPr>
              <a:t>features,</a:t>
            </a:r>
            <a:r>
              <a:rPr dirty="0" sz="140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100">
                <a:solidFill>
                  <a:srgbClr val="403B4E"/>
                </a:solidFill>
                <a:latin typeface="Arial MT"/>
                <a:cs typeface="Arial MT"/>
              </a:rPr>
              <a:t>with</a:t>
            </a:r>
            <a:r>
              <a:rPr dirty="0" sz="1400" spc="-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iterative 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boosting</a:t>
            </a:r>
            <a:r>
              <a:rPr dirty="0" sz="1400" spc="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rounds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40">
                <a:solidFill>
                  <a:srgbClr val="403B4E"/>
                </a:solidFill>
                <a:latin typeface="Arial MT"/>
                <a:cs typeface="Arial MT"/>
              </a:rPr>
              <a:t>converging 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towards</a:t>
            </a:r>
            <a:r>
              <a:rPr dirty="0" sz="1400" spc="-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80">
                <a:solidFill>
                  <a:srgbClr val="403B4E"/>
                </a:solidFill>
                <a:latin typeface="Arial MT"/>
                <a:cs typeface="Arial MT"/>
              </a:rPr>
              <a:t>optimal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performance.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49000" y="653415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1143000" y="0"/>
                </a:moveTo>
                <a:lnTo>
                  <a:pt x="0" y="0"/>
                </a:lnTo>
                <a:lnTo>
                  <a:pt x="0" y="323850"/>
                </a:lnTo>
                <a:lnTo>
                  <a:pt x="1143000" y="323850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9287" y="655256"/>
            <a:ext cx="4935220" cy="426084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155"/>
              <a:t>Model</a:t>
            </a:r>
            <a:r>
              <a:rPr dirty="0" sz="2600" spc="45"/>
              <a:t> </a:t>
            </a:r>
            <a:r>
              <a:rPr dirty="0" sz="2600" spc="120"/>
              <a:t>Performance</a:t>
            </a:r>
            <a:r>
              <a:rPr dirty="0" sz="2600" spc="15"/>
              <a:t> </a:t>
            </a:r>
            <a:r>
              <a:rPr dirty="0" sz="2600" spc="75"/>
              <a:t>&amp;</a:t>
            </a:r>
            <a:r>
              <a:rPr dirty="0" sz="2600" spc="70"/>
              <a:t> </a:t>
            </a:r>
            <a:r>
              <a:rPr dirty="0" sz="2600" spc="100"/>
              <a:t>Results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649287" y="1292542"/>
            <a:ext cx="798575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r>
              <a:rPr dirty="0" sz="950" spc="9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403B4E"/>
                </a:solidFill>
                <a:latin typeface="Arial MT"/>
                <a:cs typeface="Arial MT"/>
              </a:rPr>
              <a:t>XGBoost</a:t>
            </a:r>
            <a:r>
              <a:rPr dirty="0" sz="95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403B4E"/>
                </a:solidFill>
                <a:latin typeface="Arial MT"/>
                <a:cs typeface="Arial MT"/>
              </a:rPr>
              <a:t>Regressor</a:t>
            </a:r>
            <a:r>
              <a:rPr dirty="0" sz="950" spc="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403B4E"/>
                </a:solidFill>
                <a:latin typeface="Arial MT"/>
                <a:cs typeface="Arial MT"/>
              </a:rPr>
              <a:t>was</a:t>
            </a:r>
            <a:r>
              <a:rPr dirty="0" sz="950" spc="10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45">
                <a:solidFill>
                  <a:srgbClr val="403B4E"/>
                </a:solidFill>
                <a:latin typeface="Arial MT"/>
                <a:cs typeface="Arial MT"/>
              </a:rPr>
              <a:t>evaluated</a:t>
            </a:r>
            <a:r>
              <a:rPr dirty="0" sz="95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70">
                <a:solidFill>
                  <a:srgbClr val="403B4E"/>
                </a:solidFill>
                <a:latin typeface="Arial MT"/>
                <a:cs typeface="Arial MT"/>
              </a:rPr>
              <a:t>on</a:t>
            </a:r>
            <a:r>
              <a:rPr dirty="0" sz="950" spc="1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80">
                <a:solidFill>
                  <a:srgbClr val="403B4E"/>
                </a:solidFill>
                <a:latin typeface="Arial MT"/>
                <a:cs typeface="Arial MT"/>
              </a:rPr>
              <a:t>both</a:t>
            </a:r>
            <a:r>
              <a:rPr dirty="0" sz="950" spc="1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50">
                <a:solidFill>
                  <a:srgbClr val="403B4E"/>
                </a:solidFill>
                <a:latin typeface="Arial MT"/>
                <a:cs typeface="Arial MT"/>
              </a:rPr>
              <a:t>training</a:t>
            </a:r>
            <a:r>
              <a:rPr dirty="0" sz="950" spc="1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950" spc="1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50">
                <a:solidFill>
                  <a:srgbClr val="403B4E"/>
                </a:solidFill>
                <a:latin typeface="Arial MT"/>
                <a:cs typeface="Arial MT"/>
              </a:rPr>
              <a:t>testing</a:t>
            </a:r>
            <a:r>
              <a:rPr dirty="0" sz="950" spc="1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403B4E"/>
                </a:solidFill>
                <a:latin typeface="Arial MT"/>
                <a:cs typeface="Arial MT"/>
              </a:rPr>
              <a:t>datasets</a:t>
            </a:r>
            <a:r>
              <a:rPr dirty="0" sz="950" spc="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80">
                <a:solidFill>
                  <a:srgbClr val="403B4E"/>
                </a:solidFill>
                <a:latin typeface="Arial MT"/>
                <a:cs typeface="Arial MT"/>
              </a:rPr>
              <a:t>to</a:t>
            </a:r>
            <a:r>
              <a:rPr dirty="0" sz="950" spc="1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403B4E"/>
                </a:solidFill>
                <a:latin typeface="Arial MT"/>
                <a:cs typeface="Arial MT"/>
              </a:rPr>
              <a:t>assess</a:t>
            </a:r>
            <a:r>
              <a:rPr dirty="0" sz="950" spc="10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45">
                <a:solidFill>
                  <a:srgbClr val="403B4E"/>
                </a:solidFill>
                <a:latin typeface="Arial MT"/>
                <a:cs typeface="Arial MT"/>
              </a:rPr>
              <a:t>generalisation</a:t>
            </a:r>
            <a:r>
              <a:rPr dirty="0" sz="950" spc="1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403B4E"/>
                </a:solidFill>
                <a:latin typeface="Arial MT"/>
                <a:cs typeface="Arial MT"/>
              </a:rPr>
              <a:t>capability</a:t>
            </a:r>
            <a:r>
              <a:rPr dirty="0" sz="95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950" spc="1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50">
                <a:solidFill>
                  <a:srgbClr val="403B4E"/>
                </a:solidFill>
                <a:latin typeface="Arial MT"/>
                <a:cs typeface="Arial MT"/>
              </a:rPr>
              <a:t>predictive</a:t>
            </a:r>
            <a:r>
              <a:rPr dirty="0" sz="950" spc="18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403B4E"/>
                </a:solidFill>
                <a:latin typeface="Arial MT"/>
                <a:cs typeface="Arial MT"/>
              </a:rPr>
              <a:t>accuracy.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2750" y="2342768"/>
            <a:ext cx="79502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100" b="1">
                <a:solidFill>
                  <a:srgbClr val="403B4E"/>
                </a:solidFill>
                <a:latin typeface="Cambria"/>
                <a:cs typeface="Cambria"/>
              </a:rPr>
              <a:t>88%</a:t>
            </a:r>
            <a:endParaRPr sz="2600">
              <a:latin typeface="Cambria"/>
              <a:cs typeface="Cambria"/>
            </a:endParaRPr>
          </a:p>
        </p:txBody>
      </p:sp>
      <p:pic>
        <p:nvPicPr>
          <p:cNvPr id="6" name="object 6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2675" y="1609725"/>
            <a:ext cx="1990725" cy="199072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603119" y="3590583"/>
            <a:ext cx="1494155" cy="570230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25"/>
              </a:spcBef>
            </a:pPr>
            <a:r>
              <a:rPr dirty="0" sz="1250" spc="90" b="1">
                <a:solidFill>
                  <a:srgbClr val="403B4E"/>
                </a:solidFill>
                <a:latin typeface="Cambria"/>
                <a:cs typeface="Cambria"/>
              </a:rPr>
              <a:t>Training</a:t>
            </a:r>
            <a:r>
              <a:rPr dirty="0" sz="1250" spc="55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250" spc="114" b="1">
                <a:solidFill>
                  <a:srgbClr val="403B4E"/>
                </a:solidFill>
                <a:latin typeface="Cambria"/>
                <a:cs typeface="Cambria"/>
              </a:rPr>
              <a:t>R²</a:t>
            </a:r>
            <a:r>
              <a:rPr dirty="0" sz="1250" spc="55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250" spc="60" b="1">
                <a:solidFill>
                  <a:srgbClr val="403B4E"/>
                </a:solidFill>
                <a:latin typeface="Cambria"/>
                <a:cs typeface="Cambria"/>
              </a:rPr>
              <a:t>Score</a:t>
            </a:r>
            <a:endParaRPr sz="12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dirty="0" sz="950" spc="-10">
                <a:solidFill>
                  <a:srgbClr val="403B4E"/>
                </a:solidFill>
                <a:latin typeface="Arial MT"/>
                <a:cs typeface="Arial MT"/>
              </a:rPr>
              <a:t>0.8762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50580" y="2342768"/>
            <a:ext cx="800735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130" b="1">
                <a:solidFill>
                  <a:srgbClr val="403B4E"/>
                </a:solidFill>
                <a:latin typeface="Cambria"/>
                <a:cs typeface="Cambria"/>
              </a:rPr>
              <a:t>50%</a:t>
            </a:r>
            <a:endParaRPr sz="2600">
              <a:latin typeface="Cambria"/>
              <a:cs typeface="Cambria"/>
            </a:endParaRPr>
          </a:p>
        </p:txBody>
      </p:sp>
      <p:pic>
        <p:nvPicPr>
          <p:cNvPr id="9" name="object 9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48600" y="1609725"/>
            <a:ext cx="1981200" cy="199072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148955" y="3590583"/>
            <a:ext cx="1398905" cy="570230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25"/>
              </a:spcBef>
            </a:pPr>
            <a:r>
              <a:rPr dirty="0" sz="1250" spc="95" b="1">
                <a:solidFill>
                  <a:srgbClr val="403B4E"/>
                </a:solidFill>
                <a:latin typeface="Cambria"/>
                <a:cs typeface="Cambria"/>
              </a:rPr>
              <a:t>Testing</a:t>
            </a:r>
            <a:r>
              <a:rPr dirty="0" sz="1250" spc="6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250" spc="75" b="1">
                <a:solidFill>
                  <a:srgbClr val="403B4E"/>
                </a:solidFill>
                <a:latin typeface="Cambria"/>
                <a:cs typeface="Cambria"/>
              </a:rPr>
              <a:t>R²</a:t>
            </a:r>
            <a:r>
              <a:rPr dirty="0" sz="1250" spc="6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250" spc="65" b="1">
                <a:solidFill>
                  <a:srgbClr val="403B4E"/>
                </a:solidFill>
                <a:latin typeface="Cambria"/>
                <a:cs typeface="Cambria"/>
              </a:rPr>
              <a:t>Score</a:t>
            </a:r>
            <a:endParaRPr sz="12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dirty="0" sz="950" spc="-10">
                <a:solidFill>
                  <a:srgbClr val="403B4E"/>
                </a:solidFill>
                <a:latin typeface="Arial MT"/>
                <a:cs typeface="Arial MT"/>
              </a:rPr>
              <a:t>0.5017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7225" y="4267200"/>
            <a:ext cx="10877550" cy="866775"/>
            <a:chOff x="657225" y="4267200"/>
            <a:chExt cx="10877550" cy="866775"/>
          </a:xfrm>
        </p:grpSpPr>
        <p:sp>
          <p:nvSpPr>
            <p:cNvPr id="12" name="object 12"/>
            <p:cNvSpPr/>
            <p:nvPr/>
          </p:nvSpPr>
          <p:spPr>
            <a:xfrm>
              <a:off x="657225" y="4267200"/>
              <a:ext cx="10877550" cy="866775"/>
            </a:xfrm>
            <a:custGeom>
              <a:avLst/>
              <a:gdLst/>
              <a:ahLst/>
              <a:cxnLst/>
              <a:rect l="l" t="t" r="r" b="b"/>
              <a:pathLst>
                <a:path w="10877550" h="866775">
                  <a:moveTo>
                    <a:pt x="10821924" y="0"/>
                  </a:moveTo>
                  <a:lnTo>
                    <a:pt x="55664" y="0"/>
                  </a:lnTo>
                  <a:lnTo>
                    <a:pt x="33995" y="4369"/>
                  </a:lnTo>
                  <a:lnTo>
                    <a:pt x="16302" y="16287"/>
                  </a:lnTo>
                  <a:lnTo>
                    <a:pt x="4373" y="33968"/>
                  </a:lnTo>
                  <a:lnTo>
                    <a:pt x="0" y="55625"/>
                  </a:lnTo>
                  <a:lnTo>
                    <a:pt x="0" y="811149"/>
                  </a:lnTo>
                  <a:lnTo>
                    <a:pt x="4373" y="832806"/>
                  </a:lnTo>
                  <a:lnTo>
                    <a:pt x="16302" y="850487"/>
                  </a:lnTo>
                  <a:lnTo>
                    <a:pt x="33995" y="862405"/>
                  </a:lnTo>
                  <a:lnTo>
                    <a:pt x="55664" y="866775"/>
                  </a:lnTo>
                  <a:lnTo>
                    <a:pt x="10821924" y="866775"/>
                  </a:lnTo>
                  <a:lnTo>
                    <a:pt x="10843581" y="862405"/>
                  </a:lnTo>
                  <a:lnTo>
                    <a:pt x="10861262" y="850487"/>
                  </a:lnTo>
                  <a:lnTo>
                    <a:pt x="10873180" y="832806"/>
                  </a:lnTo>
                  <a:lnTo>
                    <a:pt x="10877550" y="811149"/>
                  </a:lnTo>
                  <a:lnTo>
                    <a:pt x="10877550" y="55625"/>
                  </a:lnTo>
                  <a:lnTo>
                    <a:pt x="10873180" y="33968"/>
                  </a:lnTo>
                  <a:lnTo>
                    <a:pt x="10861262" y="16287"/>
                  </a:lnTo>
                  <a:lnTo>
                    <a:pt x="10843581" y="4369"/>
                  </a:lnTo>
                  <a:lnTo>
                    <a:pt x="10821924" y="0"/>
                  </a:lnTo>
                  <a:close/>
                </a:path>
              </a:pathLst>
            </a:custGeom>
            <a:solidFill>
              <a:srgbClr val="FFD7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0575" y="4448175"/>
              <a:ext cx="171450" cy="13335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079500" y="4373312"/>
            <a:ext cx="10005695" cy="369570"/>
          </a:xfrm>
          <a:prstGeom prst="rect">
            <a:avLst/>
          </a:prstGeom>
        </p:spPr>
        <p:txBody>
          <a:bodyPr wrap="square" lIns="0" tIns="39369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309"/>
              </a:spcBef>
            </a:pP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85">
                <a:latin typeface="Arial MT"/>
                <a:cs typeface="Arial MT"/>
              </a:rPr>
              <a:t> </a:t>
            </a:r>
            <a:r>
              <a:rPr dirty="0" sz="950" spc="70">
                <a:latin typeface="Arial MT"/>
                <a:cs typeface="Arial MT"/>
              </a:rPr>
              <a:t>model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achieves</a:t>
            </a:r>
            <a:r>
              <a:rPr dirty="0" sz="950" spc="9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</a:t>
            </a:r>
            <a:r>
              <a:rPr dirty="0" sz="950" spc="95">
                <a:latin typeface="Arial MT"/>
                <a:cs typeface="Arial MT"/>
              </a:rPr>
              <a:t> </a:t>
            </a:r>
            <a:r>
              <a:rPr dirty="0" sz="950" spc="55">
                <a:latin typeface="Arial MT"/>
                <a:cs typeface="Arial MT"/>
              </a:rPr>
              <a:t>strong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spc="55">
                <a:latin typeface="Arial MT"/>
                <a:cs typeface="Arial MT"/>
              </a:rPr>
              <a:t>training</a:t>
            </a:r>
            <a:r>
              <a:rPr dirty="0" sz="950" spc="10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R²</a:t>
            </a:r>
            <a:r>
              <a:rPr dirty="0" sz="950" spc="6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score</a:t>
            </a:r>
            <a:r>
              <a:rPr dirty="0" sz="950" spc="90">
                <a:latin typeface="Arial MT"/>
                <a:cs typeface="Arial MT"/>
              </a:rPr>
              <a:t> </a:t>
            </a:r>
            <a:r>
              <a:rPr dirty="0" sz="950" spc="65">
                <a:latin typeface="Arial MT"/>
                <a:cs typeface="Arial MT"/>
              </a:rPr>
              <a:t>of</a:t>
            </a:r>
            <a:r>
              <a:rPr dirty="0" sz="950" spc="135">
                <a:latin typeface="Arial MT"/>
                <a:cs typeface="Arial MT"/>
              </a:rPr>
              <a:t> </a:t>
            </a:r>
            <a:r>
              <a:rPr dirty="0" sz="950" spc="-50">
                <a:solidFill>
                  <a:srgbClr val="FFAC93"/>
                </a:solidFill>
                <a:latin typeface="Arial Black"/>
                <a:cs typeface="Arial Black"/>
              </a:rPr>
              <a:t>0.8762</a:t>
            </a:r>
            <a:r>
              <a:rPr dirty="0" sz="950" spc="-50">
                <a:latin typeface="Arial MT"/>
                <a:cs typeface="Arial MT"/>
              </a:rPr>
              <a:t>,</a:t>
            </a:r>
            <a:r>
              <a:rPr dirty="0" sz="950" spc="100">
                <a:latin typeface="Arial MT"/>
                <a:cs typeface="Arial MT"/>
              </a:rPr>
              <a:t> </a:t>
            </a:r>
            <a:r>
              <a:rPr dirty="0" sz="950" spc="45">
                <a:latin typeface="Arial MT"/>
                <a:cs typeface="Arial MT"/>
              </a:rPr>
              <a:t>indicating</a:t>
            </a:r>
            <a:r>
              <a:rPr dirty="0" sz="950" spc="10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it</a:t>
            </a:r>
            <a:r>
              <a:rPr dirty="0" sz="950" spc="65">
                <a:latin typeface="Arial MT"/>
                <a:cs typeface="Arial MT"/>
              </a:rPr>
              <a:t> </a:t>
            </a:r>
            <a:r>
              <a:rPr dirty="0" sz="950" spc="45">
                <a:latin typeface="Arial MT"/>
                <a:cs typeface="Arial MT"/>
              </a:rPr>
              <a:t>learned</a:t>
            </a:r>
            <a:r>
              <a:rPr dirty="0" sz="950" spc="114">
                <a:latin typeface="Arial MT"/>
                <a:cs typeface="Arial MT"/>
              </a:rPr>
              <a:t> </a:t>
            </a:r>
            <a:r>
              <a:rPr dirty="0" sz="950" spc="65">
                <a:latin typeface="Arial MT"/>
                <a:cs typeface="Arial MT"/>
              </a:rPr>
              <a:t>the</a:t>
            </a:r>
            <a:r>
              <a:rPr dirty="0" sz="950" spc="90">
                <a:latin typeface="Arial MT"/>
                <a:cs typeface="Arial MT"/>
              </a:rPr>
              <a:t> </a:t>
            </a:r>
            <a:r>
              <a:rPr dirty="0" sz="950" spc="50">
                <a:latin typeface="Arial MT"/>
                <a:cs typeface="Arial MT"/>
              </a:rPr>
              <a:t>training</a:t>
            </a:r>
            <a:r>
              <a:rPr dirty="0" sz="950" spc="100">
                <a:latin typeface="Arial MT"/>
                <a:cs typeface="Arial MT"/>
              </a:rPr>
              <a:t> </a:t>
            </a:r>
            <a:r>
              <a:rPr dirty="0" sz="950" spc="55">
                <a:latin typeface="Arial MT"/>
                <a:cs typeface="Arial MT"/>
              </a:rPr>
              <a:t>patterns</a:t>
            </a:r>
            <a:r>
              <a:rPr dirty="0" sz="950" spc="9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well.</a:t>
            </a:r>
            <a:r>
              <a:rPr dirty="0" sz="950" spc="6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90">
                <a:latin typeface="Arial MT"/>
                <a:cs typeface="Arial MT"/>
              </a:rPr>
              <a:t> </a:t>
            </a:r>
            <a:r>
              <a:rPr dirty="0" sz="950" spc="50">
                <a:latin typeface="Arial MT"/>
                <a:cs typeface="Arial MT"/>
              </a:rPr>
              <a:t>testing</a:t>
            </a:r>
            <a:r>
              <a:rPr dirty="0" sz="950" spc="10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R²</a:t>
            </a:r>
            <a:r>
              <a:rPr dirty="0" sz="950" spc="6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score</a:t>
            </a:r>
            <a:r>
              <a:rPr dirty="0" sz="950" spc="90">
                <a:latin typeface="Arial MT"/>
                <a:cs typeface="Arial MT"/>
              </a:rPr>
              <a:t> </a:t>
            </a:r>
            <a:r>
              <a:rPr dirty="0" sz="950" spc="65">
                <a:latin typeface="Arial MT"/>
                <a:cs typeface="Arial MT"/>
              </a:rPr>
              <a:t>of</a:t>
            </a:r>
            <a:r>
              <a:rPr dirty="0" sz="950" spc="145">
                <a:latin typeface="Arial MT"/>
                <a:cs typeface="Arial MT"/>
              </a:rPr>
              <a:t> </a:t>
            </a:r>
            <a:r>
              <a:rPr dirty="0" sz="950" spc="-65">
                <a:solidFill>
                  <a:srgbClr val="FFAC93"/>
                </a:solidFill>
                <a:latin typeface="Arial Black"/>
                <a:cs typeface="Arial Black"/>
              </a:rPr>
              <a:t>0.5017</a:t>
            </a:r>
            <a:r>
              <a:rPr dirty="0" sz="950" spc="-5">
                <a:solidFill>
                  <a:srgbClr val="FFAC93"/>
                </a:solidFill>
                <a:latin typeface="Arial Black"/>
                <a:cs typeface="Arial Black"/>
              </a:rPr>
              <a:t> </a:t>
            </a:r>
            <a:r>
              <a:rPr dirty="0" sz="950">
                <a:latin typeface="Arial MT"/>
                <a:cs typeface="Arial MT"/>
              </a:rPr>
              <a:t>reflects</a:t>
            </a:r>
            <a:r>
              <a:rPr dirty="0" sz="950" spc="95">
                <a:latin typeface="Arial MT"/>
                <a:cs typeface="Arial MT"/>
              </a:rPr>
              <a:t> </a:t>
            </a:r>
            <a:r>
              <a:rPr dirty="0" sz="950" spc="70">
                <a:latin typeface="Arial MT"/>
                <a:cs typeface="Arial MT"/>
              </a:rPr>
              <a:t>moderate</a:t>
            </a:r>
            <a:r>
              <a:rPr dirty="0" sz="950" spc="8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generalisation</a:t>
            </a:r>
            <a:r>
              <a:rPr dirty="0" sz="950" spc="120">
                <a:latin typeface="Arial MT"/>
                <a:cs typeface="Arial MT"/>
              </a:rPr>
              <a:t> </a:t>
            </a:r>
            <a:r>
              <a:rPr dirty="0" sz="950" spc="55">
                <a:latin typeface="Arial MT"/>
                <a:cs typeface="Arial MT"/>
              </a:rPr>
              <a:t>to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950" spc="50">
                <a:latin typeface="Arial MT"/>
                <a:cs typeface="Arial MT"/>
              </a:rPr>
              <a:t>unseen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data.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7225" y="5238750"/>
            <a:ext cx="5391150" cy="923925"/>
          </a:xfrm>
          <a:custGeom>
            <a:avLst/>
            <a:gdLst/>
            <a:ahLst/>
            <a:cxnLst/>
            <a:rect l="l" t="t" r="r" b="b"/>
            <a:pathLst>
              <a:path w="5391150" h="923925">
                <a:moveTo>
                  <a:pt x="0" y="55499"/>
                </a:moveTo>
                <a:lnTo>
                  <a:pt x="4362" y="33914"/>
                </a:lnTo>
                <a:lnTo>
                  <a:pt x="16260" y="16271"/>
                </a:lnTo>
                <a:lnTo>
                  <a:pt x="33909" y="4367"/>
                </a:lnTo>
                <a:lnTo>
                  <a:pt x="55524" y="0"/>
                </a:lnTo>
                <a:lnTo>
                  <a:pt x="5335651" y="0"/>
                </a:lnTo>
                <a:lnTo>
                  <a:pt x="5357235" y="4367"/>
                </a:lnTo>
                <a:lnTo>
                  <a:pt x="5374878" y="16271"/>
                </a:lnTo>
                <a:lnTo>
                  <a:pt x="5386782" y="33914"/>
                </a:lnTo>
                <a:lnTo>
                  <a:pt x="5391150" y="55499"/>
                </a:lnTo>
                <a:lnTo>
                  <a:pt x="5391150" y="868400"/>
                </a:lnTo>
                <a:lnTo>
                  <a:pt x="5386782" y="890015"/>
                </a:lnTo>
                <a:lnTo>
                  <a:pt x="5374878" y="907664"/>
                </a:lnTo>
                <a:lnTo>
                  <a:pt x="5357235" y="919562"/>
                </a:lnTo>
                <a:lnTo>
                  <a:pt x="5335651" y="923925"/>
                </a:lnTo>
                <a:lnTo>
                  <a:pt x="55524" y="923925"/>
                </a:lnTo>
                <a:lnTo>
                  <a:pt x="33909" y="919562"/>
                </a:lnTo>
                <a:lnTo>
                  <a:pt x="16260" y="907664"/>
                </a:lnTo>
                <a:lnTo>
                  <a:pt x="4362" y="890015"/>
                </a:lnTo>
                <a:lnTo>
                  <a:pt x="0" y="868400"/>
                </a:lnTo>
                <a:lnTo>
                  <a:pt x="0" y="55499"/>
                </a:lnTo>
                <a:close/>
              </a:path>
            </a:pathLst>
          </a:custGeom>
          <a:ln w="19050">
            <a:solidFill>
              <a:srgbClr val="E4BDB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00734" y="5260247"/>
            <a:ext cx="4987925" cy="570230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250" spc="90" b="1">
                <a:solidFill>
                  <a:srgbClr val="403B4E"/>
                </a:solidFill>
                <a:latin typeface="Cambria"/>
                <a:cs typeface="Cambria"/>
              </a:rPr>
              <a:t>Training</a:t>
            </a:r>
            <a:r>
              <a:rPr dirty="0" sz="1250" spc="55" b="1">
                <a:solidFill>
                  <a:srgbClr val="403B4E"/>
                </a:solidFill>
                <a:latin typeface="Cambria"/>
                <a:cs typeface="Cambria"/>
              </a:rPr>
              <a:t> Accuracy</a:t>
            </a:r>
            <a:endParaRPr sz="12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950" spc="50">
                <a:solidFill>
                  <a:srgbClr val="403B4E"/>
                </a:solidFill>
                <a:latin typeface="Arial MT"/>
                <a:cs typeface="Arial MT"/>
              </a:rPr>
              <a:t>High</a:t>
            </a:r>
            <a:r>
              <a:rPr dirty="0" sz="950" spc="-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65">
                <a:solidFill>
                  <a:srgbClr val="403B4E"/>
                </a:solidFill>
                <a:latin typeface="Arial MT"/>
                <a:cs typeface="Arial MT"/>
              </a:rPr>
              <a:t>fit</a:t>
            </a: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70">
                <a:solidFill>
                  <a:srgbClr val="403B4E"/>
                </a:solidFill>
                <a:latin typeface="Arial MT"/>
                <a:cs typeface="Arial MT"/>
              </a:rPr>
              <a:t>on</a:t>
            </a:r>
            <a:r>
              <a:rPr dirty="0" sz="950" spc="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50">
                <a:solidFill>
                  <a:srgbClr val="403B4E"/>
                </a:solidFill>
                <a:latin typeface="Arial MT"/>
                <a:cs typeface="Arial MT"/>
              </a:rPr>
              <a:t>training</a:t>
            </a:r>
            <a:r>
              <a:rPr dirty="0" sz="95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data</a:t>
            </a:r>
            <a:r>
              <a:rPr dirty="0" sz="950" spc="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75">
                <a:solidFill>
                  <a:srgbClr val="403B4E"/>
                </a:solidFill>
                <a:latin typeface="Arial MT"/>
                <a:cs typeface="Arial MT"/>
              </a:rPr>
              <a:t>with</a:t>
            </a:r>
            <a:r>
              <a:rPr dirty="0" sz="950" spc="-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R²</a:t>
            </a:r>
            <a:r>
              <a:rPr dirty="0" sz="950" spc="10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=</a:t>
            </a:r>
            <a:r>
              <a:rPr dirty="0" sz="95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403B4E"/>
                </a:solidFill>
                <a:latin typeface="Arial MT"/>
                <a:cs typeface="Arial MT"/>
              </a:rPr>
              <a:t>0.8762,</a:t>
            </a:r>
            <a:r>
              <a:rPr dirty="0" sz="950" spc="-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55">
                <a:solidFill>
                  <a:srgbClr val="403B4E"/>
                </a:solidFill>
                <a:latin typeface="Arial MT"/>
                <a:cs typeface="Arial MT"/>
              </a:rPr>
              <a:t>capturing</a:t>
            </a:r>
            <a:r>
              <a:rPr dirty="0" sz="95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55">
                <a:solidFill>
                  <a:srgbClr val="403B4E"/>
                </a:solidFill>
                <a:latin typeface="Arial MT"/>
                <a:cs typeface="Arial MT"/>
              </a:rPr>
              <a:t>complex</a:t>
            </a:r>
            <a:r>
              <a:rPr dirty="0" sz="950" spc="-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55">
                <a:solidFill>
                  <a:srgbClr val="403B4E"/>
                </a:solidFill>
                <a:latin typeface="Arial MT"/>
                <a:cs typeface="Arial MT"/>
              </a:rPr>
              <a:t>nonlinear</a:t>
            </a:r>
            <a:r>
              <a:rPr dirty="0" sz="95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403B4E"/>
                </a:solidFill>
                <a:latin typeface="Arial MT"/>
                <a:cs typeface="Arial MT"/>
              </a:rPr>
              <a:t>relationships.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43625" y="5238750"/>
            <a:ext cx="5391150" cy="923925"/>
          </a:xfrm>
          <a:custGeom>
            <a:avLst/>
            <a:gdLst/>
            <a:ahLst/>
            <a:cxnLst/>
            <a:rect l="l" t="t" r="r" b="b"/>
            <a:pathLst>
              <a:path w="5391150" h="923925">
                <a:moveTo>
                  <a:pt x="0" y="55499"/>
                </a:moveTo>
                <a:lnTo>
                  <a:pt x="4367" y="33914"/>
                </a:lnTo>
                <a:lnTo>
                  <a:pt x="16271" y="16271"/>
                </a:lnTo>
                <a:lnTo>
                  <a:pt x="33914" y="4367"/>
                </a:lnTo>
                <a:lnTo>
                  <a:pt x="55499" y="0"/>
                </a:lnTo>
                <a:lnTo>
                  <a:pt x="5335651" y="0"/>
                </a:lnTo>
                <a:lnTo>
                  <a:pt x="5357235" y="4367"/>
                </a:lnTo>
                <a:lnTo>
                  <a:pt x="5374878" y="16271"/>
                </a:lnTo>
                <a:lnTo>
                  <a:pt x="5386782" y="33914"/>
                </a:lnTo>
                <a:lnTo>
                  <a:pt x="5391150" y="55499"/>
                </a:lnTo>
                <a:lnTo>
                  <a:pt x="5391150" y="868400"/>
                </a:lnTo>
                <a:lnTo>
                  <a:pt x="5386782" y="890015"/>
                </a:lnTo>
                <a:lnTo>
                  <a:pt x="5374878" y="907664"/>
                </a:lnTo>
                <a:lnTo>
                  <a:pt x="5357235" y="919562"/>
                </a:lnTo>
                <a:lnTo>
                  <a:pt x="5335651" y="923925"/>
                </a:lnTo>
                <a:lnTo>
                  <a:pt x="55499" y="923925"/>
                </a:lnTo>
                <a:lnTo>
                  <a:pt x="33914" y="919562"/>
                </a:lnTo>
                <a:lnTo>
                  <a:pt x="16271" y="907664"/>
                </a:lnTo>
                <a:lnTo>
                  <a:pt x="4367" y="890015"/>
                </a:lnTo>
                <a:lnTo>
                  <a:pt x="0" y="868400"/>
                </a:lnTo>
                <a:lnTo>
                  <a:pt x="0" y="55499"/>
                </a:lnTo>
                <a:close/>
              </a:path>
            </a:pathLst>
          </a:custGeom>
          <a:ln w="19050">
            <a:solidFill>
              <a:srgbClr val="E4BDB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285610" y="5260247"/>
            <a:ext cx="4754880" cy="741680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250" spc="95" b="1">
                <a:solidFill>
                  <a:srgbClr val="403B4E"/>
                </a:solidFill>
                <a:latin typeface="Cambria"/>
                <a:cs typeface="Cambria"/>
              </a:rPr>
              <a:t>Testing</a:t>
            </a:r>
            <a:r>
              <a:rPr dirty="0" sz="1250" spc="6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250" spc="55" b="1">
                <a:solidFill>
                  <a:srgbClr val="403B4E"/>
                </a:solidFill>
                <a:latin typeface="Cambria"/>
                <a:cs typeface="Cambria"/>
              </a:rPr>
              <a:t>Accuracy</a:t>
            </a:r>
            <a:endParaRPr sz="12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950">
                <a:solidFill>
                  <a:srgbClr val="403B4E"/>
                </a:solidFill>
                <a:latin typeface="Arial MT"/>
                <a:cs typeface="Arial MT"/>
              </a:rPr>
              <a:t>Test</a:t>
            </a:r>
            <a:r>
              <a:rPr dirty="0" sz="95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403B4E"/>
                </a:solidFill>
                <a:latin typeface="Arial MT"/>
                <a:cs typeface="Arial MT"/>
              </a:rPr>
              <a:t>R²</a:t>
            </a:r>
            <a:r>
              <a:rPr dirty="0" sz="950" spc="5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403B4E"/>
                </a:solidFill>
                <a:latin typeface="Arial MT"/>
                <a:cs typeface="Arial MT"/>
              </a:rPr>
              <a:t>=</a:t>
            </a:r>
            <a:r>
              <a:rPr dirty="0" sz="950" spc="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403B4E"/>
                </a:solidFill>
                <a:latin typeface="Arial MT"/>
                <a:cs typeface="Arial MT"/>
              </a:rPr>
              <a:t>0.5017</a:t>
            </a:r>
            <a:r>
              <a:rPr dirty="0" sz="950" spc="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403B4E"/>
                </a:solidFill>
                <a:latin typeface="Arial MT"/>
                <a:cs typeface="Arial MT"/>
              </a:rPr>
              <a:t>suggests</a:t>
            </a:r>
            <a:r>
              <a:rPr dirty="0" sz="950" spc="8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60">
                <a:solidFill>
                  <a:srgbClr val="403B4E"/>
                </a:solidFill>
                <a:latin typeface="Arial MT"/>
                <a:cs typeface="Arial MT"/>
              </a:rPr>
              <a:t>potential</a:t>
            </a:r>
            <a:r>
              <a:rPr dirty="0" sz="950" spc="-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50">
                <a:solidFill>
                  <a:srgbClr val="403B4E"/>
                </a:solidFill>
                <a:latin typeface="Arial MT"/>
                <a:cs typeface="Arial MT"/>
              </a:rPr>
              <a:t>overfitting,</a:t>
            </a:r>
            <a:r>
              <a:rPr dirty="0" sz="950" spc="8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45">
                <a:solidFill>
                  <a:srgbClr val="403B4E"/>
                </a:solidFill>
                <a:latin typeface="Arial MT"/>
                <a:cs typeface="Arial MT"/>
              </a:rPr>
              <a:t>indicating</a:t>
            </a:r>
            <a:r>
              <a:rPr dirty="0" sz="950" spc="8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75">
                <a:solidFill>
                  <a:srgbClr val="403B4E"/>
                </a:solidFill>
                <a:latin typeface="Arial MT"/>
                <a:cs typeface="Arial MT"/>
              </a:rPr>
              <a:t>room</a:t>
            </a:r>
            <a:r>
              <a:rPr dirty="0" sz="950" spc="9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60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dirty="0" sz="95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950" spc="40">
                <a:solidFill>
                  <a:srgbClr val="403B4E"/>
                </a:solidFill>
                <a:latin typeface="Arial MT"/>
                <a:cs typeface="Arial MT"/>
              </a:rPr>
              <a:t>regularisation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950" spc="45">
                <a:solidFill>
                  <a:srgbClr val="403B4E"/>
                </a:solidFill>
                <a:latin typeface="Arial MT"/>
                <a:cs typeface="Arial MT"/>
              </a:rPr>
              <a:t>tuning.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49000" y="653415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1143000" y="0"/>
                </a:moveTo>
                <a:lnTo>
                  <a:pt x="0" y="0"/>
                </a:lnTo>
                <a:lnTo>
                  <a:pt x="0" y="323850"/>
                </a:lnTo>
                <a:lnTo>
                  <a:pt x="1143000" y="323850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504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150" spc="145"/>
              <a:t>Advantages</a:t>
            </a:r>
            <a:r>
              <a:rPr dirty="0" sz="3150" spc="75"/>
              <a:t> </a:t>
            </a:r>
            <a:r>
              <a:rPr dirty="0" sz="3150" spc="65"/>
              <a:t>&amp; </a:t>
            </a:r>
            <a:r>
              <a:rPr dirty="0" sz="3150" spc="100"/>
              <a:t>Future</a:t>
            </a:r>
            <a:r>
              <a:rPr dirty="0" sz="3150" spc="130"/>
              <a:t> </a:t>
            </a:r>
            <a:r>
              <a:rPr dirty="0" sz="3150" spc="140"/>
              <a:t>Scope</a:t>
            </a:r>
            <a:endParaRPr sz="3150"/>
          </a:p>
        </p:txBody>
      </p:sp>
      <p:sp>
        <p:nvSpPr>
          <p:cNvPr id="4" name="object 4"/>
          <p:cNvSpPr/>
          <p:nvPr/>
        </p:nvSpPr>
        <p:spPr>
          <a:xfrm>
            <a:off x="676963" y="1622193"/>
            <a:ext cx="370840" cy="318770"/>
          </a:xfrm>
          <a:custGeom>
            <a:avLst/>
            <a:gdLst/>
            <a:ahLst/>
            <a:cxnLst/>
            <a:rect l="l" t="t" r="r" b="b"/>
            <a:pathLst>
              <a:path w="370840" h="318769">
                <a:moveTo>
                  <a:pt x="28" y="278759"/>
                </a:moveTo>
                <a:lnTo>
                  <a:pt x="20058" y="314267"/>
                </a:lnTo>
                <a:lnTo>
                  <a:pt x="41209" y="318193"/>
                </a:lnTo>
                <a:lnTo>
                  <a:pt x="52579" y="318221"/>
                </a:lnTo>
              </a:path>
              <a:path w="370840" h="318769">
                <a:moveTo>
                  <a:pt x="0" y="0"/>
                </a:moveTo>
                <a:lnTo>
                  <a:pt x="28" y="278759"/>
                </a:lnTo>
              </a:path>
              <a:path w="370840" h="318769">
                <a:moveTo>
                  <a:pt x="354286" y="58119"/>
                </a:moveTo>
                <a:lnTo>
                  <a:pt x="227525" y="184721"/>
                </a:lnTo>
              </a:path>
              <a:path w="370840" h="318769">
                <a:moveTo>
                  <a:pt x="227525" y="184721"/>
                </a:moveTo>
                <a:lnTo>
                  <a:pt x="154383" y="113269"/>
                </a:lnTo>
              </a:path>
              <a:path w="370840" h="318769">
                <a:moveTo>
                  <a:pt x="53636" y="212976"/>
                </a:moveTo>
                <a:lnTo>
                  <a:pt x="154383" y="113269"/>
                </a:lnTo>
              </a:path>
              <a:path w="370840" h="318769">
                <a:moveTo>
                  <a:pt x="52579" y="318221"/>
                </a:moveTo>
                <a:lnTo>
                  <a:pt x="370406" y="318257"/>
                </a:lnTo>
              </a:path>
            </a:pathLst>
          </a:custGeom>
          <a:ln w="16214">
            <a:solidFill>
              <a:srgbClr val="CC2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49287" y="2124773"/>
            <a:ext cx="4670425" cy="636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b="1">
                <a:solidFill>
                  <a:srgbClr val="403B4E"/>
                </a:solidFill>
                <a:latin typeface="Cambria"/>
                <a:cs typeface="Cambria"/>
              </a:rPr>
              <a:t>Better</a:t>
            </a:r>
            <a:r>
              <a:rPr dirty="0" sz="1550" spc="175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550" spc="55" b="1">
                <a:solidFill>
                  <a:srgbClr val="403B4E"/>
                </a:solidFill>
                <a:latin typeface="Cambria"/>
                <a:cs typeface="Cambria"/>
              </a:rPr>
              <a:t>Sales</a:t>
            </a:r>
            <a:r>
              <a:rPr dirty="0" sz="1550" spc="18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550" spc="55" b="1">
                <a:solidFill>
                  <a:srgbClr val="403B4E"/>
                </a:solidFill>
                <a:latin typeface="Cambria"/>
                <a:cs typeface="Cambria"/>
              </a:rPr>
              <a:t>Forecasting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Accurate</a:t>
            </a:r>
            <a:r>
              <a:rPr dirty="0" sz="125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20">
                <a:solidFill>
                  <a:srgbClr val="403B4E"/>
                </a:solidFill>
                <a:latin typeface="Arial MT"/>
                <a:cs typeface="Arial MT"/>
              </a:rPr>
              <a:t>predictions</a:t>
            </a:r>
            <a:r>
              <a:rPr dirty="0" sz="1250" spc="-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60">
                <a:solidFill>
                  <a:srgbClr val="403B4E"/>
                </a:solidFill>
                <a:latin typeface="Arial MT"/>
                <a:cs typeface="Arial MT"/>
              </a:rPr>
              <a:t>of</a:t>
            </a:r>
            <a:r>
              <a:rPr dirty="0" sz="1250" spc="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20">
                <a:solidFill>
                  <a:srgbClr val="403B4E"/>
                </a:solidFill>
                <a:latin typeface="Arial MT"/>
                <a:cs typeface="Arial MT"/>
              </a:rPr>
              <a:t>product-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level</a:t>
            </a:r>
            <a:r>
              <a:rPr dirty="0" sz="1250" spc="-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sales</a:t>
            </a:r>
            <a:r>
              <a:rPr dirty="0" sz="1250" spc="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across</a:t>
            </a:r>
            <a:r>
              <a:rPr dirty="0" sz="1250" spc="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20">
                <a:solidFill>
                  <a:srgbClr val="403B4E"/>
                </a:solidFill>
                <a:latin typeface="Arial MT"/>
                <a:cs typeface="Arial MT"/>
              </a:rPr>
              <a:t>retail</a:t>
            </a:r>
            <a:r>
              <a:rPr dirty="0" sz="1250" spc="-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outlets.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7163" y="3095322"/>
            <a:ext cx="370205" cy="315595"/>
          </a:xfrm>
          <a:custGeom>
            <a:avLst/>
            <a:gdLst/>
            <a:ahLst/>
            <a:cxnLst/>
            <a:rect l="l" t="t" r="r" b="b"/>
            <a:pathLst>
              <a:path w="370205" h="315595">
                <a:moveTo>
                  <a:pt x="369921" y="315041"/>
                </a:moveTo>
                <a:lnTo>
                  <a:pt x="370065" y="311130"/>
                </a:lnTo>
                <a:lnTo>
                  <a:pt x="370159" y="305411"/>
                </a:lnTo>
                <a:lnTo>
                  <a:pt x="370201" y="297883"/>
                </a:lnTo>
                <a:lnTo>
                  <a:pt x="370189" y="288545"/>
                </a:lnTo>
              </a:path>
              <a:path w="370205" h="315595">
                <a:moveTo>
                  <a:pt x="369979" y="92771"/>
                </a:moveTo>
                <a:lnTo>
                  <a:pt x="359487" y="74367"/>
                </a:lnTo>
                <a:lnTo>
                  <a:pt x="352305" y="70470"/>
                </a:lnTo>
              </a:path>
              <a:path w="370205" h="315595">
                <a:moveTo>
                  <a:pt x="214195" y="6228"/>
                </a:moveTo>
                <a:lnTo>
                  <a:pt x="205988" y="2919"/>
                </a:lnTo>
                <a:lnTo>
                  <a:pt x="200083" y="1239"/>
                </a:lnTo>
                <a:lnTo>
                  <a:pt x="195404" y="298"/>
                </a:lnTo>
                <a:lnTo>
                  <a:pt x="189356" y="0"/>
                </a:lnTo>
                <a:lnTo>
                  <a:pt x="182454" y="90"/>
                </a:lnTo>
                <a:lnTo>
                  <a:pt x="148189" y="10066"/>
                </a:lnTo>
                <a:lnTo>
                  <a:pt x="136803" y="15216"/>
                </a:lnTo>
              </a:path>
              <a:path w="370205" h="315595">
                <a:moveTo>
                  <a:pt x="288555" y="212720"/>
                </a:moveTo>
                <a:lnTo>
                  <a:pt x="82293" y="212350"/>
                </a:lnTo>
              </a:path>
              <a:path w="370205" h="315595">
                <a:moveTo>
                  <a:pt x="288689" y="315245"/>
                </a:moveTo>
                <a:lnTo>
                  <a:pt x="288555" y="212720"/>
                </a:lnTo>
              </a:path>
              <a:path w="370205" h="315595">
                <a:moveTo>
                  <a:pt x="369921" y="315041"/>
                </a:moveTo>
                <a:lnTo>
                  <a:pt x="0" y="314971"/>
                </a:lnTo>
              </a:path>
              <a:path w="370205" h="315595">
                <a:moveTo>
                  <a:pt x="185340" y="212468"/>
                </a:moveTo>
                <a:lnTo>
                  <a:pt x="185265" y="315215"/>
                </a:lnTo>
              </a:path>
              <a:path w="370205" h="315595">
                <a:moveTo>
                  <a:pt x="82293" y="212350"/>
                </a:moveTo>
                <a:lnTo>
                  <a:pt x="82151" y="315187"/>
                </a:lnTo>
              </a:path>
              <a:path w="370205" h="315595">
                <a:moveTo>
                  <a:pt x="233138" y="131368"/>
                </a:moveTo>
                <a:lnTo>
                  <a:pt x="137652" y="131284"/>
                </a:lnTo>
              </a:path>
              <a:path w="370205" h="315595">
                <a:moveTo>
                  <a:pt x="233138" y="131368"/>
                </a:moveTo>
                <a:lnTo>
                  <a:pt x="233146" y="212602"/>
                </a:lnTo>
              </a:path>
              <a:path w="370205" h="315595">
                <a:moveTo>
                  <a:pt x="137652" y="131284"/>
                </a:moveTo>
                <a:lnTo>
                  <a:pt x="137299" y="212400"/>
                </a:lnTo>
              </a:path>
              <a:path w="370205" h="315595">
                <a:moveTo>
                  <a:pt x="370189" y="288545"/>
                </a:moveTo>
                <a:lnTo>
                  <a:pt x="369979" y="92771"/>
                </a:lnTo>
              </a:path>
              <a:path w="370205" h="315595">
                <a:moveTo>
                  <a:pt x="136803" y="15216"/>
                </a:moveTo>
                <a:lnTo>
                  <a:pt x="17996" y="70167"/>
                </a:lnTo>
              </a:path>
              <a:path w="370205" h="315595">
                <a:moveTo>
                  <a:pt x="352305" y="70470"/>
                </a:moveTo>
                <a:lnTo>
                  <a:pt x="214195" y="6228"/>
                </a:lnTo>
              </a:path>
              <a:path w="370205" h="315595">
                <a:moveTo>
                  <a:pt x="18070" y="70411"/>
                </a:moveTo>
                <a:lnTo>
                  <a:pt x="9561" y="74890"/>
                </a:lnTo>
                <a:lnTo>
                  <a:pt x="3435" y="81913"/>
                </a:lnTo>
                <a:lnTo>
                  <a:pt x="189" y="90648"/>
                </a:lnTo>
                <a:lnTo>
                  <a:pt x="319" y="100263"/>
                </a:lnTo>
              </a:path>
              <a:path w="370205" h="315595">
                <a:moveTo>
                  <a:pt x="29" y="100322"/>
                </a:moveTo>
                <a:lnTo>
                  <a:pt x="0" y="314971"/>
                </a:lnTo>
              </a:path>
            </a:pathLst>
          </a:custGeom>
          <a:ln w="16408">
            <a:solidFill>
              <a:srgbClr val="CC2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49287" y="3597338"/>
            <a:ext cx="4314190" cy="636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75" b="1">
                <a:solidFill>
                  <a:srgbClr val="403B4E"/>
                </a:solidFill>
                <a:latin typeface="Cambria"/>
                <a:cs typeface="Cambria"/>
              </a:rPr>
              <a:t>Improved</a:t>
            </a:r>
            <a:r>
              <a:rPr dirty="0" sz="1550" spc="-5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550" spc="70" b="1">
                <a:solidFill>
                  <a:srgbClr val="403B4E"/>
                </a:solidFill>
                <a:latin typeface="Cambria"/>
                <a:cs typeface="Cambria"/>
              </a:rPr>
              <a:t>Inventory</a:t>
            </a:r>
            <a:r>
              <a:rPr dirty="0" sz="1550" spc="35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550" spc="90" b="1">
                <a:solidFill>
                  <a:srgbClr val="403B4E"/>
                </a:solidFill>
                <a:latin typeface="Cambria"/>
                <a:cs typeface="Cambria"/>
              </a:rPr>
              <a:t>Management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Optimised</a:t>
            </a:r>
            <a:r>
              <a:rPr dirty="0" sz="125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stock</a:t>
            </a:r>
            <a:r>
              <a:rPr dirty="0" sz="125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levels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 reduce</a:t>
            </a:r>
            <a:r>
              <a:rPr dirty="0" sz="125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wastage</a:t>
            </a:r>
            <a:r>
              <a:rPr dirty="0" sz="125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55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250" spc="-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shortage</a:t>
            </a:r>
            <a:r>
              <a:rPr dirty="0" sz="125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risks.</a:t>
            </a:r>
            <a:endParaRPr sz="125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176" y="4535483"/>
            <a:ext cx="248007" cy="37801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49287" y="5070475"/>
            <a:ext cx="4135120" cy="636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70" b="1">
                <a:solidFill>
                  <a:srgbClr val="403B4E"/>
                </a:solidFill>
                <a:latin typeface="Cambria"/>
                <a:cs typeface="Cambria"/>
              </a:rPr>
              <a:t>Business</a:t>
            </a:r>
            <a:r>
              <a:rPr dirty="0" sz="1550" spc="-15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550" spc="70" b="1">
                <a:solidFill>
                  <a:srgbClr val="403B4E"/>
                </a:solidFill>
                <a:latin typeface="Cambria"/>
                <a:cs typeface="Cambria"/>
              </a:rPr>
              <a:t>Growth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Data-backed</a:t>
            </a:r>
            <a:r>
              <a:rPr dirty="0" sz="1250" spc="1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insights</a:t>
            </a:r>
            <a:r>
              <a:rPr dirty="0" sz="1250" spc="18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unlock</a:t>
            </a:r>
            <a:r>
              <a:rPr dirty="0" sz="1250" spc="9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expansion</a:t>
            </a:r>
            <a:r>
              <a:rPr dirty="0" sz="1250" spc="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55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25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profitability.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277225" y="1581150"/>
            <a:ext cx="827405" cy="4400550"/>
            <a:chOff x="8277225" y="1581150"/>
            <a:chExt cx="827405" cy="4400550"/>
          </a:xfrm>
        </p:grpSpPr>
        <p:sp>
          <p:nvSpPr>
            <p:cNvPr id="11" name="object 11"/>
            <p:cNvSpPr/>
            <p:nvPr/>
          </p:nvSpPr>
          <p:spPr>
            <a:xfrm>
              <a:off x="8277225" y="1581149"/>
              <a:ext cx="647700" cy="4400550"/>
            </a:xfrm>
            <a:custGeom>
              <a:avLst/>
              <a:gdLst/>
              <a:ahLst/>
              <a:cxnLst/>
              <a:rect l="l" t="t" r="r" b="b"/>
              <a:pathLst>
                <a:path w="647700" h="4400550">
                  <a:moveTo>
                    <a:pt x="476250" y="175768"/>
                  </a:moveTo>
                  <a:lnTo>
                    <a:pt x="471932" y="171450"/>
                  </a:lnTo>
                  <a:lnTo>
                    <a:pt x="4318" y="171450"/>
                  </a:lnTo>
                  <a:lnTo>
                    <a:pt x="0" y="175768"/>
                  </a:lnTo>
                  <a:lnTo>
                    <a:pt x="0" y="180975"/>
                  </a:lnTo>
                  <a:lnTo>
                    <a:pt x="0" y="186182"/>
                  </a:lnTo>
                  <a:lnTo>
                    <a:pt x="4318" y="190500"/>
                  </a:lnTo>
                  <a:lnTo>
                    <a:pt x="471932" y="190500"/>
                  </a:lnTo>
                  <a:lnTo>
                    <a:pt x="476250" y="186182"/>
                  </a:lnTo>
                  <a:lnTo>
                    <a:pt x="476250" y="175768"/>
                  </a:lnTo>
                  <a:close/>
                </a:path>
                <a:path w="647700" h="4400550">
                  <a:moveTo>
                    <a:pt x="647700" y="4318"/>
                  </a:moveTo>
                  <a:lnTo>
                    <a:pt x="643382" y="0"/>
                  </a:lnTo>
                  <a:lnTo>
                    <a:pt x="632968" y="0"/>
                  </a:lnTo>
                  <a:lnTo>
                    <a:pt x="628650" y="4318"/>
                  </a:lnTo>
                  <a:lnTo>
                    <a:pt x="628650" y="9525"/>
                  </a:lnTo>
                  <a:lnTo>
                    <a:pt x="628650" y="4396283"/>
                  </a:lnTo>
                  <a:lnTo>
                    <a:pt x="632968" y="4400550"/>
                  </a:lnTo>
                  <a:lnTo>
                    <a:pt x="643382" y="4400550"/>
                  </a:lnTo>
                  <a:lnTo>
                    <a:pt x="647700" y="4396283"/>
                  </a:lnTo>
                  <a:lnTo>
                    <a:pt x="647700" y="4318"/>
                  </a:lnTo>
                  <a:close/>
                </a:path>
              </a:pathLst>
            </a:custGeom>
            <a:solidFill>
              <a:srgbClr val="E4BD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739251" y="1585975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294258" y="0"/>
                  </a:moveTo>
                  <a:lnTo>
                    <a:pt x="67564" y="0"/>
                  </a:lnTo>
                  <a:lnTo>
                    <a:pt x="41255" y="5306"/>
                  </a:lnTo>
                  <a:lnTo>
                    <a:pt x="19780" y="19780"/>
                  </a:lnTo>
                  <a:lnTo>
                    <a:pt x="5306" y="41255"/>
                  </a:lnTo>
                  <a:lnTo>
                    <a:pt x="0" y="67563"/>
                  </a:lnTo>
                  <a:lnTo>
                    <a:pt x="0" y="294259"/>
                  </a:lnTo>
                  <a:lnTo>
                    <a:pt x="5306" y="320587"/>
                  </a:lnTo>
                  <a:lnTo>
                    <a:pt x="19780" y="342106"/>
                  </a:lnTo>
                  <a:lnTo>
                    <a:pt x="41255" y="356623"/>
                  </a:lnTo>
                  <a:lnTo>
                    <a:pt x="67564" y="361950"/>
                  </a:lnTo>
                  <a:lnTo>
                    <a:pt x="294258" y="361950"/>
                  </a:lnTo>
                  <a:lnTo>
                    <a:pt x="320587" y="356623"/>
                  </a:lnTo>
                  <a:lnTo>
                    <a:pt x="342106" y="342106"/>
                  </a:lnTo>
                  <a:lnTo>
                    <a:pt x="356623" y="320587"/>
                  </a:lnTo>
                  <a:lnTo>
                    <a:pt x="361950" y="294259"/>
                  </a:lnTo>
                  <a:lnTo>
                    <a:pt x="361950" y="67563"/>
                  </a:lnTo>
                  <a:lnTo>
                    <a:pt x="356623" y="41255"/>
                  </a:lnTo>
                  <a:lnTo>
                    <a:pt x="342106" y="19780"/>
                  </a:lnTo>
                  <a:lnTo>
                    <a:pt x="320587" y="5306"/>
                  </a:lnTo>
                  <a:lnTo>
                    <a:pt x="294258" y="0"/>
                  </a:lnTo>
                  <a:close/>
                </a:path>
              </a:pathLst>
            </a:custGeom>
            <a:solidFill>
              <a:srgbClr val="FFD7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739251" y="1585975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0" y="67563"/>
                  </a:moveTo>
                  <a:lnTo>
                    <a:pt x="5306" y="41255"/>
                  </a:lnTo>
                  <a:lnTo>
                    <a:pt x="19780" y="19780"/>
                  </a:lnTo>
                  <a:lnTo>
                    <a:pt x="41255" y="5306"/>
                  </a:lnTo>
                  <a:lnTo>
                    <a:pt x="67564" y="0"/>
                  </a:lnTo>
                  <a:lnTo>
                    <a:pt x="294258" y="0"/>
                  </a:lnTo>
                  <a:lnTo>
                    <a:pt x="320587" y="5306"/>
                  </a:lnTo>
                  <a:lnTo>
                    <a:pt x="342106" y="19780"/>
                  </a:lnTo>
                  <a:lnTo>
                    <a:pt x="356623" y="41255"/>
                  </a:lnTo>
                  <a:lnTo>
                    <a:pt x="361950" y="67563"/>
                  </a:lnTo>
                  <a:lnTo>
                    <a:pt x="361950" y="294259"/>
                  </a:lnTo>
                  <a:lnTo>
                    <a:pt x="356623" y="320587"/>
                  </a:lnTo>
                  <a:lnTo>
                    <a:pt x="342106" y="342106"/>
                  </a:lnTo>
                  <a:lnTo>
                    <a:pt x="320587" y="356623"/>
                  </a:lnTo>
                  <a:lnTo>
                    <a:pt x="294258" y="361950"/>
                  </a:lnTo>
                  <a:lnTo>
                    <a:pt x="67564" y="361950"/>
                  </a:lnTo>
                  <a:lnTo>
                    <a:pt x="41255" y="356623"/>
                  </a:lnTo>
                  <a:lnTo>
                    <a:pt x="19780" y="342106"/>
                  </a:lnTo>
                  <a:lnTo>
                    <a:pt x="5306" y="320587"/>
                  </a:lnTo>
                  <a:lnTo>
                    <a:pt x="0" y="294259"/>
                  </a:lnTo>
                  <a:lnTo>
                    <a:pt x="0" y="67563"/>
                  </a:lnTo>
                  <a:close/>
                </a:path>
              </a:pathLst>
            </a:custGeom>
            <a:ln w="6350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857233" y="1591373"/>
            <a:ext cx="13462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90" b="1">
                <a:solidFill>
                  <a:srgbClr val="403B4E"/>
                </a:solidFill>
                <a:latin typeface="Cambria"/>
                <a:cs typeface="Cambria"/>
              </a:rPr>
              <a:t>1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45809" y="1606867"/>
            <a:ext cx="1791970" cy="159448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563880" marR="5080" indent="-411480">
              <a:lnSpc>
                <a:spcPct val="105000"/>
              </a:lnSpc>
              <a:spcBef>
                <a:spcPts val="35"/>
              </a:spcBef>
            </a:pPr>
            <a:r>
              <a:rPr dirty="0" sz="1550" b="1">
                <a:solidFill>
                  <a:srgbClr val="403B4E"/>
                </a:solidFill>
                <a:latin typeface="Cambria"/>
                <a:cs typeface="Cambria"/>
              </a:rPr>
              <a:t>Web</a:t>
            </a:r>
            <a:r>
              <a:rPr dirty="0" sz="1550" spc="165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550" spc="55" b="1">
                <a:solidFill>
                  <a:srgbClr val="403B4E"/>
                </a:solidFill>
                <a:latin typeface="Cambria"/>
                <a:cs typeface="Cambria"/>
              </a:rPr>
              <a:t>Application </a:t>
            </a:r>
            <a:r>
              <a:rPr dirty="0" sz="1550" spc="60" b="1">
                <a:solidFill>
                  <a:srgbClr val="403B4E"/>
                </a:solidFill>
                <a:latin typeface="Cambria"/>
                <a:cs typeface="Cambria"/>
              </a:rPr>
              <a:t>Deployment</a:t>
            </a:r>
            <a:endParaRPr sz="1550">
              <a:latin typeface="Cambria"/>
              <a:cs typeface="Cambria"/>
            </a:endParaRPr>
          </a:p>
          <a:p>
            <a:pPr algn="r" marL="86995" marR="8890" indent="-74930">
              <a:lnSpc>
                <a:spcPct val="125099"/>
              </a:lnSpc>
              <a:spcBef>
                <a:spcPts val="1070"/>
              </a:spcBef>
            </a:pP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Deploy</a:t>
            </a:r>
            <a:r>
              <a:rPr dirty="0" sz="1250" spc="-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as</a:t>
            </a:r>
            <a:r>
              <a:rPr dirty="0" sz="1250" spc="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an</a:t>
            </a:r>
            <a:r>
              <a:rPr dirty="0" sz="1250" spc="8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interactive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web</a:t>
            </a:r>
            <a:r>
              <a:rPr dirty="0" sz="125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app</a:t>
            </a:r>
            <a:r>
              <a:rPr dirty="0" sz="125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using</a:t>
            </a:r>
            <a:r>
              <a:rPr dirty="0" sz="125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20">
                <a:solidFill>
                  <a:srgbClr val="403B4E"/>
                </a:solidFill>
                <a:latin typeface="Arial MT"/>
                <a:cs typeface="Arial MT"/>
              </a:rPr>
              <a:t>Flask</a:t>
            </a:r>
            <a:r>
              <a:rPr dirty="0" sz="125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50">
                <a:solidFill>
                  <a:srgbClr val="403B4E"/>
                </a:solidFill>
                <a:latin typeface="Arial MT"/>
                <a:cs typeface="Arial MT"/>
              </a:rPr>
              <a:t>or</a:t>
            </a:r>
            <a:endParaRPr sz="1250">
              <a:latin typeface="Arial MT"/>
              <a:cs typeface="Arial MT"/>
            </a:endParaRPr>
          </a:p>
          <a:p>
            <a:pPr algn="r" marL="333375" marR="6985" indent="517525">
              <a:lnSpc>
                <a:spcPct val="120200"/>
              </a:lnSpc>
              <a:spcBef>
                <a:spcPts val="75"/>
              </a:spcBef>
            </a:pP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Streamlit</a:t>
            </a:r>
            <a:r>
              <a:rPr dirty="0" sz="1250" spc="2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55">
                <a:solidFill>
                  <a:srgbClr val="403B4E"/>
                </a:solidFill>
                <a:latin typeface="Arial MT"/>
                <a:cs typeface="Arial MT"/>
              </a:rPr>
              <a:t>for </a:t>
            </a:r>
            <a:r>
              <a:rPr dirty="0" sz="1250" spc="10">
                <a:solidFill>
                  <a:srgbClr val="403B4E"/>
                </a:solidFill>
                <a:latin typeface="Arial MT"/>
                <a:cs typeface="Arial MT"/>
              </a:rPr>
              <a:t>stakeholder</a:t>
            </a:r>
            <a:r>
              <a:rPr dirty="0" sz="1250" spc="19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access.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736076" y="2497201"/>
            <a:ext cx="827405" cy="368300"/>
            <a:chOff x="8736076" y="2497201"/>
            <a:chExt cx="827405" cy="368300"/>
          </a:xfrm>
        </p:grpSpPr>
        <p:sp>
          <p:nvSpPr>
            <p:cNvPr id="17" name="object 17"/>
            <p:cNvSpPr/>
            <p:nvPr/>
          </p:nvSpPr>
          <p:spPr>
            <a:xfrm>
              <a:off x="9077325" y="2667000"/>
              <a:ext cx="485775" cy="19050"/>
            </a:xfrm>
            <a:custGeom>
              <a:avLst/>
              <a:gdLst/>
              <a:ahLst/>
              <a:cxnLst/>
              <a:rect l="l" t="t" r="r" b="b"/>
              <a:pathLst>
                <a:path w="485775" h="19050">
                  <a:moveTo>
                    <a:pt x="481456" y="0"/>
                  </a:moveTo>
                  <a:lnTo>
                    <a:pt x="4318" y="0"/>
                  </a:lnTo>
                  <a:lnTo>
                    <a:pt x="0" y="4317"/>
                  </a:lnTo>
                  <a:lnTo>
                    <a:pt x="0" y="9525"/>
                  </a:lnTo>
                  <a:lnTo>
                    <a:pt x="0" y="14732"/>
                  </a:lnTo>
                  <a:lnTo>
                    <a:pt x="4318" y="19050"/>
                  </a:lnTo>
                  <a:lnTo>
                    <a:pt x="481456" y="19050"/>
                  </a:lnTo>
                  <a:lnTo>
                    <a:pt x="485775" y="14732"/>
                  </a:lnTo>
                  <a:lnTo>
                    <a:pt x="485775" y="4317"/>
                  </a:lnTo>
                  <a:lnTo>
                    <a:pt x="481456" y="0"/>
                  </a:lnTo>
                  <a:close/>
                </a:path>
              </a:pathLst>
            </a:custGeom>
            <a:solidFill>
              <a:srgbClr val="E4BD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739251" y="2500376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294258" y="0"/>
                  </a:moveTo>
                  <a:lnTo>
                    <a:pt x="67564" y="0"/>
                  </a:lnTo>
                  <a:lnTo>
                    <a:pt x="41255" y="5306"/>
                  </a:lnTo>
                  <a:lnTo>
                    <a:pt x="19780" y="19780"/>
                  </a:lnTo>
                  <a:lnTo>
                    <a:pt x="5306" y="41255"/>
                  </a:lnTo>
                  <a:lnTo>
                    <a:pt x="0" y="67563"/>
                  </a:lnTo>
                  <a:lnTo>
                    <a:pt x="0" y="294259"/>
                  </a:lnTo>
                  <a:lnTo>
                    <a:pt x="5306" y="320587"/>
                  </a:lnTo>
                  <a:lnTo>
                    <a:pt x="19780" y="342106"/>
                  </a:lnTo>
                  <a:lnTo>
                    <a:pt x="41255" y="356623"/>
                  </a:lnTo>
                  <a:lnTo>
                    <a:pt x="67564" y="361950"/>
                  </a:lnTo>
                  <a:lnTo>
                    <a:pt x="294258" y="361950"/>
                  </a:lnTo>
                  <a:lnTo>
                    <a:pt x="320587" y="356623"/>
                  </a:lnTo>
                  <a:lnTo>
                    <a:pt x="342106" y="342106"/>
                  </a:lnTo>
                  <a:lnTo>
                    <a:pt x="356623" y="320587"/>
                  </a:lnTo>
                  <a:lnTo>
                    <a:pt x="361950" y="294259"/>
                  </a:lnTo>
                  <a:lnTo>
                    <a:pt x="361950" y="67563"/>
                  </a:lnTo>
                  <a:lnTo>
                    <a:pt x="356623" y="41255"/>
                  </a:lnTo>
                  <a:lnTo>
                    <a:pt x="342106" y="19780"/>
                  </a:lnTo>
                  <a:lnTo>
                    <a:pt x="320587" y="5306"/>
                  </a:lnTo>
                  <a:lnTo>
                    <a:pt x="294258" y="0"/>
                  </a:lnTo>
                  <a:close/>
                </a:path>
              </a:pathLst>
            </a:custGeom>
            <a:solidFill>
              <a:srgbClr val="FFD7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739251" y="2500376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0" y="67563"/>
                  </a:moveTo>
                  <a:lnTo>
                    <a:pt x="5306" y="41255"/>
                  </a:lnTo>
                  <a:lnTo>
                    <a:pt x="19780" y="19780"/>
                  </a:lnTo>
                  <a:lnTo>
                    <a:pt x="41255" y="5306"/>
                  </a:lnTo>
                  <a:lnTo>
                    <a:pt x="67564" y="0"/>
                  </a:lnTo>
                  <a:lnTo>
                    <a:pt x="294258" y="0"/>
                  </a:lnTo>
                  <a:lnTo>
                    <a:pt x="320587" y="5306"/>
                  </a:lnTo>
                  <a:lnTo>
                    <a:pt x="342106" y="19780"/>
                  </a:lnTo>
                  <a:lnTo>
                    <a:pt x="356623" y="41255"/>
                  </a:lnTo>
                  <a:lnTo>
                    <a:pt x="361950" y="67563"/>
                  </a:lnTo>
                  <a:lnTo>
                    <a:pt x="361950" y="294259"/>
                  </a:lnTo>
                  <a:lnTo>
                    <a:pt x="356623" y="320587"/>
                  </a:lnTo>
                  <a:lnTo>
                    <a:pt x="342106" y="342106"/>
                  </a:lnTo>
                  <a:lnTo>
                    <a:pt x="320587" y="356623"/>
                  </a:lnTo>
                  <a:lnTo>
                    <a:pt x="294258" y="361950"/>
                  </a:lnTo>
                  <a:lnTo>
                    <a:pt x="67564" y="361950"/>
                  </a:lnTo>
                  <a:lnTo>
                    <a:pt x="41255" y="356623"/>
                  </a:lnTo>
                  <a:lnTo>
                    <a:pt x="19780" y="342106"/>
                  </a:lnTo>
                  <a:lnTo>
                    <a:pt x="5306" y="320587"/>
                  </a:lnTo>
                  <a:lnTo>
                    <a:pt x="0" y="294259"/>
                  </a:lnTo>
                  <a:lnTo>
                    <a:pt x="0" y="67563"/>
                  </a:lnTo>
                  <a:close/>
                </a:path>
              </a:pathLst>
            </a:custGeom>
            <a:ln w="6350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8839834" y="2507868"/>
            <a:ext cx="170180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-50" b="1">
                <a:solidFill>
                  <a:srgbClr val="403B4E"/>
                </a:solidFill>
                <a:latin typeface="Cambria"/>
                <a:cs typeface="Cambria"/>
              </a:rPr>
              <a:t>2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715500" y="2523807"/>
            <a:ext cx="1800225" cy="11137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25"/>
              </a:spcBef>
            </a:pPr>
            <a:r>
              <a:rPr dirty="0" sz="1550" spc="70" b="1">
                <a:solidFill>
                  <a:srgbClr val="403B4E"/>
                </a:solidFill>
                <a:latin typeface="Cambria"/>
                <a:cs typeface="Cambria"/>
              </a:rPr>
              <a:t>Cloud</a:t>
            </a:r>
            <a:r>
              <a:rPr dirty="0" sz="1550" spc="30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1550" spc="60" b="1">
                <a:solidFill>
                  <a:srgbClr val="403B4E"/>
                </a:solidFill>
                <a:latin typeface="Cambria"/>
                <a:cs typeface="Cambria"/>
              </a:rPr>
              <a:t>Integration</a:t>
            </a:r>
            <a:endParaRPr sz="1550">
              <a:latin typeface="Cambria"/>
              <a:cs typeface="Cambria"/>
            </a:endParaRPr>
          </a:p>
          <a:p>
            <a:pPr algn="just" marL="12700" marR="5080">
              <a:lnSpc>
                <a:spcPct val="125200"/>
              </a:lnSpc>
              <a:spcBef>
                <a:spcPts val="1045"/>
              </a:spcBef>
            </a:pPr>
            <a:r>
              <a:rPr dirty="0" sz="1250" spc="-35">
                <a:solidFill>
                  <a:srgbClr val="403B4E"/>
                </a:solidFill>
                <a:latin typeface="Arial MT"/>
                <a:cs typeface="Arial MT"/>
              </a:rPr>
              <a:t>Scale</a:t>
            </a:r>
            <a:r>
              <a:rPr dirty="0" sz="1250" spc="-5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50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r>
              <a:rPr dirty="0" sz="1250" spc="-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50">
                <a:solidFill>
                  <a:srgbClr val="403B4E"/>
                </a:solidFill>
                <a:latin typeface="Arial MT"/>
                <a:cs typeface="Arial MT"/>
              </a:rPr>
              <a:t>model</a:t>
            </a:r>
            <a:r>
              <a:rPr dirty="0" sz="1250" spc="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60">
                <a:solidFill>
                  <a:srgbClr val="403B4E"/>
                </a:solidFill>
                <a:latin typeface="Arial MT"/>
                <a:cs typeface="Arial MT"/>
              </a:rPr>
              <a:t>on</a:t>
            </a:r>
            <a:r>
              <a:rPr dirty="0" sz="1250" spc="-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85">
                <a:solidFill>
                  <a:srgbClr val="403B4E"/>
                </a:solidFill>
                <a:latin typeface="Arial MT"/>
                <a:cs typeface="Arial MT"/>
              </a:rPr>
              <a:t>AWS </a:t>
            </a:r>
            <a:r>
              <a:rPr dirty="0" sz="1250" spc="75">
                <a:solidFill>
                  <a:srgbClr val="403B4E"/>
                </a:solidFill>
                <a:latin typeface="Arial MT"/>
                <a:cs typeface="Arial MT"/>
              </a:rPr>
              <a:t>or</a:t>
            </a:r>
            <a:r>
              <a:rPr dirty="0" sz="1250" spc="-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Azure</a:t>
            </a:r>
            <a:r>
              <a:rPr dirty="0" sz="1250" spc="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65">
                <a:solidFill>
                  <a:srgbClr val="403B4E"/>
                </a:solidFill>
                <a:latin typeface="Arial MT"/>
                <a:cs typeface="Arial MT"/>
              </a:rPr>
              <a:t>with</a:t>
            </a:r>
            <a:r>
              <a:rPr dirty="0" sz="1250" spc="-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serverless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inference</a:t>
            </a:r>
            <a:r>
              <a:rPr dirty="0" sz="1250" spc="229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endpoints.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277225" y="3497326"/>
            <a:ext cx="827405" cy="368300"/>
            <a:chOff x="8277225" y="3497326"/>
            <a:chExt cx="827405" cy="368300"/>
          </a:xfrm>
        </p:grpSpPr>
        <p:sp>
          <p:nvSpPr>
            <p:cNvPr id="23" name="object 23"/>
            <p:cNvSpPr/>
            <p:nvPr/>
          </p:nvSpPr>
          <p:spPr>
            <a:xfrm>
              <a:off x="8277225" y="3667125"/>
              <a:ext cx="476250" cy="19050"/>
            </a:xfrm>
            <a:custGeom>
              <a:avLst/>
              <a:gdLst/>
              <a:ahLst/>
              <a:cxnLst/>
              <a:rect l="l" t="t" r="r" b="b"/>
              <a:pathLst>
                <a:path w="476250" h="19050">
                  <a:moveTo>
                    <a:pt x="471931" y="0"/>
                  </a:moveTo>
                  <a:lnTo>
                    <a:pt x="4318" y="0"/>
                  </a:lnTo>
                  <a:lnTo>
                    <a:pt x="0" y="4318"/>
                  </a:lnTo>
                  <a:lnTo>
                    <a:pt x="0" y="9525"/>
                  </a:lnTo>
                  <a:lnTo>
                    <a:pt x="0" y="14731"/>
                  </a:lnTo>
                  <a:lnTo>
                    <a:pt x="4318" y="19050"/>
                  </a:lnTo>
                  <a:lnTo>
                    <a:pt x="471931" y="19050"/>
                  </a:lnTo>
                  <a:lnTo>
                    <a:pt x="476250" y="14731"/>
                  </a:lnTo>
                  <a:lnTo>
                    <a:pt x="476250" y="4318"/>
                  </a:lnTo>
                  <a:lnTo>
                    <a:pt x="471931" y="0"/>
                  </a:lnTo>
                  <a:close/>
                </a:path>
              </a:pathLst>
            </a:custGeom>
            <a:solidFill>
              <a:srgbClr val="E4BD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739251" y="3500501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294258" y="0"/>
                  </a:moveTo>
                  <a:lnTo>
                    <a:pt x="67564" y="0"/>
                  </a:lnTo>
                  <a:lnTo>
                    <a:pt x="41255" y="5306"/>
                  </a:lnTo>
                  <a:lnTo>
                    <a:pt x="19780" y="19780"/>
                  </a:lnTo>
                  <a:lnTo>
                    <a:pt x="5306" y="41255"/>
                  </a:lnTo>
                  <a:lnTo>
                    <a:pt x="0" y="67563"/>
                  </a:lnTo>
                  <a:lnTo>
                    <a:pt x="0" y="294259"/>
                  </a:lnTo>
                  <a:lnTo>
                    <a:pt x="5306" y="320587"/>
                  </a:lnTo>
                  <a:lnTo>
                    <a:pt x="19780" y="342106"/>
                  </a:lnTo>
                  <a:lnTo>
                    <a:pt x="41255" y="356623"/>
                  </a:lnTo>
                  <a:lnTo>
                    <a:pt x="67564" y="361950"/>
                  </a:lnTo>
                  <a:lnTo>
                    <a:pt x="294258" y="361950"/>
                  </a:lnTo>
                  <a:lnTo>
                    <a:pt x="320587" y="356623"/>
                  </a:lnTo>
                  <a:lnTo>
                    <a:pt x="342106" y="342106"/>
                  </a:lnTo>
                  <a:lnTo>
                    <a:pt x="356623" y="320587"/>
                  </a:lnTo>
                  <a:lnTo>
                    <a:pt x="361950" y="294259"/>
                  </a:lnTo>
                  <a:lnTo>
                    <a:pt x="361950" y="67563"/>
                  </a:lnTo>
                  <a:lnTo>
                    <a:pt x="356623" y="41255"/>
                  </a:lnTo>
                  <a:lnTo>
                    <a:pt x="342106" y="19780"/>
                  </a:lnTo>
                  <a:lnTo>
                    <a:pt x="320587" y="5306"/>
                  </a:lnTo>
                  <a:lnTo>
                    <a:pt x="294258" y="0"/>
                  </a:lnTo>
                  <a:close/>
                </a:path>
              </a:pathLst>
            </a:custGeom>
            <a:solidFill>
              <a:srgbClr val="FFD7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739251" y="3500501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0" y="67563"/>
                  </a:moveTo>
                  <a:lnTo>
                    <a:pt x="5306" y="41255"/>
                  </a:lnTo>
                  <a:lnTo>
                    <a:pt x="19780" y="19780"/>
                  </a:lnTo>
                  <a:lnTo>
                    <a:pt x="41255" y="5306"/>
                  </a:lnTo>
                  <a:lnTo>
                    <a:pt x="67564" y="0"/>
                  </a:lnTo>
                  <a:lnTo>
                    <a:pt x="294258" y="0"/>
                  </a:lnTo>
                  <a:lnTo>
                    <a:pt x="320587" y="5306"/>
                  </a:lnTo>
                  <a:lnTo>
                    <a:pt x="342106" y="19780"/>
                  </a:lnTo>
                  <a:lnTo>
                    <a:pt x="356623" y="41255"/>
                  </a:lnTo>
                  <a:lnTo>
                    <a:pt x="361950" y="67563"/>
                  </a:lnTo>
                  <a:lnTo>
                    <a:pt x="361950" y="294259"/>
                  </a:lnTo>
                  <a:lnTo>
                    <a:pt x="356623" y="320587"/>
                  </a:lnTo>
                  <a:lnTo>
                    <a:pt x="342106" y="342106"/>
                  </a:lnTo>
                  <a:lnTo>
                    <a:pt x="320587" y="356623"/>
                  </a:lnTo>
                  <a:lnTo>
                    <a:pt x="294258" y="361950"/>
                  </a:lnTo>
                  <a:lnTo>
                    <a:pt x="67564" y="361950"/>
                  </a:lnTo>
                  <a:lnTo>
                    <a:pt x="41255" y="356623"/>
                  </a:lnTo>
                  <a:lnTo>
                    <a:pt x="19780" y="342106"/>
                  </a:lnTo>
                  <a:lnTo>
                    <a:pt x="5306" y="320587"/>
                  </a:lnTo>
                  <a:lnTo>
                    <a:pt x="0" y="294259"/>
                  </a:lnTo>
                  <a:lnTo>
                    <a:pt x="0" y="67563"/>
                  </a:lnTo>
                  <a:close/>
                </a:path>
              </a:pathLst>
            </a:custGeom>
            <a:ln w="6350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8844660" y="3511867"/>
            <a:ext cx="160655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 b="1">
                <a:solidFill>
                  <a:srgbClr val="403B4E"/>
                </a:solidFill>
                <a:latin typeface="Cambria"/>
                <a:cs typeface="Cambria"/>
              </a:rPr>
              <a:t>3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77634" y="3527107"/>
            <a:ext cx="1662430" cy="136525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610235" marR="9525" indent="-36830">
              <a:lnSpc>
                <a:spcPct val="104900"/>
              </a:lnSpc>
              <a:spcBef>
                <a:spcPts val="35"/>
              </a:spcBef>
            </a:pPr>
            <a:r>
              <a:rPr dirty="0" sz="1550" spc="125" b="1">
                <a:solidFill>
                  <a:srgbClr val="403B4E"/>
                </a:solidFill>
                <a:latin typeface="Cambria"/>
                <a:cs typeface="Cambria"/>
              </a:rPr>
              <a:t>Real-</a:t>
            </a:r>
            <a:r>
              <a:rPr dirty="0" sz="1550" spc="80" b="1">
                <a:solidFill>
                  <a:srgbClr val="403B4E"/>
                </a:solidFill>
                <a:latin typeface="Cambria"/>
                <a:cs typeface="Cambria"/>
              </a:rPr>
              <a:t>Time </a:t>
            </a:r>
            <a:r>
              <a:rPr dirty="0" sz="1550" spc="45" b="1">
                <a:solidFill>
                  <a:srgbClr val="403B4E"/>
                </a:solidFill>
                <a:latin typeface="Cambria"/>
                <a:cs typeface="Cambria"/>
              </a:rPr>
              <a:t>Prediction</a:t>
            </a:r>
            <a:endParaRPr sz="1550">
              <a:latin typeface="Cambria"/>
              <a:cs typeface="Cambria"/>
            </a:endParaRPr>
          </a:p>
          <a:p>
            <a:pPr algn="just" marL="12700" marR="5080" indent="25400">
              <a:lnSpc>
                <a:spcPct val="125200"/>
              </a:lnSpc>
              <a:spcBef>
                <a:spcPts val="1070"/>
              </a:spcBef>
            </a:pP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Stream</a:t>
            </a:r>
            <a:r>
              <a:rPr dirty="0" sz="1250" spc="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live</a:t>
            </a:r>
            <a:r>
              <a:rPr dirty="0" sz="1250" spc="-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sales</a:t>
            </a:r>
            <a:r>
              <a:rPr dirty="0" sz="1250" spc="1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20">
                <a:solidFill>
                  <a:srgbClr val="403B4E"/>
                </a:solidFill>
                <a:latin typeface="Arial MT"/>
                <a:cs typeface="Arial MT"/>
              </a:rPr>
              <a:t>data </a:t>
            </a:r>
            <a:r>
              <a:rPr dirty="0" sz="1250" spc="80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dirty="0" sz="1250" spc="-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45">
                <a:solidFill>
                  <a:srgbClr val="403B4E"/>
                </a:solidFill>
                <a:latin typeface="Arial MT"/>
                <a:cs typeface="Arial MT"/>
              </a:rPr>
              <a:t>instant</a:t>
            </a:r>
            <a:r>
              <a:rPr dirty="0" sz="1250" spc="-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forecasting </a:t>
            </a:r>
            <a:r>
              <a:rPr dirty="0" sz="1250" spc="50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25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dynamic</a:t>
            </a:r>
            <a:r>
              <a:rPr dirty="0" sz="1250" spc="8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pricing.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736076" y="4345051"/>
            <a:ext cx="827405" cy="358775"/>
            <a:chOff x="8736076" y="4345051"/>
            <a:chExt cx="827405" cy="358775"/>
          </a:xfrm>
        </p:grpSpPr>
        <p:sp>
          <p:nvSpPr>
            <p:cNvPr id="29" name="object 29"/>
            <p:cNvSpPr/>
            <p:nvPr/>
          </p:nvSpPr>
          <p:spPr>
            <a:xfrm>
              <a:off x="9077325" y="4514850"/>
              <a:ext cx="485775" cy="19050"/>
            </a:xfrm>
            <a:custGeom>
              <a:avLst/>
              <a:gdLst/>
              <a:ahLst/>
              <a:cxnLst/>
              <a:rect l="l" t="t" r="r" b="b"/>
              <a:pathLst>
                <a:path w="485775" h="19050">
                  <a:moveTo>
                    <a:pt x="481456" y="0"/>
                  </a:moveTo>
                  <a:lnTo>
                    <a:pt x="4318" y="0"/>
                  </a:lnTo>
                  <a:lnTo>
                    <a:pt x="0" y="4318"/>
                  </a:lnTo>
                  <a:lnTo>
                    <a:pt x="0" y="9525"/>
                  </a:lnTo>
                  <a:lnTo>
                    <a:pt x="0" y="14731"/>
                  </a:lnTo>
                  <a:lnTo>
                    <a:pt x="4318" y="19050"/>
                  </a:lnTo>
                  <a:lnTo>
                    <a:pt x="481456" y="19050"/>
                  </a:lnTo>
                  <a:lnTo>
                    <a:pt x="485775" y="14731"/>
                  </a:lnTo>
                  <a:lnTo>
                    <a:pt x="485775" y="4318"/>
                  </a:lnTo>
                  <a:lnTo>
                    <a:pt x="481456" y="0"/>
                  </a:lnTo>
                  <a:close/>
                </a:path>
              </a:pathLst>
            </a:custGeom>
            <a:solidFill>
              <a:srgbClr val="E4BD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739251" y="4348226"/>
              <a:ext cx="361950" cy="352425"/>
            </a:xfrm>
            <a:custGeom>
              <a:avLst/>
              <a:gdLst/>
              <a:ahLst/>
              <a:cxnLst/>
              <a:rect l="l" t="t" r="r" b="b"/>
              <a:pathLst>
                <a:path w="361950" h="352425">
                  <a:moveTo>
                    <a:pt x="296037" y="0"/>
                  </a:moveTo>
                  <a:lnTo>
                    <a:pt x="65785" y="0"/>
                  </a:lnTo>
                  <a:lnTo>
                    <a:pt x="40130" y="5153"/>
                  </a:lnTo>
                  <a:lnTo>
                    <a:pt x="19224" y="19224"/>
                  </a:lnTo>
                  <a:lnTo>
                    <a:pt x="5153" y="40130"/>
                  </a:lnTo>
                  <a:lnTo>
                    <a:pt x="0" y="65786"/>
                  </a:lnTo>
                  <a:lnTo>
                    <a:pt x="0" y="286512"/>
                  </a:lnTo>
                  <a:lnTo>
                    <a:pt x="5153" y="312187"/>
                  </a:lnTo>
                  <a:lnTo>
                    <a:pt x="19224" y="333136"/>
                  </a:lnTo>
                  <a:lnTo>
                    <a:pt x="40130" y="347251"/>
                  </a:lnTo>
                  <a:lnTo>
                    <a:pt x="65785" y="352425"/>
                  </a:lnTo>
                  <a:lnTo>
                    <a:pt x="296037" y="352425"/>
                  </a:lnTo>
                  <a:lnTo>
                    <a:pt x="321712" y="347251"/>
                  </a:lnTo>
                  <a:lnTo>
                    <a:pt x="342661" y="333136"/>
                  </a:lnTo>
                  <a:lnTo>
                    <a:pt x="356776" y="312187"/>
                  </a:lnTo>
                  <a:lnTo>
                    <a:pt x="361950" y="286512"/>
                  </a:lnTo>
                  <a:lnTo>
                    <a:pt x="361950" y="65786"/>
                  </a:lnTo>
                  <a:lnTo>
                    <a:pt x="356776" y="40130"/>
                  </a:lnTo>
                  <a:lnTo>
                    <a:pt x="342661" y="19224"/>
                  </a:lnTo>
                  <a:lnTo>
                    <a:pt x="321712" y="5153"/>
                  </a:lnTo>
                  <a:lnTo>
                    <a:pt x="296037" y="0"/>
                  </a:lnTo>
                  <a:close/>
                </a:path>
              </a:pathLst>
            </a:custGeom>
            <a:solidFill>
              <a:srgbClr val="FFD7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739251" y="4348226"/>
              <a:ext cx="361950" cy="352425"/>
            </a:xfrm>
            <a:custGeom>
              <a:avLst/>
              <a:gdLst/>
              <a:ahLst/>
              <a:cxnLst/>
              <a:rect l="l" t="t" r="r" b="b"/>
              <a:pathLst>
                <a:path w="361950" h="352425">
                  <a:moveTo>
                    <a:pt x="0" y="65786"/>
                  </a:moveTo>
                  <a:lnTo>
                    <a:pt x="5153" y="40130"/>
                  </a:lnTo>
                  <a:lnTo>
                    <a:pt x="19224" y="19224"/>
                  </a:lnTo>
                  <a:lnTo>
                    <a:pt x="40130" y="5153"/>
                  </a:lnTo>
                  <a:lnTo>
                    <a:pt x="65785" y="0"/>
                  </a:lnTo>
                  <a:lnTo>
                    <a:pt x="296037" y="0"/>
                  </a:lnTo>
                  <a:lnTo>
                    <a:pt x="321712" y="5153"/>
                  </a:lnTo>
                  <a:lnTo>
                    <a:pt x="342661" y="19224"/>
                  </a:lnTo>
                  <a:lnTo>
                    <a:pt x="356776" y="40130"/>
                  </a:lnTo>
                  <a:lnTo>
                    <a:pt x="361950" y="65786"/>
                  </a:lnTo>
                  <a:lnTo>
                    <a:pt x="361950" y="286512"/>
                  </a:lnTo>
                  <a:lnTo>
                    <a:pt x="356776" y="312187"/>
                  </a:lnTo>
                  <a:lnTo>
                    <a:pt x="342661" y="333136"/>
                  </a:lnTo>
                  <a:lnTo>
                    <a:pt x="321712" y="347251"/>
                  </a:lnTo>
                  <a:lnTo>
                    <a:pt x="296037" y="352425"/>
                  </a:lnTo>
                  <a:lnTo>
                    <a:pt x="65785" y="352425"/>
                  </a:lnTo>
                  <a:lnTo>
                    <a:pt x="40130" y="347251"/>
                  </a:lnTo>
                  <a:lnTo>
                    <a:pt x="19224" y="333136"/>
                  </a:lnTo>
                  <a:lnTo>
                    <a:pt x="5153" y="312187"/>
                  </a:lnTo>
                  <a:lnTo>
                    <a:pt x="0" y="286512"/>
                  </a:lnTo>
                  <a:lnTo>
                    <a:pt x="0" y="65786"/>
                  </a:lnTo>
                  <a:close/>
                </a:path>
              </a:pathLst>
            </a:custGeom>
            <a:ln w="6350">
              <a:solidFill>
                <a:srgbClr val="E4BDB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8833484" y="4352861"/>
            <a:ext cx="183515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80" b="1">
                <a:solidFill>
                  <a:srgbClr val="403B4E"/>
                </a:solidFill>
                <a:latin typeface="Cambria"/>
                <a:cs typeface="Cambria"/>
              </a:rPr>
              <a:t>4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715500" y="4368800"/>
            <a:ext cx="1751330" cy="1593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55" b="1">
                <a:solidFill>
                  <a:srgbClr val="403B4E"/>
                </a:solidFill>
                <a:latin typeface="Cambria"/>
                <a:cs typeface="Cambria"/>
              </a:rPr>
              <a:t>Advanced</a:t>
            </a:r>
            <a:r>
              <a:rPr dirty="0" sz="1550" spc="45" b="1">
                <a:solidFill>
                  <a:srgbClr val="403B4E"/>
                </a:solidFill>
                <a:latin typeface="Cambria"/>
                <a:cs typeface="Cambria"/>
              </a:rPr>
              <a:t> AI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50" spc="75" b="1">
                <a:solidFill>
                  <a:srgbClr val="403B4E"/>
                </a:solidFill>
                <a:latin typeface="Cambria"/>
                <a:cs typeface="Cambria"/>
              </a:rPr>
              <a:t>Models</a:t>
            </a:r>
            <a:endParaRPr sz="1550">
              <a:latin typeface="Cambria"/>
              <a:cs typeface="Cambria"/>
            </a:endParaRPr>
          </a:p>
          <a:p>
            <a:pPr marL="12700" marR="5080">
              <a:lnSpc>
                <a:spcPct val="123500"/>
              </a:lnSpc>
              <a:spcBef>
                <a:spcPts val="1095"/>
              </a:spcBef>
            </a:pP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Explore</a:t>
            </a:r>
            <a:r>
              <a:rPr dirty="0" sz="1250" spc="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deep</a:t>
            </a:r>
            <a:r>
              <a:rPr dirty="0" sz="1250" spc="7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learning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ensembles</a:t>
            </a:r>
            <a:r>
              <a:rPr dirty="0" sz="1250" spc="1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25">
                <a:solidFill>
                  <a:srgbClr val="403B4E"/>
                </a:solidFill>
                <a:latin typeface="Arial MT"/>
                <a:cs typeface="Arial MT"/>
              </a:rPr>
              <a:t>and </a:t>
            </a:r>
            <a:r>
              <a:rPr dirty="0" sz="1250" spc="30">
                <a:solidFill>
                  <a:srgbClr val="403B4E"/>
                </a:solidFill>
                <a:latin typeface="Arial MT"/>
                <a:cs typeface="Arial MT"/>
              </a:rPr>
              <a:t>hyperparameter</a:t>
            </a:r>
            <a:r>
              <a:rPr dirty="0" sz="1250" spc="1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40">
                <a:solidFill>
                  <a:srgbClr val="403B4E"/>
                </a:solidFill>
                <a:latin typeface="Arial MT"/>
                <a:cs typeface="Arial MT"/>
              </a:rPr>
              <a:t>tuning </a:t>
            </a:r>
            <a:r>
              <a:rPr dirty="0" sz="1250" spc="80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dirty="0" sz="125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403B4E"/>
                </a:solidFill>
                <a:latin typeface="Arial MT"/>
                <a:cs typeface="Arial MT"/>
              </a:rPr>
              <a:t>higher</a:t>
            </a:r>
            <a:r>
              <a:rPr dirty="0" sz="125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403B4E"/>
                </a:solidFill>
                <a:latin typeface="Arial MT"/>
                <a:cs typeface="Arial MT"/>
              </a:rPr>
              <a:t>accuracy.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49000" y="6534150"/>
            <a:ext cx="1143000" cy="323850"/>
          </a:xfrm>
          <a:custGeom>
            <a:avLst/>
            <a:gdLst/>
            <a:ahLst/>
            <a:cxnLst/>
            <a:rect l="l" t="t" r="r" b="b"/>
            <a:pathLst>
              <a:path w="1143000" h="323850">
                <a:moveTo>
                  <a:pt x="1143000" y="0"/>
                </a:moveTo>
                <a:lnTo>
                  <a:pt x="0" y="0"/>
                </a:lnTo>
                <a:lnTo>
                  <a:pt x="0" y="323850"/>
                </a:lnTo>
                <a:lnTo>
                  <a:pt x="1143000" y="323850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24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204"/>
              <a:t>Conclusion</a:t>
            </a:r>
            <a:r>
              <a:rPr dirty="0" spc="10"/>
              <a:t> </a:t>
            </a:r>
            <a:r>
              <a:rPr dirty="0" spc="80"/>
              <a:t>&amp;</a:t>
            </a:r>
            <a:r>
              <a:rPr dirty="0" spc="70"/>
              <a:t> </a:t>
            </a:r>
            <a:r>
              <a:rPr dirty="0" spc="200"/>
              <a:t>Thank</a:t>
            </a:r>
            <a:r>
              <a:rPr dirty="0" spc="40"/>
              <a:t> </a:t>
            </a:r>
            <a:r>
              <a:rPr dirty="0" spc="165"/>
              <a:t>You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9287" y="1477200"/>
            <a:ext cx="10887710" cy="90296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36400"/>
              </a:lnSpc>
              <a:spcBef>
                <a:spcPts val="130"/>
              </a:spcBef>
            </a:pP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r>
              <a:rPr dirty="0" sz="1400" spc="-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Big</a:t>
            </a:r>
            <a:r>
              <a:rPr dirty="0" sz="1400" spc="-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114">
                <a:solidFill>
                  <a:srgbClr val="403B4E"/>
                </a:solidFill>
                <a:latin typeface="Arial MT"/>
                <a:cs typeface="Arial MT"/>
              </a:rPr>
              <a:t>Mart</a:t>
            </a:r>
            <a:r>
              <a:rPr dirty="0" sz="1400" spc="-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Sales</a:t>
            </a:r>
            <a:r>
              <a:rPr dirty="0" sz="1400" spc="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Prediction</a:t>
            </a:r>
            <a:r>
              <a:rPr dirty="0" sz="140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project</a:t>
            </a:r>
            <a:r>
              <a:rPr dirty="0" sz="140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successfully</a:t>
            </a:r>
            <a:r>
              <a:rPr dirty="0" sz="1400" spc="-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75">
                <a:solidFill>
                  <a:srgbClr val="403B4E"/>
                </a:solidFill>
                <a:latin typeface="Arial MT"/>
                <a:cs typeface="Arial MT"/>
              </a:rPr>
              <a:t>demonstrates</a:t>
            </a:r>
            <a:r>
              <a:rPr dirty="0" sz="1400" spc="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r>
              <a:rPr dirty="0" sz="1400" spc="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application</a:t>
            </a:r>
            <a:r>
              <a:rPr dirty="0" sz="140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of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Machine</a:t>
            </a:r>
            <a:r>
              <a:rPr dirty="0" sz="1400" spc="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Learning</a:t>
            </a:r>
            <a:r>
              <a:rPr dirty="0" sz="1400" spc="-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95">
                <a:solidFill>
                  <a:srgbClr val="403B4E"/>
                </a:solidFill>
                <a:latin typeface="Arial MT"/>
                <a:cs typeface="Arial MT"/>
              </a:rPr>
              <a:t>for</a:t>
            </a:r>
            <a:r>
              <a:rPr dirty="0" sz="140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retail</a:t>
            </a:r>
            <a:r>
              <a:rPr dirty="0" sz="140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403B4E"/>
                </a:solidFill>
                <a:latin typeface="Arial MT"/>
                <a:cs typeface="Arial MT"/>
              </a:rPr>
              <a:t>sales</a:t>
            </a:r>
            <a:r>
              <a:rPr dirty="0" sz="1400" spc="8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forecasting.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r>
              <a:rPr dirty="0" sz="1400" spc="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-100">
                <a:solidFill>
                  <a:srgbClr val="FFAC93"/>
                </a:solidFill>
                <a:latin typeface="Arial Black"/>
                <a:cs typeface="Arial Black"/>
              </a:rPr>
              <a:t>XGBoost</a:t>
            </a:r>
            <a:r>
              <a:rPr dirty="0" sz="1400" spc="-75">
                <a:solidFill>
                  <a:srgbClr val="FFAC93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FFAC93"/>
                </a:solidFill>
                <a:latin typeface="Arial Black"/>
                <a:cs typeface="Arial Black"/>
              </a:rPr>
              <a:t>Regressor</a:t>
            </a:r>
            <a:r>
              <a:rPr dirty="0" sz="1400" spc="5">
                <a:solidFill>
                  <a:srgbClr val="FFAC93"/>
                </a:solidFill>
                <a:latin typeface="Arial Black"/>
                <a:cs typeface="Arial Black"/>
              </a:rPr>
              <a:t> </a:t>
            </a:r>
            <a:r>
              <a:rPr dirty="0" sz="1400" spc="85">
                <a:solidFill>
                  <a:srgbClr val="403B4E"/>
                </a:solidFill>
                <a:latin typeface="Arial MT"/>
                <a:cs typeface="Arial MT"/>
              </a:rPr>
              <a:t>model</a:t>
            </a:r>
            <a:r>
              <a:rPr dirty="0" sz="1400" spc="4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delivered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a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training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R²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score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105">
                <a:solidFill>
                  <a:srgbClr val="403B4E"/>
                </a:solidFill>
                <a:latin typeface="Arial MT"/>
                <a:cs typeface="Arial MT"/>
              </a:rPr>
              <a:t>of</a:t>
            </a:r>
            <a:r>
              <a:rPr dirty="0" sz="1400" spc="-1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0.8762,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capturing</a:t>
            </a:r>
            <a:r>
              <a:rPr dirty="0" sz="1400" spc="7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complex</a:t>
            </a:r>
            <a:r>
              <a:rPr dirty="0" sz="140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relationships</a:t>
            </a:r>
            <a:r>
              <a:rPr dirty="0" sz="140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across</a:t>
            </a:r>
            <a:r>
              <a:rPr dirty="0" sz="1400" spc="2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85">
                <a:solidFill>
                  <a:srgbClr val="403B4E"/>
                </a:solidFill>
                <a:latin typeface="Arial MT"/>
                <a:cs typeface="Arial MT"/>
              </a:rPr>
              <a:t>product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35">
                <a:solidFill>
                  <a:srgbClr val="403B4E"/>
                </a:solidFill>
                <a:latin typeface="Arial MT"/>
                <a:cs typeface="Arial MT"/>
              </a:rPr>
              <a:t>and </a:t>
            </a:r>
            <a:r>
              <a:rPr dirty="0" sz="1400" spc="85">
                <a:solidFill>
                  <a:srgbClr val="403B4E"/>
                </a:solidFill>
                <a:latin typeface="Arial MT"/>
                <a:cs typeface="Arial MT"/>
              </a:rPr>
              <a:t>outlet</a:t>
            </a:r>
            <a:r>
              <a:rPr dirty="0" sz="1400" spc="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45">
                <a:solidFill>
                  <a:srgbClr val="403B4E"/>
                </a:solidFill>
                <a:latin typeface="Arial MT"/>
                <a:cs typeface="Arial MT"/>
              </a:rPr>
              <a:t>features,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while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90">
                <a:solidFill>
                  <a:srgbClr val="403B4E"/>
                </a:solidFill>
                <a:latin typeface="Arial MT"/>
                <a:cs typeface="Arial MT"/>
              </a:rPr>
              <a:t>the</a:t>
            </a: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 testing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-45">
                <a:solidFill>
                  <a:srgbClr val="403B4E"/>
                </a:solidFill>
                <a:latin typeface="Arial MT"/>
                <a:cs typeface="Arial MT"/>
              </a:rPr>
              <a:t>R²</a:t>
            </a:r>
            <a:r>
              <a:rPr dirty="0" sz="1400" spc="-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105">
                <a:solidFill>
                  <a:srgbClr val="403B4E"/>
                </a:solidFill>
                <a:latin typeface="Arial MT"/>
                <a:cs typeface="Arial MT"/>
              </a:rPr>
              <a:t>of</a:t>
            </a:r>
            <a:r>
              <a:rPr dirty="0" sz="1400" spc="-1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0.5017</a:t>
            </a:r>
            <a:r>
              <a:rPr dirty="0" sz="1400" spc="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highlighted</a:t>
            </a:r>
            <a:r>
              <a:rPr dirty="0" sz="1400" spc="-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03B4E"/>
                </a:solidFill>
                <a:latin typeface="Arial MT"/>
                <a:cs typeface="Arial MT"/>
              </a:rPr>
              <a:t>areas</a:t>
            </a:r>
            <a:r>
              <a:rPr dirty="0" sz="1400" spc="95">
                <a:solidFill>
                  <a:srgbClr val="403B4E"/>
                </a:solidFill>
                <a:latin typeface="Arial MT"/>
                <a:cs typeface="Arial MT"/>
              </a:rPr>
              <a:t> for</a:t>
            </a:r>
            <a:r>
              <a:rPr dirty="0" sz="1400" spc="4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90">
                <a:solidFill>
                  <a:srgbClr val="403B4E"/>
                </a:solidFill>
                <a:latin typeface="Arial MT"/>
                <a:cs typeface="Arial MT"/>
              </a:rPr>
              <a:t>further</a:t>
            </a:r>
            <a:r>
              <a:rPr dirty="0" sz="1400" spc="3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03B4E"/>
                </a:solidFill>
                <a:latin typeface="Arial MT"/>
                <a:cs typeface="Arial MT"/>
              </a:rPr>
              <a:t>regularisation</a:t>
            </a:r>
            <a:r>
              <a:rPr dirty="0" sz="1400" spc="-3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85">
                <a:solidFill>
                  <a:srgbClr val="403B4E"/>
                </a:solidFill>
                <a:latin typeface="Arial MT"/>
                <a:cs typeface="Arial MT"/>
              </a:rPr>
              <a:t>and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65">
                <a:solidFill>
                  <a:srgbClr val="403B4E"/>
                </a:solidFill>
                <a:latin typeface="Arial MT"/>
                <a:cs typeface="Arial MT"/>
              </a:rPr>
              <a:t>feature</a:t>
            </a:r>
            <a:r>
              <a:rPr dirty="0" sz="1400" spc="50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45">
                <a:solidFill>
                  <a:srgbClr val="403B4E"/>
                </a:solidFill>
                <a:latin typeface="Arial MT"/>
                <a:cs typeface="Arial MT"/>
              </a:rPr>
              <a:t>engineering.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57225" y="2914650"/>
            <a:ext cx="10877550" cy="1028700"/>
            <a:chOff x="657225" y="2914650"/>
            <a:chExt cx="10877550" cy="1028700"/>
          </a:xfrm>
        </p:grpSpPr>
        <p:sp>
          <p:nvSpPr>
            <p:cNvPr id="6" name="object 6"/>
            <p:cNvSpPr/>
            <p:nvPr/>
          </p:nvSpPr>
          <p:spPr>
            <a:xfrm>
              <a:off x="657225" y="2914650"/>
              <a:ext cx="10877550" cy="1028700"/>
            </a:xfrm>
            <a:custGeom>
              <a:avLst/>
              <a:gdLst/>
              <a:ahLst/>
              <a:cxnLst/>
              <a:rect l="l" t="t" r="r" b="b"/>
              <a:pathLst>
                <a:path w="10877550" h="1028700">
                  <a:moveTo>
                    <a:pt x="10799572" y="0"/>
                  </a:moveTo>
                  <a:lnTo>
                    <a:pt x="77939" y="0"/>
                  </a:lnTo>
                  <a:lnTo>
                    <a:pt x="47604" y="6129"/>
                  </a:lnTo>
                  <a:lnTo>
                    <a:pt x="22829" y="22844"/>
                  </a:lnTo>
                  <a:lnTo>
                    <a:pt x="6125" y="47630"/>
                  </a:lnTo>
                  <a:lnTo>
                    <a:pt x="0" y="77977"/>
                  </a:lnTo>
                  <a:lnTo>
                    <a:pt x="0" y="950722"/>
                  </a:lnTo>
                  <a:lnTo>
                    <a:pt x="6125" y="981069"/>
                  </a:lnTo>
                  <a:lnTo>
                    <a:pt x="22829" y="1005855"/>
                  </a:lnTo>
                  <a:lnTo>
                    <a:pt x="47604" y="1022570"/>
                  </a:lnTo>
                  <a:lnTo>
                    <a:pt x="77939" y="1028700"/>
                  </a:lnTo>
                  <a:lnTo>
                    <a:pt x="10799572" y="1028700"/>
                  </a:lnTo>
                  <a:lnTo>
                    <a:pt x="10829919" y="1022570"/>
                  </a:lnTo>
                  <a:lnTo>
                    <a:pt x="10854705" y="1005855"/>
                  </a:lnTo>
                  <a:lnTo>
                    <a:pt x="10871420" y="981069"/>
                  </a:lnTo>
                  <a:lnTo>
                    <a:pt x="10877550" y="950722"/>
                  </a:lnTo>
                  <a:lnTo>
                    <a:pt x="10877550" y="77977"/>
                  </a:lnTo>
                  <a:lnTo>
                    <a:pt x="10871420" y="47630"/>
                  </a:lnTo>
                  <a:lnTo>
                    <a:pt x="10854705" y="22844"/>
                  </a:lnTo>
                  <a:lnTo>
                    <a:pt x="10829919" y="6129"/>
                  </a:lnTo>
                  <a:lnTo>
                    <a:pt x="10799572" y="0"/>
                  </a:lnTo>
                  <a:close/>
                </a:path>
              </a:pathLst>
            </a:custGeom>
            <a:solidFill>
              <a:srgbClr val="FFD7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7725" y="3181350"/>
              <a:ext cx="228600" cy="1905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254442" y="3096069"/>
            <a:ext cx="9665970" cy="6165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6990">
              <a:lnSpc>
                <a:spcPct val="138500"/>
              </a:lnSpc>
              <a:spcBef>
                <a:spcPts val="95"/>
              </a:spcBef>
            </a:pPr>
            <a:r>
              <a:rPr dirty="0" sz="1400" spc="10">
                <a:latin typeface="Arial MT"/>
                <a:cs typeface="Arial MT"/>
              </a:rPr>
              <a:t>This</a:t>
            </a:r>
            <a:r>
              <a:rPr dirty="0" sz="1400" spc="110">
                <a:latin typeface="Arial MT"/>
                <a:cs typeface="Arial MT"/>
              </a:rPr>
              <a:t> </a:t>
            </a:r>
            <a:r>
              <a:rPr dirty="0" sz="1400" spc="55">
                <a:latin typeface="Arial MT"/>
                <a:cs typeface="Arial MT"/>
              </a:rPr>
              <a:t>project</a:t>
            </a:r>
            <a:r>
              <a:rPr dirty="0" sz="1400" spc="60">
                <a:latin typeface="Arial MT"/>
                <a:cs typeface="Arial MT"/>
              </a:rPr>
              <a:t> </a:t>
            </a:r>
            <a:r>
              <a:rPr dirty="0" sz="1400" spc="10">
                <a:latin typeface="Arial MT"/>
                <a:cs typeface="Arial MT"/>
              </a:rPr>
              <a:t>establishes</a:t>
            </a:r>
            <a:r>
              <a:rPr dirty="0" sz="1400" spc="30">
                <a:latin typeface="Arial MT"/>
                <a:cs typeface="Arial MT"/>
              </a:rPr>
              <a:t> </a:t>
            </a:r>
            <a:r>
              <a:rPr dirty="0" sz="1400" spc="10">
                <a:latin typeface="Arial MT"/>
                <a:cs typeface="Arial MT"/>
              </a:rPr>
              <a:t>a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 spc="10">
                <a:latin typeface="Arial MT"/>
                <a:cs typeface="Arial MT"/>
              </a:rPr>
              <a:t>scalable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90">
                <a:latin typeface="Arial MT"/>
                <a:cs typeface="Arial MT"/>
              </a:rPr>
              <a:t>foundation</a:t>
            </a:r>
            <a:r>
              <a:rPr dirty="0" sz="1400" spc="60">
                <a:latin typeface="Arial MT"/>
                <a:cs typeface="Arial MT"/>
              </a:rPr>
              <a:t> </a:t>
            </a:r>
            <a:r>
              <a:rPr dirty="0" sz="1400" spc="95">
                <a:latin typeface="Arial MT"/>
                <a:cs typeface="Arial MT"/>
              </a:rPr>
              <a:t>for</a:t>
            </a:r>
            <a:r>
              <a:rPr dirty="0" sz="1400" spc="50">
                <a:latin typeface="Arial MT"/>
                <a:cs typeface="Arial MT"/>
              </a:rPr>
              <a:t> </a:t>
            </a:r>
            <a:r>
              <a:rPr dirty="0" sz="1400" spc="70">
                <a:latin typeface="Arial MT"/>
                <a:cs typeface="Arial MT"/>
              </a:rPr>
              <a:t>data-</a:t>
            </a:r>
            <a:r>
              <a:rPr dirty="0" sz="1400" spc="65">
                <a:latin typeface="Arial MT"/>
                <a:cs typeface="Arial MT"/>
              </a:rPr>
              <a:t>driven</a:t>
            </a:r>
            <a:r>
              <a:rPr dirty="0" sz="1400" spc="60">
                <a:latin typeface="Arial MT"/>
                <a:cs typeface="Arial MT"/>
              </a:rPr>
              <a:t> retail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50">
                <a:latin typeface="Arial MT"/>
                <a:cs typeface="Arial MT"/>
              </a:rPr>
              <a:t>decision-</a:t>
            </a:r>
            <a:r>
              <a:rPr dirty="0" sz="1400" spc="55">
                <a:latin typeface="Arial MT"/>
                <a:cs typeface="Arial MT"/>
              </a:rPr>
              <a:t>making,</a:t>
            </a:r>
            <a:r>
              <a:rPr dirty="0" sz="1400" spc="70">
                <a:latin typeface="Arial MT"/>
                <a:cs typeface="Arial MT"/>
              </a:rPr>
              <a:t> inventory</a:t>
            </a:r>
            <a:r>
              <a:rPr dirty="0" sz="1400" spc="75">
                <a:latin typeface="Arial MT"/>
                <a:cs typeface="Arial MT"/>
              </a:rPr>
              <a:t> </a:t>
            </a:r>
            <a:r>
              <a:rPr dirty="0" sz="1400" spc="70">
                <a:latin typeface="Arial MT"/>
                <a:cs typeface="Arial MT"/>
              </a:rPr>
              <a:t>optimisation, </a:t>
            </a:r>
            <a:r>
              <a:rPr dirty="0" sz="1400" spc="60">
                <a:latin typeface="Arial MT"/>
                <a:cs typeface="Arial MT"/>
              </a:rPr>
              <a:t>and </a:t>
            </a:r>
            <a:r>
              <a:rPr dirty="0" sz="1400" spc="45">
                <a:latin typeface="Arial MT"/>
                <a:cs typeface="Arial MT"/>
              </a:rPr>
              <a:t>business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35">
                <a:latin typeface="Arial MT"/>
                <a:cs typeface="Arial MT"/>
              </a:rPr>
              <a:t>intelligence.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7225" y="4200525"/>
            <a:ext cx="10877550" cy="19050"/>
          </a:xfrm>
          <a:custGeom>
            <a:avLst/>
            <a:gdLst/>
            <a:ahLst/>
            <a:cxnLst/>
            <a:rect l="l" t="t" r="r" b="b"/>
            <a:pathLst>
              <a:path w="10877550" h="19050">
                <a:moveTo>
                  <a:pt x="10873232" y="0"/>
                </a:moveTo>
                <a:lnTo>
                  <a:pt x="4267" y="0"/>
                </a:lnTo>
                <a:lnTo>
                  <a:pt x="0" y="4318"/>
                </a:lnTo>
                <a:lnTo>
                  <a:pt x="0" y="9525"/>
                </a:lnTo>
                <a:lnTo>
                  <a:pt x="0" y="14731"/>
                </a:lnTo>
                <a:lnTo>
                  <a:pt x="4267" y="19050"/>
                </a:lnTo>
                <a:lnTo>
                  <a:pt x="10873232" y="19050"/>
                </a:lnTo>
                <a:lnTo>
                  <a:pt x="10877550" y="14731"/>
                </a:lnTo>
                <a:lnTo>
                  <a:pt x="10877550" y="4318"/>
                </a:lnTo>
                <a:lnTo>
                  <a:pt x="10873232" y="0"/>
                </a:lnTo>
                <a:close/>
              </a:path>
            </a:pathLst>
          </a:custGeom>
          <a:solidFill>
            <a:srgbClr val="403B4E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49287" y="4481448"/>
            <a:ext cx="6370320" cy="17780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50" spc="450" b="1">
                <a:solidFill>
                  <a:srgbClr val="403B4E"/>
                </a:solidFill>
                <a:latin typeface="Cambria"/>
                <a:cs typeface="Cambria"/>
              </a:rPr>
              <a:t>Thank</a:t>
            </a:r>
            <a:r>
              <a:rPr dirty="0" sz="7250" spc="135" b="1">
                <a:solidFill>
                  <a:srgbClr val="403B4E"/>
                </a:solidFill>
                <a:latin typeface="Cambria"/>
                <a:cs typeface="Cambria"/>
              </a:rPr>
              <a:t> </a:t>
            </a:r>
            <a:r>
              <a:rPr dirty="0" sz="7250" spc="360" b="1">
                <a:solidFill>
                  <a:srgbClr val="403B4E"/>
                </a:solidFill>
                <a:latin typeface="Cambria"/>
                <a:cs typeface="Cambria"/>
              </a:rPr>
              <a:t>You</a:t>
            </a:r>
            <a:endParaRPr sz="7250">
              <a:latin typeface="Cambria"/>
              <a:cs typeface="Cambria"/>
            </a:endParaRPr>
          </a:p>
          <a:p>
            <a:pPr algn="r" marR="5080">
              <a:lnSpc>
                <a:spcPct val="100000"/>
              </a:lnSpc>
              <a:spcBef>
                <a:spcPts val="3375"/>
              </a:spcBef>
            </a:pPr>
            <a:r>
              <a:rPr dirty="0" sz="1400" spc="55">
                <a:solidFill>
                  <a:srgbClr val="403B4E"/>
                </a:solidFill>
                <a:latin typeface="Arial MT"/>
                <a:cs typeface="Arial MT"/>
              </a:rPr>
              <a:t>Questions</a:t>
            </a:r>
            <a:r>
              <a:rPr dirty="0" sz="1400" spc="-2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100">
                <a:solidFill>
                  <a:srgbClr val="403B4E"/>
                </a:solidFill>
                <a:latin typeface="Arial MT"/>
                <a:cs typeface="Arial MT"/>
              </a:rPr>
              <a:t>&amp;</a:t>
            </a:r>
            <a:r>
              <a:rPr dirty="0" sz="1400" spc="-5">
                <a:solidFill>
                  <a:srgbClr val="403B4E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403B4E"/>
                </a:solidFill>
                <a:latin typeface="Arial MT"/>
                <a:cs typeface="Arial MT"/>
              </a:rPr>
              <a:t>Answers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2026-07-01T04:21:21Z</dcterms:created>
  <dcterms:modified xsi:type="dcterms:W3CDTF">2026-07-01T04:21:21Z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2026-06-30T00:00:00Z</vt:filetime>
  </property>
  <property fmtid="{D5CDD505-2E9C-101B-9397-08002B2CF9AE}" pid="4" name="LastSaved">
    <vt:filetime>2026-07-01T00:00:00Z</vt:filetime>
  </property>
</Properties>
</file>